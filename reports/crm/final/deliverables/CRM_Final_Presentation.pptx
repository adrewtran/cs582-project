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Hong Thai Phan</a:t>
            </a:r>
          </a:p>
          <a:p/>
          <a:p>
            <a:r>
              <a:t>Hello everyone. Our project is about predicting whether a CRM sales opportunity will be won or lost. We also want to show which inputs affect the model score. We have now completed the comparison of the models in our proposal. The main finding is that the available data gives us only a weak prediction signal. So today we will explain both the working system and its limits. We will start with the data, then show the evaluation, and finish with the outputs and next steps.</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Hong Thai Phan</a:t>
            </a:r>
          </a:p>
          <a:p/>
          <a:p>
            <a:r>
              <a:t>We use four connected tables. The opportunity table gives us the product, sales agent and engagement date. The account table adds information such as industry, revenue and company size. The other tables add product price and sales team information. After preparation, we use eighteen predictors. We do not use the final close value, close date or deal stage as prediction inputs, because they can reveal the answer. We keep the opportunity ID only to connect a prediction back to its original record.</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Hong Thai Phan</a:t>
            </a:r>
          </a:p>
          <a:p/>
          <a:p>
            <a:r>
              <a:t>The data contains 8,800 opportunities. We use the 6,711 closed records for supervised learning. The remaining records are still open. We score the 1,589 Engaging records, but leave out the 500 Prospecting records. We also fixed inconsistent product names and checked the table joins. An important issue is missing account information: 1,088 scored records have this warning. We make that visible because missing inputs can reduce how much we can trust a model score.</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Hong Thai Phan</a:t>
            </a:r>
          </a:p>
          <a:p/>
          <a:p>
            <a:r>
              <a:t>We split by engagement date, but date order alone is not enough. Imagine a deal starts in June but closes in October. Its outcome was not known in July, so it should not train a model used at that time. We exclude records like this from the earlier training or validation period. Every model uses the same split. We also keep deals from the same date together. This is still an exploratory historical test, because we have already studied this dataset. Now my teammate will explain the models and results.</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Nguyen Khanh An Tran</a:t>
            </a:r>
          </a:p>
          <a:p/>
          <a:p>
            <a:r>
              <a:t>We trained all four models from our proposal, plus a simple control model. The control always gives the training win rate. Logistic Regression is our linear baseline, and Random Forest can learn more complex patterns. We also trained an MLP and TabNet on CPU. All preprocessing is fitted on the training set only. Validation data controls early stopping, model selection and the decision threshold. We did not choose the model using the test results. The saved settings let us repeat the comparison.</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Nguyen Khanh An Tran</a:t>
            </a:r>
          </a:p>
          <a:p/>
          <a:p>
            <a:r>
              <a:t>Here are the actual test results. Logistic Regression was selected on validation, and its test AUC is about 0.52. An AUC of point five is the no-ranking baseline, so this result is only slightly above that level. The more advanced models did not give a convincing improvement in this run. Also, a model that predicts mostly Won can have a fairly high accuracy or F1 because Won is the larger class. That is why we show the control and several metrics together.</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Nguyen Khanh An Tran</a:t>
            </a:r>
          </a:p>
          <a:p/>
          <a:p>
            <a:r>
              <a:t>We also ran a deliberately incorrect experiment to show the effect of data leakage. In these files, lost deals have zero close value. If we use that field, even a very small decision tree can almost directly recover the outcome. The score looks excellent, but the information is only known after the deal closes. So this would not help us predict a new opportunity. We keep this experiment only as an audit example. It is never used in the real prediction output.</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Nguyen Khanh An Tran</a:t>
            </a:r>
          </a:p>
          <a:p/>
          <a:p>
            <a:r>
              <a:t>For each scored opportunity, we show which inputs increase or decrease the model score compared with a training reference. For example, we replace one numeric value with its training median and measure the probability change. These changes help explain the model, but they are not additive SHAP values. Separately, we computed TreeSHAP for the raw Random Forest and checked that its contributions reconstruct the prediction. We clearly label the two methods. Neither method proves cause and effect. My teammate will now show the output and practical limits.</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Hoang Thien Bao Bui</a:t>
            </a:r>
          </a:p>
          <a:p/>
          <a:p>
            <a:r>
              <a:t>The first output is the estimated win probability and its complementary loss probability. This real open record has about 88% predicted win probability. The second output explains the main input factors affecting that score. The CSV also includes a predicted class, a simple priority label and missing-data warnings. We should be careful with this example: the actual outcome is unknown, and this is a snapshot demonstration. We are not claiming that this score was available on the original engagement date, or that the priority label has proven business value.</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Hoang Thien Bao Bui</a:t>
            </a:r>
          </a:p>
          <a:p/>
          <a:p>
            <a:r>
              <a:t>We used validation data to adjust the probability scale. On the test set, we compare the Brier score before and after calibration. A lower score is better, but calibration does not improve the ordering of deals. The base model stays frozen so the calibration still matches it. Our priority cutoffs are only examples and need business validation. We also have limits from using only observed closed outcomes, changes over time and missing account information. So this version should be treated as a research demonstration, not a production sales tool.</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Hoang Thien Bao Bui</a:t>
            </a:r>
          </a:p>
          <a:p/>
          <a:p>
            <a:r>
              <a:t>The main items from our proposal now have working code and generated outputs. We have data checks, exploratory analysis, all four promised models, the comparison metrics and confusion matrices. We also completed feature importance and the optional SHAP analysis. The workflow creates the open-deal CSV, figures, report and slides from the same run. This helps keep our presentation consistent with the code. The remaining checks involve the group account and final presentation review. We still need to confirm the notebook in our own Colab session and check the slides after import.</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Hoang Thien Bao Bui</a:t>
            </a:r>
          </a:p>
          <a:p/>
          <a:p>
            <a:r>
              <a:t>For the demo, we can upload the project ZIP, run the notebook and inspect the generated results. We should check the run status, compare the models and open one scored opportunity with its explanation. Before submission, each member should review the report, rehearse their part and confirm the instructor schedule. The code is prepared for review in a pull request to our group repository. We should review the changes before merging. For future research, more useful pre-close activity data and a prospective test would matter more than simply adding another complex model. Thank you. We are happy to take questions.</a:t>
            </a:r>
          </a:p>
          <a:p/>
          <a:p>
            <a:r>
              <a:t>Evidence: reports/crm/final; run 2026-10-06T19:41:05.038515+00:00.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CS 582 / GROUP 2</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CRM sales opportunities</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600" b="0">
                <a:solidFill>
                  <a:srgbClr val="122A3A"/>
                </a:solidFill>
                <a:latin typeface="Arial"/>
              </a:defRPr>
            </a:pPr>
            <a:r>
              <a:t>Predicting Won vs Lost — and explaining the score</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600" b="0">
                <a:solidFill>
                  <a:srgbClr val="122A3A"/>
                </a:solidFill>
                <a:latin typeface="Arial"/>
              </a:defRPr>
            </a:pPr>
            <a:r>
              <a:t>An auditable CPU workflow for sales decision support</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600" b="0">
                <a:solidFill>
                  <a:srgbClr val="122A3A"/>
                </a:solidFill>
                <a:latin typeface="Arial"/>
              </a:defRPr>
            </a:pPr>
            <a:r>
              <a:t>Main finding: the available inputs provide weak predictive signal.</a:t>
            </a:r>
          </a:p>
        </p:txBody>
      </p:sp>
      <p:sp>
        <p:nvSpPr>
          <p:cNvPr id="12" name="TextBox 11"/>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01/12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01 / INPUTS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What goes into the decision?</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Opportunity: product, sales agent and engagement date</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Account: sector, revenue, employees, location and age</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Product + team: list price, series, manager and region</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18 predictors; outcome fields and opportunity ID are excluded.</a:t>
            </a:r>
          </a:p>
        </p:txBody>
      </p:sp>
      <p:sp>
        <p:nvSpPr>
          <p:cNvPr id="14" name="TextBox 13"/>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02 / DATA QUALITY</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Data prepared and checked</a:t>
            </a:r>
          </a:p>
        </p:txBody>
      </p:sp>
      <p:sp>
        <p:nvSpPr>
          <p:cNvPr id="6" name="Rectangle 5"/>
          <p:cNvSpPr/>
          <p:nvPr/>
        </p:nvSpPr>
        <p:spPr>
          <a:xfrm>
            <a:off x="640080" y="1892807"/>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47088"/>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8,800 opportunities → 6,711 observed Won/Lost outcomes</a:t>
            </a:r>
          </a:p>
        </p:txBody>
      </p:sp>
      <p:sp>
        <p:nvSpPr>
          <p:cNvPr id="8" name="Rectangle 7"/>
          <p:cNvSpPr/>
          <p:nvPr/>
        </p:nvSpPr>
        <p:spPr>
          <a:xfrm>
            <a:off x="640080" y="2834639"/>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788920"/>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1,589 Engaging records scored; 500 Prospecting excluded</a:t>
            </a:r>
          </a:p>
        </p:txBody>
      </p:sp>
      <p:sp>
        <p:nvSpPr>
          <p:cNvPr id="10" name="Rectangle 9"/>
          <p:cNvSpPr/>
          <p:nvPr/>
        </p:nvSpPr>
        <p:spPr>
          <a:xfrm>
            <a:off x="640080" y="3776472"/>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30752"/>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Fixed product names; validated keys, dates and joins</a:t>
            </a:r>
          </a:p>
        </p:txBody>
      </p:sp>
      <p:sp>
        <p:nvSpPr>
          <p:cNvPr id="12" name="Rectangle 11"/>
          <p:cNvSpPr/>
          <p:nvPr/>
        </p:nvSpPr>
        <p:spPr>
          <a:xfrm>
            <a:off x="640080" y="4718304"/>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672583"/>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1,088 scored records have missing account information.</a:t>
            </a:r>
          </a:p>
        </p:txBody>
      </p:sp>
      <p:pic>
        <p:nvPicPr>
          <p:cNvPr id="14" name="Picture 13" descr="eda_missingness.png"/>
          <p:cNvPicPr>
            <a:picLocks noChangeAspect="1"/>
          </p:cNvPicPr>
          <p:nvPr/>
        </p:nvPicPr>
        <p:blipFill>
          <a:blip r:embed="rId2"/>
          <a:stretch>
            <a:fillRect/>
          </a:stretch>
        </p:blipFill>
        <p:spPr>
          <a:xfrm>
            <a:off x="5532120" y="2437332"/>
            <a:ext cx="6035040" cy="2943455"/>
          </a:xfrm>
          <a:prstGeom prst="rect">
            <a:avLst/>
          </a:prstGeom>
        </p:spPr>
      </p:pic>
      <p:sp>
        <p:nvSpPr>
          <p:cNvPr id="15" name="TextBox 14"/>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03/12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03 / EVALUATION DESIGN</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Respect what was known at the time</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Train: 2,975 rows; labels known before 2017-07-15</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Validation: 583 rows; labels known before 2017-09-18</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Test: 1,361 later engagements; 1,792 late labels purged</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Same-date deals stay together; this is an exploratory holdout.</a:t>
            </a:r>
          </a:p>
        </p:txBody>
      </p:sp>
      <p:sp>
        <p:nvSpPr>
          <p:cNvPr id="14" name="TextBox 13"/>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04/12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04 / METHODS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Compare all promised models</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Control: Dummy prior predicts the training win fraction</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Baselines: Logistic Regression and Random Forest</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Advanced models: MLP (64, 32) and TabNet</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Train-only preprocessing; validation selects model and threshold.</a:t>
            </a:r>
          </a:p>
        </p:txBody>
      </p:sp>
      <p:sp>
        <p:nvSpPr>
          <p:cNvPr id="14" name="TextBox 13"/>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05/12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05 / MEASURED RESULTS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Results: weak discrimination</a:t>
            </a:r>
          </a:p>
        </p:txBody>
      </p:sp>
      <p:graphicFrame>
        <p:nvGraphicFramePr>
          <p:cNvPr id="6" name="Table 5"/>
          <p:cNvGraphicFramePr>
            <a:graphicFrameLocks noGrp="1"/>
          </p:cNvGraphicFramePr>
          <p:nvPr/>
        </p:nvGraphicFramePr>
        <p:xfrm>
          <a:off x="640080" y="1828800"/>
          <a:ext cx="10881360" cy="2651760"/>
        </p:xfrm>
        <a:graphic>
          <a:graphicData uri="http://schemas.openxmlformats.org/drawingml/2006/table">
            <a:tbl>
              <a:tblPr firstRow="1" bandRow="1">
                <a:tableStyleId>{5C22544A-7EE6-4342-B048-85BDC9FD1C3A}</a:tableStyleId>
              </a:tblPr>
              <a:tblGrid>
                <a:gridCol w="3474720"/>
                <a:gridCol w="1828800"/>
                <a:gridCol w="1828800"/>
                <a:gridCol w="1828800"/>
                <a:gridCol w="1920240"/>
              </a:tblGrid>
              <a:tr h="441960">
                <a:tc>
                  <a:txBody>
                    <a:bodyPr/>
                    <a:lstStyle/>
                    <a:p>
                      <a:pPr>
                        <a:defRPr sz="1800" b="1">
                          <a:solidFill>
                            <a:srgbClr val="FFFFFF"/>
                          </a:solidFill>
                          <a:latin typeface="Arial"/>
                        </a:defRPr>
                      </a:pPr>
                      <a:r>
                        <a:t>Model</a:t>
                      </a:r>
                    </a:p>
                  </a:txBody>
                  <a:tcPr>
                    <a:solidFill>
                      <a:srgbClr val="127D88"/>
                    </a:solidFill>
                  </a:tcPr>
                </a:tc>
                <a:tc>
                  <a:txBody>
                    <a:bodyPr/>
                    <a:lstStyle/>
                    <a:p>
                      <a:pPr>
                        <a:defRPr sz="1800" b="1">
                          <a:solidFill>
                            <a:srgbClr val="FFFFFF"/>
                          </a:solidFill>
                          <a:latin typeface="Arial"/>
                        </a:defRPr>
                      </a:pPr>
                      <a:r>
                        <a:t>Accuracy</a:t>
                      </a:r>
                    </a:p>
                  </a:txBody>
                  <a:tcPr>
                    <a:solidFill>
                      <a:srgbClr val="127D88"/>
                    </a:solidFill>
                  </a:tcPr>
                </a:tc>
                <a:tc>
                  <a:txBody>
                    <a:bodyPr/>
                    <a:lstStyle/>
                    <a:p>
                      <a:pPr>
                        <a:defRPr sz="1800" b="1">
                          <a:solidFill>
                            <a:srgbClr val="FFFFFF"/>
                          </a:solidFill>
                          <a:latin typeface="Arial"/>
                        </a:defRPr>
                      </a:pPr>
                      <a:r>
                        <a:t>F1 (Won)</a:t>
                      </a:r>
                    </a:p>
                  </a:txBody>
                  <a:tcPr>
                    <a:solidFill>
                      <a:srgbClr val="127D88"/>
                    </a:solidFill>
                  </a:tcPr>
                </a:tc>
                <a:tc>
                  <a:txBody>
                    <a:bodyPr/>
                    <a:lstStyle/>
                    <a:p>
                      <a:pPr>
                        <a:defRPr sz="1800" b="1">
                          <a:solidFill>
                            <a:srgbClr val="FFFFFF"/>
                          </a:solidFill>
                          <a:latin typeface="Arial"/>
                        </a:defRPr>
                      </a:pPr>
                      <a:r>
                        <a:t>ROC-AUC</a:t>
                      </a:r>
                    </a:p>
                  </a:txBody>
                  <a:tcPr>
                    <a:solidFill>
                      <a:srgbClr val="127D88"/>
                    </a:solidFill>
                  </a:tcPr>
                </a:tc>
                <a:tc>
                  <a:txBody>
                    <a:bodyPr/>
                    <a:lstStyle/>
                    <a:p>
                      <a:pPr>
                        <a:defRPr sz="1800" b="1">
                          <a:solidFill>
                            <a:srgbClr val="FFFFFF"/>
                          </a:solidFill>
                          <a:latin typeface="Arial"/>
                        </a:defRPr>
                      </a:pPr>
                      <a:r>
                        <a:t>Brier ↓</a:t>
                      </a:r>
                    </a:p>
                  </a:txBody>
                  <a:tcPr>
                    <a:solidFill>
                      <a:srgbClr val="127D88"/>
                    </a:solidFill>
                  </a:tcPr>
                </a:tc>
              </a:tr>
              <a:tr h="441960">
                <a:tc>
                  <a:txBody>
                    <a:bodyPr/>
                    <a:lstStyle/>
                    <a:p>
                      <a:pPr>
                        <a:defRPr sz="1800" b="0">
                          <a:solidFill>
                            <a:srgbClr val="122A3A"/>
                          </a:solidFill>
                          <a:latin typeface="Arial"/>
                        </a:defRPr>
                      </a:pPr>
                      <a:r>
                        <a:t>Dummy prior</a:t>
                      </a:r>
                    </a:p>
                  </a:txBody>
                  <a:tcPr>
                    <a:solidFill>
                      <a:srgbClr val="E4EEF0"/>
                    </a:solidFill>
                  </a:tcPr>
                </a:tc>
                <a:tc>
                  <a:txBody>
                    <a:bodyPr/>
                    <a:lstStyle/>
                    <a:p>
                      <a:pPr>
                        <a:defRPr sz="1800" b="0">
                          <a:solidFill>
                            <a:srgbClr val="122A3A"/>
                          </a:solidFill>
                          <a:latin typeface="Arial"/>
                        </a:defRPr>
                      </a:pPr>
                      <a:r>
                        <a:t>0.6003</a:t>
                      </a:r>
                    </a:p>
                  </a:txBody>
                  <a:tcPr>
                    <a:solidFill>
                      <a:srgbClr val="E4EEF0"/>
                    </a:solidFill>
                  </a:tcPr>
                </a:tc>
                <a:tc>
                  <a:txBody>
                    <a:bodyPr/>
                    <a:lstStyle/>
                    <a:p>
                      <a:pPr>
                        <a:defRPr sz="1800" b="0">
                          <a:solidFill>
                            <a:srgbClr val="122A3A"/>
                          </a:solidFill>
                          <a:latin typeface="Arial"/>
                        </a:defRPr>
                      </a:pPr>
                      <a:r>
                        <a:t>0.7502</a:t>
                      </a:r>
                    </a:p>
                  </a:txBody>
                  <a:tcPr>
                    <a:solidFill>
                      <a:srgbClr val="E4EEF0"/>
                    </a:solidFill>
                  </a:tcPr>
                </a:tc>
                <a:tc>
                  <a:txBody>
                    <a:bodyPr/>
                    <a:lstStyle/>
                    <a:p>
                      <a:pPr>
                        <a:defRPr sz="1800" b="0">
                          <a:solidFill>
                            <a:srgbClr val="122A3A"/>
                          </a:solidFill>
                          <a:latin typeface="Arial"/>
                        </a:defRPr>
                      </a:pPr>
                      <a:r>
                        <a:t>0.5000</a:t>
                      </a:r>
                    </a:p>
                  </a:txBody>
                  <a:tcPr>
                    <a:solidFill>
                      <a:srgbClr val="E4EEF0"/>
                    </a:solidFill>
                  </a:tcPr>
                </a:tc>
                <a:tc>
                  <a:txBody>
                    <a:bodyPr/>
                    <a:lstStyle/>
                    <a:p>
                      <a:pPr>
                        <a:defRPr sz="1800" b="0">
                          <a:solidFill>
                            <a:srgbClr val="122A3A"/>
                          </a:solidFill>
                          <a:latin typeface="Arial"/>
                        </a:defRPr>
                      </a:pPr>
                      <a:r>
                        <a:t>0.2421</a:t>
                      </a:r>
                    </a:p>
                  </a:txBody>
                  <a:tcPr>
                    <a:solidFill>
                      <a:srgbClr val="E4EEF0"/>
                    </a:solidFill>
                  </a:tcPr>
                </a:tc>
              </a:tr>
              <a:tr h="441960">
                <a:tc>
                  <a:txBody>
                    <a:bodyPr/>
                    <a:lstStyle/>
                    <a:p>
                      <a:pPr>
                        <a:defRPr sz="1800" b="0">
                          <a:solidFill>
                            <a:srgbClr val="122A3A"/>
                          </a:solidFill>
                          <a:latin typeface="Arial"/>
                        </a:defRPr>
                      </a:pPr>
                      <a:r>
                        <a:t>Logistic Regression</a:t>
                      </a:r>
                    </a:p>
                  </a:txBody>
                  <a:tcPr>
                    <a:solidFill>
                      <a:srgbClr val="FFFFFF"/>
                    </a:solidFill>
                  </a:tcPr>
                </a:tc>
                <a:tc>
                  <a:txBody>
                    <a:bodyPr/>
                    <a:lstStyle/>
                    <a:p>
                      <a:pPr>
                        <a:defRPr sz="1800" b="0">
                          <a:solidFill>
                            <a:srgbClr val="122A3A"/>
                          </a:solidFill>
                          <a:latin typeface="Arial"/>
                        </a:defRPr>
                      </a:pPr>
                      <a:r>
                        <a:t>0.4372</a:t>
                      </a:r>
                    </a:p>
                  </a:txBody>
                  <a:tcPr>
                    <a:solidFill>
                      <a:srgbClr val="FFFFFF"/>
                    </a:solidFill>
                  </a:tcPr>
                </a:tc>
                <a:tc>
                  <a:txBody>
                    <a:bodyPr/>
                    <a:lstStyle/>
                    <a:p>
                      <a:pPr>
                        <a:defRPr sz="1800" b="0">
                          <a:solidFill>
                            <a:srgbClr val="122A3A"/>
                          </a:solidFill>
                          <a:latin typeface="Arial"/>
                        </a:defRPr>
                      </a:pPr>
                      <a:r>
                        <a:t>0.2620</a:t>
                      </a:r>
                    </a:p>
                  </a:txBody>
                  <a:tcPr>
                    <a:solidFill>
                      <a:srgbClr val="FFFFFF"/>
                    </a:solidFill>
                  </a:tcPr>
                </a:tc>
                <a:tc>
                  <a:txBody>
                    <a:bodyPr/>
                    <a:lstStyle/>
                    <a:p>
                      <a:pPr>
                        <a:defRPr sz="1800" b="0">
                          <a:solidFill>
                            <a:srgbClr val="122A3A"/>
                          </a:solidFill>
                          <a:latin typeface="Arial"/>
                        </a:defRPr>
                      </a:pPr>
                      <a:r>
                        <a:t>0.5238</a:t>
                      </a:r>
                    </a:p>
                  </a:txBody>
                  <a:tcPr>
                    <a:solidFill>
                      <a:srgbClr val="FFFFFF"/>
                    </a:solidFill>
                  </a:tcPr>
                </a:tc>
                <a:tc>
                  <a:txBody>
                    <a:bodyPr/>
                    <a:lstStyle/>
                    <a:p>
                      <a:pPr>
                        <a:defRPr sz="1800" b="0">
                          <a:solidFill>
                            <a:srgbClr val="122A3A"/>
                          </a:solidFill>
                          <a:latin typeface="Arial"/>
                        </a:defRPr>
                      </a:pPr>
                      <a:r>
                        <a:t>0.2794</a:t>
                      </a:r>
                    </a:p>
                  </a:txBody>
                  <a:tcPr>
                    <a:solidFill>
                      <a:srgbClr val="FFFFFF"/>
                    </a:solidFill>
                  </a:tcPr>
                </a:tc>
              </a:tr>
              <a:tr h="441960">
                <a:tc>
                  <a:txBody>
                    <a:bodyPr/>
                    <a:lstStyle/>
                    <a:p>
                      <a:pPr>
                        <a:defRPr sz="1800" b="0">
                          <a:solidFill>
                            <a:srgbClr val="122A3A"/>
                          </a:solidFill>
                          <a:latin typeface="Arial"/>
                        </a:defRPr>
                      </a:pPr>
                      <a:r>
                        <a:t>Random Forest</a:t>
                      </a:r>
                    </a:p>
                  </a:txBody>
                  <a:tcPr>
                    <a:solidFill>
                      <a:srgbClr val="E4EEF0"/>
                    </a:solidFill>
                  </a:tcPr>
                </a:tc>
                <a:tc>
                  <a:txBody>
                    <a:bodyPr/>
                    <a:lstStyle/>
                    <a:p>
                      <a:pPr>
                        <a:defRPr sz="1800" b="0">
                          <a:solidFill>
                            <a:srgbClr val="122A3A"/>
                          </a:solidFill>
                          <a:latin typeface="Arial"/>
                        </a:defRPr>
                      </a:pPr>
                      <a:r>
                        <a:t>0.5900</a:t>
                      </a:r>
                    </a:p>
                  </a:txBody>
                  <a:tcPr>
                    <a:solidFill>
                      <a:srgbClr val="E4EEF0"/>
                    </a:solidFill>
                  </a:tcPr>
                </a:tc>
                <a:tc>
                  <a:txBody>
                    <a:bodyPr/>
                    <a:lstStyle/>
                    <a:p>
                      <a:pPr>
                        <a:defRPr sz="1800" b="0">
                          <a:solidFill>
                            <a:srgbClr val="122A3A"/>
                          </a:solidFill>
                          <a:latin typeface="Arial"/>
                        </a:defRPr>
                      </a:pPr>
                      <a:r>
                        <a:t>0.7388</a:t>
                      </a:r>
                    </a:p>
                  </a:txBody>
                  <a:tcPr>
                    <a:solidFill>
                      <a:srgbClr val="E4EEF0"/>
                    </a:solidFill>
                  </a:tcPr>
                </a:tc>
                <a:tc>
                  <a:txBody>
                    <a:bodyPr/>
                    <a:lstStyle/>
                    <a:p>
                      <a:pPr>
                        <a:defRPr sz="1800" b="0">
                          <a:solidFill>
                            <a:srgbClr val="122A3A"/>
                          </a:solidFill>
                          <a:latin typeface="Arial"/>
                        </a:defRPr>
                      </a:pPr>
                      <a:r>
                        <a:t>0.5194</a:t>
                      </a:r>
                    </a:p>
                  </a:txBody>
                  <a:tcPr>
                    <a:solidFill>
                      <a:srgbClr val="E4EEF0"/>
                    </a:solidFill>
                  </a:tcPr>
                </a:tc>
                <a:tc>
                  <a:txBody>
                    <a:bodyPr/>
                    <a:lstStyle/>
                    <a:p>
                      <a:pPr>
                        <a:defRPr sz="1800" b="0">
                          <a:solidFill>
                            <a:srgbClr val="122A3A"/>
                          </a:solidFill>
                          <a:latin typeface="Arial"/>
                        </a:defRPr>
                      </a:pPr>
                      <a:r>
                        <a:t>0.2508</a:t>
                      </a:r>
                    </a:p>
                  </a:txBody>
                  <a:tcPr>
                    <a:solidFill>
                      <a:srgbClr val="E4EEF0"/>
                    </a:solidFill>
                  </a:tcPr>
                </a:tc>
              </a:tr>
              <a:tr h="441960">
                <a:tc>
                  <a:txBody>
                    <a:bodyPr/>
                    <a:lstStyle/>
                    <a:p>
                      <a:pPr>
                        <a:defRPr sz="1800" b="0">
                          <a:solidFill>
                            <a:srgbClr val="122A3A"/>
                          </a:solidFill>
                          <a:latin typeface="Arial"/>
                        </a:defRPr>
                      </a:pPr>
                      <a:r>
                        <a:t>MLP</a:t>
                      </a:r>
                    </a:p>
                  </a:txBody>
                  <a:tcPr>
                    <a:solidFill>
                      <a:srgbClr val="FFFFFF"/>
                    </a:solidFill>
                  </a:tcPr>
                </a:tc>
                <a:tc>
                  <a:txBody>
                    <a:bodyPr/>
                    <a:lstStyle/>
                    <a:p>
                      <a:pPr>
                        <a:defRPr sz="1800" b="0">
                          <a:solidFill>
                            <a:srgbClr val="122A3A"/>
                          </a:solidFill>
                          <a:latin typeface="Arial"/>
                        </a:defRPr>
                      </a:pPr>
                      <a:r>
                        <a:t>0.4849</a:t>
                      </a:r>
                    </a:p>
                  </a:txBody>
                  <a:tcPr>
                    <a:solidFill>
                      <a:srgbClr val="FFFFFF"/>
                    </a:solidFill>
                  </a:tcPr>
                </a:tc>
                <a:tc>
                  <a:txBody>
                    <a:bodyPr/>
                    <a:lstStyle/>
                    <a:p>
                      <a:pPr>
                        <a:defRPr sz="1800" b="0">
                          <a:solidFill>
                            <a:srgbClr val="122A3A"/>
                          </a:solidFill>
                          <a:latin typeface="Arial"/>
                        </a:defRPr>
                      </a:pPr>
                      <a:r>
                        <a:t>0.5135</a:t>
                      </a:r>
                    </a:p>
                  </a:txBody>
                  <a:tcPr>
                    <a:solidFill>
                      <a:srgbClr val="FFFFFF"/>
                    </a:solidFill>
                  </a:tcPr>
                </a:tc>
                <a:tc>
                  <a:txBody>
                    <a:bodyPr/>
                    <a:lstStyle/>
                    <a:p>
                      <a:pPr>
                        <a:defRPr sz="1800" b="0">
                          <a:solidFill>
                            <a:srgbClr val="122A3A"/>
                          </a:solidFill>
                          <a:latin typeface="Arial"/>
                        </a:defRPr>
                      </a:pPr>
                      <a:r>
                        <a:t>0.4954</a:t>
                      </a:r>
                    </a:p>
                  </a:txBody>
                  <a:tcPr>
                    <a:solidFill>
                      <a:srgbClr val="FFFFFF"/>
                    </a:solidFill>
                  </a:tcPr>
                </a:tc>
                <a:tc>
                  <a:txBody>
                    <a:bodyPr/>
                    <a:lstStyle/>
                    <a:p>
                      <a:pPr>
                        <a:defRPr sz="1800" b="0">
                          <a:solidFill>
                            <a:srgbClr val="122A3A"/>
                          </a:solidFill>
                          <a:latin typeface="Arial"/>
                        </a:defRPr>
                      </a:pPr>
                      <a:r>
                        <a:t>0.3314</a:t>
                      </a:r>
                    </a:p>
                  </a:txBody>
                  <a:tcPr>
                    <a:solidFill>
                      <a:srgbClr val="FFFFFF"/>
                    </a:solidFill>
                  </a:tcPr>
                </a:tc>
              </a:tr>
              <a:tr h="441960">
                <a:tc>
                  <a:txBody>
                    <a:bodyPr/>
                    <a:lstStyle/>
                    <a:p>
                      <a:pPr>
                        <a:defRPr sz="1800" b="0">
                          <a:solidFill>
                            <a:srgbClr val="122A3A"/>
                          </a:solidFill>
                          <a:latin typeface="Arial"/>
                        </a:defRPr>
                      </a:pPr>
                      <a:r>
                        <a:t>TabNet</a:t>
                      </a:r>
                    </a:p>
                  </a:txBody>
                  <a:tcPr>
                    <a:solidFill>
                      <a:srgbClr val="E4EEF0"/>
                    </a:solidFill>
                  </a:tcPr>
                </a:tc>
                <a:tc>
                  <a:txBody>
                    <a:bodyPr/>
                    <a:lstStyle/>
                    <a:p>
                      <a:pPr>
                        <a:defRPr sz="1800" b="0">
                          <a:solidFill>
                            <a:srgbClr val="122A3A"/>
                          </a:solidFill>
                          <a:latin typeface="Arial"/>
                        </a:defRPr>
                      </a:pPr>
                      <a:r>
                        <a:t>0.5628</a:t>
                      </a:r>
                    </a:p>
                  </a:txBody>
                  <a:tcPr>
                    <a:solidFill>
                      <a:srgbClr val="E4EEF0"/>
                    </a:solidFill>
                  </a:tcPr>
                </a:tc>
                <a:tc>
                  <a:txBody>
                    <a:bodyPr/>
                    <a:lstStyle/>
                    <a:p>
                      <a:pPr>
                        <a:defRPr sz="1800" b="0">
                          <a:solidFill>
                            <a:srgbClr val="122A3A"/>
                          </a:solidFill>
                          <a:latin typeface="Arial"/>
                        </a:defRPr>
                      </a:pPr>
                      <a:r>
                        <a:t>0.6685</a:t>
                      </a:r>
                    </a:p>
                  </a:txBody>
                  <a:tcPr>
                    <a:solidFill>
                      <a:srgbClr val="E4EEF0"/>
                    </a:solidFill>
                  </a:tcPr>
                </a:tc>
                <a:tc>
                  <a:txBody>
                    <a:bodyPr/>
                    <a:lstStyle/>
                    <a:p>
                      <a:pPr>
                        <a:defRPr sz="1800" b="0">
                          <a:solidFill>
                            <a:srgbClr val="122A3A"/>
                          </a:solidFill>
                          <a:latin typeface="Arial"/>
                        </a:defRPr>
                      </a:pPr>
                      <a:r>
                        <a:t>0.5173</a:t>
                      </a:r>
                    </a:p>
                  </a:txBody>
                  <a:tcPr>
                    <a:solidFill>
                      <a:srgbClr val="E4EEF0"/>
                    </a:solidFill>
                  </a:tcPr>
                </a:tc>
                <a:tc>
                  <a:txBody>
                    <a:bodyPr/>
                    <a:lstStyle/>
                    <a:p>
                      <a:pPr>
                        <a:defRPr sz="1800" b="0">
                          <a:solidFill>
                            <a:srgbClr val="122A3A"/>
                          </a:solidFill>
                          <a:latin typeface="Arial"/>
                        </a:defRPr>
                      </a:pPr>
                      <a:r>
                        <a:t>0.2468</a:t>
                      </a:r>
                    </a:p>
                  </a:txBody>
                  <a:tcPr>
                    <a:solidFill>
                      <a:srgbClr val="E4EEF0"/>
                    </a:solidFill>
                  </a:tcPr>
                </a:tc>
              </a:tr>
            </a:tbl>
          </a:graphicData>
        </a:graphic>
      </p:graphicFrame>
      <p:sp>
        <p:nvSpPr>
          <p:cNvPr id="7" name="TextBox 6"/>
          <p:cNvSpPr txBox="1"/>
          <p:nvPr/>
        </p:nvSpPr>
        <p:spPr>
          <a:xfrm>
            <a:off x="685800" y="4800600"/>
            <a:ext cx="10881360" cy="1005840"/>
          </a:xfrm>
          <a:prstGeom prst="rect">
            <a:avLst/>
          </a:prstGeom>
          <a:noFill/>
        </p:spPr>
        <p:txBody>
          <a:bodyPr wrap="square" lIns="0" rIns="0" tIns="0" bIns="0">
            <a:spAutoFit/>
          </a:bodyPr>
          <a:lstStyle/>
          <a:p>
            <a:pPr>
              <a:spcAft>
                <a:spcPts val="1200"/>
              </a:spcAft>
              <a:defRPr sz="2000" b="0">
                <a:solidFill>
                  <a:srgbClr val="122A3A"/>
                </a:solidFill>
                <a:latin typeface="Arial"/>
              </a:defRPr>
            </a:pPr>
            <a:r>
              <a:t>Logistic Regression selected on validation; test AUC = 0.5238</a:t>
            </a:r>
          </a:p>
          <a:p>
            <a:pPr>
              <a:spcAft>
                <a:spcPts val="1200"/>
              </a:spcAft>
              <a:defRPr sz="2000" b="0">
                <a:solidFill>
                  <a:srgbClr val="122A3A"/>
                </a:solidFill>
                <a:latin typeface="Arial"/>
              </a:defRPr>
            </a:pPr>
            <a:r>
              <a:t>A majority-Won control can have high accuracy/F1 without useful ranking.</a:t>
            </a:r>
          </a:p>
        </p:txBody>
      </p:sp>
      <p:sp>
        <p:nvSpPr>
          <p:cNvPr id="8" name="TextBox 7"/>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06 / LEAKAGE AUDIT</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A perfect score can be the wrong answer</a:t>
            </a:r>
          </a:p>
        </p:txBody>
      </p:sp>
      <p:sp>
        <p:nvSpPr>
          <p:cNvPr id="6" name="Rectangle 5"/>
          <p:cNvSpPr/>
          <p:nvPr/>
        </p:nvSpPr>
        <p:spPr>
          <a:xfrm>
            <a:off x="640080" y="1892807"/>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47088"/>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close_value is known after the outcome</a:t>
            </a:r>
          </a:p>
        </p:txBody>
      </p:sp>
      <p:sp>
        <p:nvSpPr>
          <p:cNvPr id="8" name="Rectangle 7"/>
          <p:cNvSpPr/>
          <p:nvPr/>
        </p:nvSpPr>
        <p:spPr>
          <a:xfrm>
            <a:off x="640080" y="2834639"/>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788920"/>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A one-split tree nearly reveals Won/Lost from this field</a:t>
            </a:r>
          </a:p>
        </p:txBody>
      </p:sp>
      <p:sp>
        <p:nvSpPr>
          <p:cNvPr id="10" name="Rectangle 9"/>
          <p:cNvSpPr/>
          <p:nvPr/>
        </p:nvSpPr>
        <p:spPr>
          <a:xfrm>
            <a:off x="640080" y="3776472"/>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30752"/>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The leaky control is excluded from all real scoring</a:t>
            </a:r>
          </a:p>
        </p:txBody>
      </p:sp>
      <p:sp>
        <p:nvSpPr>
          <p:cNvPr id="12" name="Rectangle 11"/>
          <p:cNvSpPr/>
          <p:nvPr/>
        </p:nvSpPr>
        <p:spPr>
          <a:xfrm>
            <a:off x="640080" y="4718304"/>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672583"/>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Lesson: feature availability matters as much as model choice.</a:t>
            </a:r>
          </a:p>
        </p:txBody>
      </p:sp>
      <p:pic>
        <p:nvPicPr>
          <p:cNvPr id="14" name="Picture 13" descr="leakage_audit.png"/>
          <p:cNvPicPr>
            <a:picLocks noChangeAspect="1"/>
          </p:cNvPicPr>
          <p:nvPr/>
        </p:nvPicPr>
        <p:blipFill>
          <a:blip r:embed="rId2"/>
          <a:stretch>
            <a:fillRect/>
          </a:stretch>
        </p:blipFill>
        <p:spPr>
          <a:xfrm>
            <a:off x="5532120" y="2212561"/>
            <a:ext cx="6035040" cy="3392997"/>
          </a:xfrm>
          <a:prstGeom prst="rect">
            <a:avLst/>
          </a:prstGeom>
        </p:spPr>
      </p:pic>
      <p:sp>
        <p:nvSpPr>
          <p:cNvPr id="15" name="TextBox 14"/>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07/12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07 / EXPLANATIONS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Show what influences the score</a:t>
            </a:r>
          </a:p>
        </p:txBody>
      </p:sp>
      <p:sp>
        <p:nvSpPr>
          <p:cNvPr id="6" name="Rectangle 5"/>
          <p:cNvSpPr/>
          <p:nvPr/>
        </p:nvSpPr>
        <p:spPr>
          <a:xfrm>
            <a:off x="640080" y="1892807"/>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47088"/>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Selected model: compare each input with its training reference</a:t>
            </a:r>
          </a:p>
        </p:txBody>
      </p:sp>
      <p:sp>
        <p:nvSpPr>
          <p:cNvPr id="8" name="Rectangle 7"/>
          <p:cNvSpPr/>
          <p:nvPr/>
        </p:nvSpPr>
        <p:spPr>
          <a:xfrm>
            <a:off x="640080" y="2834639"/>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788920"/>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Show the largest positive and negative probability changes</a:t>
            </a:r>
          </a:p>
        </p:txBody>
      </p:sp>
      <p:sp>
        <p:nvSpPr>
          <p:cNvPr id="10" name="Rectangle 9"/>
          <p:cNvSpPr/>
          <p:nvPr/>
        </p:nvSpPr>
        <p:spPr>
          <a:xfrm>
            <a:off x="640080" y="3776472"/>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30752"/>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Separate RF TreeSHAP audit verifies additive explanations</a:t>
            </a:r>
          </a:p>
        </p:txBody>
      </p:sp>
      <p:sp>
        <p:nvSpPr>
          <p:cNvPr id="12" name="Rectangle 11"/>
          <p:cNvSpPr/>
          <p:nvPr/>
        </p:nvSpPr>
        <p:spPr>
          <a:xfrm>
            <a:off x="640080" y="4718304"/>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672583"/>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Model associations are not causes or guaranteed sales actions.</a:t>
            </a:r>
          </a:p>
        </p:txBody>
      </p:sp>
      <p:pic>
        <p:nvPicPr>
          <p:cNvPr id="14" name="Picture 13" descr="rf_shap.png"/>
          <p:cNvPicPr>
            <a:picLocks noChangeAspect="1"/>
          </p:cNvPicPr>
          <p:nvPr/>
        </p:nvPicPr>
        <p:blipFill>
          <a:blip r:embed="rId2"/>
          <a:stretch>
            <a:fillRect/>
          </a:stretch>
        </p:blipFill>
        <p:spPr>
          <a:xfrm>
            <a:off x="5532120" y="2262368"/>
            <a:ext cx="6035040" cy="3293383"/>
          </a:xfrm>
          <a:prstGeom prst="rect">
            <a:avLst/>
          </a:prstGeom>
        </p:spPr>
      </p:pic>
      <p:sp>
        <p:nvSpPr>
          <p:cNvPr id="15" name="TextBox 14"/>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08/12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08 / OUTPUT EXAMPLE</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Two outputs, with an honest context</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Actual open record: AI76U58A / GTX Basic</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1. Win 87.9%  |  Loss 12.1%</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2. Main positive and negative input factors</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Predicted class: Won; priority: High</a:t>
            </a:r>
          </a:p>
        </p:txBody>
      </p:sp>
      <p:sp>
        <p:nvSpPr>
          <p:cNvPr id="14" name="Rectangle 13"/>
          <p:cNvSpPr/>
          <p:nvPr/>
        </p:nvSpPr>
        <p:spPr>
          <a:xfrm>
            <a:off x="640080" y="5184648"/>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120640"/>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Outcome unknown • frozen-model snapshot demonstration</a:t>
            </a:r>
          </a:p>
        </p:txBody>
      </p:sp>
      <p:sp>
        <p:nvSpPr>
          <p:cNvPr id="16" name="TextBox 15"/>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09/12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09 / LIMITS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Calibration helps scale, not ranking</a:t>
            </a:r>
          </a:p>
        </p:txBody>
      </p:sp>
      <p:sp>
        <p:nvSpPr>
          <p:cNvPr id="6" name="Rectangle 5"/>
          <p:cNvSpPr/>
          <p:nvPr/>
        </p:nvSpPr>
        <p:spPr>
          <a:xfrm>
            <a:off x="640080" y="1892807"/>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47088"/>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Test Brier: 0.2794 raw → 0.2443 calibrated</a:t>
            </a:r>
          </a:p>
        </p:txBody>
      </p:sp>
      <p:sp>
        <p:nvSpPr>
          <p:cNvPr id="8" name="Rectangle 7"/>
          <p:cNvSpPr/>
          <p:nvPr/>
        </p:nvSpPr>
        <p:spPr>
          <a:xfrm>
            <a:off x="640080" y="2834639"/>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788920"/>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Calibration uses validation; the base model stays frozen</a:t>
            </a:r>
          </a:p>
        </p:txBody>
      </p:sp>
      <p:sp>
        <p:nvSpPr>
          <p:cNvPr id="10" name="Rectangle 9"/>
          <p:cNvSpPr/>
          <p:nvPr/>
        </p:nvSpPr>
        <p:spPr>
          <a:xfrm>
            <a:off x="640080" y="3776472"/>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30752"/>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Priority cutoffs 0.40 / 0.70 are illustrative and need validation</a:t>
            </a:r>
          </a:p>
        </p:txBody>
      </p:sp>
      <p:sp>
        <p:nvSpPr>
          <p:cNvPr id="12" name="Rectangle 11"/>
          <p:cNvSpPr/>
          <p:nvPr/>
        </p:nvSpPr>
        <p:spPr>
          <a:xfrm>
            <a:off x="640080" y="4718304"/>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672583"/>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Closed-only sample, time drift and missing accounts remain risks.</a:t>
            </a:r>
          </a:p>
        </p:txBody>
      </p:sp>
      <p:pic>
        <p:nvPicPr>
          <p:cNvPr id="14" name="Picture 13" descr="reliability.png"/>
          <p:cNvPicPr>
            <a:picLocks noChangeAspect="1"/>
          </p:cNvPicPr>
          <p:nvPr/>
        </p:nvPicPr>
        <p:blipFill>
          <a:blip r:embed="rId2"/>
          <a:stretch>
            <a:fillRect/>
          </a:stretch>
        </p:blipFill>
        <p:spPr>
          <a:xfrm>
            <a:off x="5532120" y="1933722"/>
            <a:ext cx="6035040" cy="3950674"/>
          </a:xfrm>
          <a:prstGeom prst="rect">
            <a:avLst/>
          </a:prstGeom>
        </p:spPr>
      </p:pic>
      <p:sp>
        <p:nvSpPr>
          <p:cNvPr id="15" name="TextBox 14"/>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10 / DELIVERY STATUS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What is complete?</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Data checks, EDA and availability-aware split</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LR, RF, MLP, TabNet + control; full metrics and confusion matrices</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Local explanations, feature importance, SHAP and leakage audit</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One-command run, notebook, README, paper and editable slides</a:t>
            </a:r>
          </a:p>
        </p:txBody>
      </p:sp>
      <p:sp>
        <p:nvSpPr>
          <p:cNvPr id="14" name="TextBox 13"/>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11/12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11 / HANDOFF</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Demo, review and next steps</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Demo: open notebook → Run all → inspect results → download ZIP</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Team review: paper, slide layout, speaker roles and limitations</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Code review: review the feature-branch PR before merging</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Future research: better pre-close activity data and prospective tests</a:t>
            </a:r>
          </a:p>
        </p:txBody>
      </p:sp>
      <p:sp>
        <p:nvSpPr>
          <p:cNvPr id="14" name="TextBox 13"/>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12/12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