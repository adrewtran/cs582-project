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d1ab5fc38f14a20" /><Relationship Type="http://schemas.openxmlformats.org/officeDocument/2006/relationships/extended-properties" Target="/docProps/app.xml" Id="R8b5e2e4990f540ef" /><Relationship Type="http://schemas.openxmlformats.org/officeDocument/2006/relationships/officeDocument" Target="/ppt/presentation.xml" Id="R08707b14e8f1408a" /></Relationships>
</file>

<file path=ppt/presentation.xml><?xml version="1.0" encoding="utf-8"?>
<p:presentation xmlns:p="http://schemas.openxmlformats.org/presentationml/2006/main">
  <p:sldMasterIdLst>
    <p:sldMasterId xmlns:r="http://schemas.openxmlformats.org/officeDocument/2006/relationships" id="2147483648" r:id="R20727f5e773744d4"/>
  </p:sldMasterIdLst>
  <p:notesMasterIdLst>
    <p:notesMasterId xmlns:r="http://schemas.openxmlformats.org/officeDocument/2006/relationships" r:id="R30ebc14ef7e14c65"/>
  </p:notesMasterIdLst>
  <p:sldIdLst>
    <p:sldId xmlns:r="http://schemas.openxmlformats.org/officeDocument/2006/relationships" id="256" r:id="Re052b656e0c74db0"/>
    <p:sldId xmlns:r="http://schemas.openxmlformats.org/officeDocument/2006/relationships" id="257" r:id="R63af29f23b524745"/>
    <p:sldId xmlns:r="http://schemas.openxmlformats.org/officeDocument/2006/relationships" id="258" r:id="R0dee2f17a99a4fe8"/>
    <p:sldId xmlns:r="http://schemas.openxmlformats.org/officeDocument/2006/relationships" id="259" r:id="R5c4bda6044fa4d0e"/>
    <p:sldId xmlns:r="http://schemas.openxmlformats.org/officeDocument/2006/relationships" id="260" r:id="Rbcd2a431cfdd4be9"/>
    <p:sldId xmlns:r="http://schemas.openxmlformats.org/officeDocument/2006/relationships" id="261" r:id="R1ccf13c2123e46fb"/>
    <p:sldId xmlns:r="http://schemas.openxmlformats.org/officeDocument/2006/relationships" id="262" r:id="Rd40bbe2aa4514fda"/>
    <p:sldId xmlns:r="http://schemas.openxmlformats.org/officeDocument/2006/relationships" id="263" r:id="R69e90b1d61854af9"/>
    <p:sldId xmlns:r="http://schemas.openxmlformats.org/officeDocument/2006/relationships" id="264" r:id="Redf63652844e4a54"/>
    <p:sldId xmlns:r="http://schemas.openxmlformats.org/officeDocument/2006/relationships" id="265" r:id="R0fd4edd31be24777"/>
    <p:sldId xmlns:r="http://schemas.openxmlformats.org/officeDocument/2006/relationships" id="266" r:id="Rc5d613e6e5214301"/>
    <p:sldId xmlns:r="http://schemas.openxmlformats.org/officeDocument/2006/relationships" id="267" r:id="R86f49570479c469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c74860e6edf4b9a" /><Relationship Type="http://schemas.openxmlformats.org/officeDocument/2006/relationships/slideMaster" Target="/ppt/slideMasters/slideMaster1.xml" Id="R20727f5e773744d4" /><Relationship Type="http://schemas.openxmlformats.org/officeDocument/2006/relationships/notesMaster" Target="/ppt/notesMasters/notesMaster1.xml" Id="R30ebc14ef7e14c65" /><Relationship Type="http://schemas.openxmlformats.org/officeDocument/2006/relationships/presProps" Target="/ppt/presProps.xml" Id="Rb42667baeeb64272" /><Relationship Type="http://schemas.openxmlformats.org/officeDocument/2006/relationships/tableStyles" Target="/ppt/tableStyles.xml" Id="R300029954dab4491" /><Relationship Type="http://schemas.openxmlformats.org/officeDocument/2006/relationships/slide" Target="/ppt/slides/slide1.xml" Id="Re052b656e0c74db0" /><Relationship Type="http://schemas.openxmlformats.org/officeDocument/2006/relationships/slide" Target="/ppt/slides/slide2.xml" Id="R63af29f23b524745" /><Relationship Type="http://schemas.openxmlformats.org/officeDocument/2006/relationships/slide" Target="/ppt/slides/slide3.xml" Id="R0dee2f17a99a4fe8" /><Relationship Type="http://schemas.openxmlformats.org/officeDocument/2006/relationships/slide" Target="/ppt/slides/slide4.xml" Id="R5c4bda6044fa4d0e" /><Relationship Type="http://schemas.openxmlformats.org/officeDocument/2006/relationships/slide" Target="/ppt/slides/slide5.xml" Id="Rbcd2a431cfdd4be9" /><Relationship Type="http://schemas.openxmlformats.org/officeDocument/2006/relationships/slide" Target="/ppt/slides/slide6.xml" Id="R1ccf13c2123e46fb" /><Relationship Type="http://schemas.openxmlformats.org/officeDocument/2006/relationships/slide" Target="/ppt/slides/slide7.xml" Id="Rd40bbe2aa4514fda" /><Relationship Type="http://schemas.openxmlformats.org/officeDocument/2006/relationships/slide" Target="/ppt/slides/slide8.xml" Id="R69e90b1d61854af9" /><Relationship Type="http://schemas.openxmlformats.org/officeDocument/2006/relationships/slide" Target="/ppt/slides/slide9.xml" Id="Redf63652844e4a54" /><Relationship Type="http://schemas.openxmlformats.org/officeDocument/2006/relationships/slide" Target="/ppt/slides/slide10.xml" Id="R0fd4edd31be24777" /><Relationship Type="http://schemas.openxmlformats.org/officeDocument/2006/relationships/slide" Target="/ppt/slides/slide11.xml" Id="Rc5d613e6e5214301" /><Relationship Type="http://schemas.openxmlformats.org/officeDocument/2006/relationships/slide" Target="/ppt/slides/slide12.xml" Id="R86f49570479c46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3da176b905f456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adf8dcb510c4daf" /><Relationship Type="http://schemas.openxmlformats.org/officeDocument/2006/relationships/notesMaster" Target="/ppt/notesMasters/notesMaster1.xml" Id="Ra6f15071f9164ab4" /></Relationships>
</file>

<file path=ppt/notesSlides/_rels/notesSlide2.xml.rels>&#65279;<?xml version="1.0" encoding="utf-8"?><Relationships xmlns="http://schemas.openxmlformats.org/package/2006/relationships"><Relationship Type="http://schemas.openxmlformats.org/officeDocument/2006/relationships/slide" Target="/ppt/slides/slide2.xml" Id="R0e518139b50149f3" /><Relationship Type="http://schemas.openxmlformats.org/officeDocument/2006/relationships/notesMaster" Target="/ppt/notesMasters/notesMaster1.xml" Id="R8b4a01535f0e4c3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82baff1983a44ec" /><Relationship Type="http://schemas.openxmlformats.org/officeDocument/2006/relationships/notesMaster" Target="/ppt/notesMasters/notesMaster1.xml" Id="R29d220b865584219" /></Relationships>
</file>

<file path=ppt/notesSlides/_rels/notesSlide4.xml.rels>&#65279;<?xml version="1.0" encoding="utf-8"?><Relationships xmlns="http://schemas.openxmlformats.org/package/2006/relationships"><Relationship Type="http://schemas.openxmlformats.org/officeDocument/2006/relationships/slide" Target="/ppt/slides/slide4.xml" Id="R6b0941b3da9341ec" /><Relationship Type="http://schemas.openxmlformats.org/officeDocument/2006/relationships/notesMaster" Target="/ppt/notesMasters/notesMaster1.xml" Id="R79fa13f5e05244c6" /></Relationships>
</file>

<file path=ppt/notesSlides/_rels/notesSlide5.xml.rels>&#65279;<?xml version="1.0" encoding="utf-8"?><Relationships xmlns="http://schemas.openxmlformats.org/package/2006/relationships"><Relationship Type="http://schemas.openxmlformats.org/officeDocument/2006/relationships/slide" Target="/ppt/slides/slide5.xml" Id="R4fe1d38a9fd94d8a" /><Relationship Type="http://schemas.openxmlformats.org/officeDocument/2006/relationships/notesMaster" Target="/ppt/notesMasters/notesMaster1.xml" Id="R13f85269f7d94967" /></Relationships>
</file>

<file path=ppt/notesSlides/_rels/notesSlide6.xml.rels>&#65279;<?xml version="1.0" encoding="utf-8"?><Relationships xmlns="http://schemas.openxmlformats.org/package/2006/relationships"><Relationship Type="http://schemas.openxmlformats.org/officeDocument/2006/relationships/slide" Target="/ppt/slides/slide6.xml" Id="R2f409011cdc34ff7" /><Relationship Type="http://schemas.openxmlformats.org/officeDocument/2006/relationships/notesMaster" Target="/ppt/notesMasters/notesMaster1.xml" Id="Re46447e931fa4725" /></Relationships>
</file>

<file path=ppt/notesSlides/_rels/notesSlide7.xml.rels>&#65279;<?xml version="1.0" encoding="utf-8"?><Relationships xmlns="http://schemas.openxmlformats.org/package/2006/relationships"><Relationship Type="http://schemas.openxmlformats.org/officeDocument/2006/relationships/slide" Target="/ppt/slides/slide7.xml" Id="R3bdaba2bb9cf4e41" /><Relationship Type="http://schemas.openxmlformats.org/officeDocument/2006/relationships/notesMaster" Target="/ppt/notesMasters/notesMaster1.xml" Id="R7c4f8becb3e841ed" /></Relationships>
</file>

<file path=ppt/notesSlides/_rels/notesSlide8.xml.rels>&#65279;<?xml version="1.0" encoding="utf-8"?><Relationships xmlns="http://schemas.openxmlformats.org/package/2006/relationships"><Relationship Type="http://schemas.openxmlformats.org/officeDocument/2006/relationships/slide" Target="/ppt/slides/slide8.xml" Id="R9b4d5254f2ac48ee" /><Relationship Type="http://schemas.openxmlformats.org/officeDocument/2006/relationships/notesMaster" Target="/ppt/notesMasters/notesMaster1.xml" Id="Rb7de6e47f14a45f5" /></Relationships>
</file>

<file path=ppt/notesSlides/_rels/notesSlide9.xml.rels>&#65279;<?xml version="1.0" encoding="utf-8"?><Relationships xmlns="http://schemas.openxmlformats.org/package/2006/relationships"><Relationship Type="http://schemas.openxmlformats.org/officeDocument/2006/relationships/slide" Target="/ppt/slides/slide9.xml" Id="R39362f974dce47af" /><Relationship Type="http://schemas.openxmlformats.org/officeDocument/2006/relationships/notesMaster" Target="/ppt/notesMasters/notesMaster1.xml" Id="R16d4356798fc476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84ba7615cc54acb" /><Relationship Type="http://schemas.openxmlformats.org/officeDocument/2006/relationships/notesMaster" Target="/ppt/notesMasters/notesMaster1.xml" Id="R33ebb0ba6b974d7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90778e6374e451e" /><Relationship Type="http://schemas.openxmlformats.org/officeDocument/2006/relationships/notesMaster" Target="/ppt/notesMasters/notesMaster1.xml" Id="Rc18704c814bf43f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a47c0b95c4f41da" /><Relationship Type="http://schemas.openxmlformats.org/officeDocument/2006/relationships/notesMaster" Target="/ppt/notesMasters/notesMaster1.xml" Id="R076296e031874d0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Hong Thai Phan (45 seconds).</a:t>
            </a:r>
          </a:p>
          <a:p xmlns:a="http://schemas.openxmlformats.org/drawingml/2006/main">
            <a:r>
              <a:t/>
            </a:r>
          </a:p>
          <a:p xmlns:a="http://schemas.openxmlformats.org/drawingml/2006/main">
            <a:r>
              <a:t>Hello everyone. Our project studies sales opportunities in a CRM system. We want to estimate whether an opportunity will be won or lost, and help the user understand the score. Our system now includes a sales assistant that suggests review actions with evidence. Today we will show the problem, our data, the experiment, and a real model demo. We will also explain the limits of the measured results. These matter, because we want our conclusions to match what the data actually shows.</a:t>
            </a:r>
          </a:p>
          <a:p xmlns:a="http://schemas.openxmlformats.org/drawingml/2006/main">
            <a:r>
              <a:t/>
            </a:r>
          </a:p>
          <a:p xmlns:a="http://schemas.openxmlformats.org/drawingml/2006/main">
            <a:r>
              <a:t>Evidence: Current run: ablation_comparison.csv, history_audit.csv and demo_example.json; method references in the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Hong Thai Phan (55 seconds).</a:t>
            </a:r>
          </a:p>
          <a:p xmlns:a="http://schemas.openxmlformats.org/drawingml/2006/main">
            <a:r>
              <a:t/>
            </a:r>
          </a:p>
          <a:p xmlns:a="http://schemas.openxmlformats.org/drawingml/2006/main">
            <a:r>
              <a:t>The source is a fictitious business that sells computer hardware. We connect four tables: sales opportunities, accounts, products, and sales teams. There are 8,800 opportunities in the supplied files. We learn from observed Won and Lost outcomes. An open deal is still unknown, so we never label it as Lost. The raw model uses eighteen pre-close attributes. The final close value and stage would reveal the answer. We exclude those fields from prediction, while keeping dates and IDs for auditing.</a:t>
            </a:r>
          </a:p>
          <a:p xmlns:a="http://schemas.openxmlformats.org/drawingml/2006/main">
            <a:r>
              <a:t/>
            </a:r>
          </a:p>
          <a:p xmlns:a="http://schemas.openxmlformats.org/drawingml/2006/main">
            <a:r>
              <a:t>Evidence: Current run: ablation_comparison.csv, history_audit.csv and demo_example.json; method references in the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Hong Thai Phan (60 seconds).</a:t>
            </a:r>
          </a:p>
          <a:p xmlns:a="http://schemas.openxmlformats.org/drawingml/2006/main">
            <a:r>
              <a:t/>
            </a:r>
          </a:p>
          <a:p xmlns:a="http://schemas.openxmlformats.org/drawingml/2006/main">
            <a:r>
              <a:t>We split the records by engagement date. However, starting earlier does not mean the outcome was already known. For example, a deal might start in June and close in October. Its outcome cannot train a model used in July. Our split removes these late labels from the earlier periods. We also keep records from the same date together. All models use the same row assignments. This is an exploratory test, because we already inspected this dataset during the project. It is not a new external test.</a:t>
            </a:r>
          </a:p>
          <a:p xmlns:a="http://schemas.openxmlformats.org/drawingml/2006/main">
            <a:r>
              <a:t/>
            </a:r>
          </a:p>
          <a:p xmlns:a="http://schemas.openxmlformats.org/drawingml/2006/main">
            <a:r>
              <a:t>Evidence: Current run: ablation_comparison.csv, history_audit.csv and demo_example.json; method references in the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Hong Thai Phan (60 seconds).</a:t>
            </a:r>
          </a:p>
          <a:p xmlns:a="http://schemas.openxmlformats.org/drawingml/2006/main">
            <a:r>
              <a:t/>
            </a:r>
          </a:p>
          <a:p xmlns:a="http://schemas.openxmlformats.org/drawingml/2006/main">
            <a:r>
              <a:t>Our first extension is historical information. For each opportunity, we look backward from its engagement date. We only use other training deals that had already closed. A closure on the same day is excluded, because we do not know the time within that day. We calculate prior counts, smoothed win rates, average values, and cycle lengths. When history is missing, we use a documented prior and show a cold-start flag. Tests confirm that changing future outcomes does not change these features. An will now explain how we compare the models.</a:t>
            </a:r>
          </a:p>
          <a:p xmlns:a="http://schemas.openxmlformats.org/drawingml/2006/main">
            <a:r>
              <a:t/>
            </a:r>
          </a:p>
          <a:p xmlns:a="http://schemas.openxmlformats.org/drawingml/2006/main">
            <a:r>
              <a:t>Evidence: Current run: ablation_comparison.csv, history_audit.csv and demo_example.json; method references in the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Nguyen Khanh An Tran (55 seconds).</a:t>
            </a:r>
          </a:p>
          <a:p xmlns:a="http://schemas.openxmlformats.org/drawingml/2006/main">
            <a:r>
              <a:t/>
            </a:r>
          </a:p>
          <a:p xmlns:a="http://schemas.openxmlformats.org/drawingml/2006/main">
            <a:r>
              <a:t>We compare six real models on CPU. The original models are Logistic Regression, Random Forest, MLP, and TabNet. We retain the dummy control and add CatBoost, which handles categorical data directly. Experiment A uses the original inputs. Experiment B adds the historical features. We fit preprocessing using training data only. Validation controls selection and early stopping. We save a selection record before evaluating either test set. This means a model with a better test score cannot silently become our final choice after we see the result.</a:t>
            </a:r>
          </a:p>
          <a:p xmlns:a="http://schemas.openxmlformats.org/drawingml/2006/main">
            <a:r>
              <a:t/>
            </a:r>
          </a:p>
          <a:p xmlns:a="http://schemas.openxmlformats.org/drawingml/2006/main">
            <a:r>
              <a:t>Evidence: Current run: ablation_comparison.csv, history_audit.csv and demo_example.json; method references in the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Nguyen Khanh An Tran (65 seconds).</a:t>
            </a:r>
          </a:p>
          <a:p xmlns:a="http://schemas.openxmlformats.org/drawingml/2006/main">
            <a:r>
              <a:t/>
            </a:r>
          </a:p>
          <a:p xmlns:a="http://schemas.openxmlformats.org/drawingml/2006/main">
            <a:r>
              <a:t>Here are the measured test AUC values. For Logistic Regression, history has lower test AUC than raw inputs (B minus A -0.0070). This single exploratory comparison does not prove a general predictive benefit. The highest observed test AUC is 0.542, from raw / CatBoost. That is descriptive information, not our selection rule. We keep the validation winner. We do not switch models after seeing test results. The paper also includes accuracy, precision, recall, F1, calibration scores, and confusion counts for all twelve legitimate runs. This helps us judge the models from several perspectives.</a:t>
            </a:r>
          </a:p>
          <a:p xmlns:a="http://schemas.openxmlformats.org/drawingml/2006/main">
            <a:r>
              <a:t/>
            </a:r>
          </a:p>
          <a:p xmlns:a="http://schemas.openxmlformats.org/drawingml/2006/main">
            <a:r>
              <a:t>Evidence: Current run: ablation_comparison.csv, history_audit.csv and demo_example.json; method references in the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Nguyen Khanh An Tran (50 seconds).</a:t>
            </a:r>
          </a:p>
          <a:p xmlns:a="http://schemas.openxmlformats.org/drawingml/2006/main">
            <a:r>
              <a:t/>
            </a:r>
          </a:p>
          <a:p xmlns:a="http://schemas.openxmlformats.org/drawingml/2006/main">
            <a:r>
              <a:t>We also run an intentionally invalid control. Its test AUC is 1.0000 using the final close value. However, the salesperson would not know that value when making the prediction. We keep this control outside the real model comparison and scoring. Historical average values are different: they come from other deals that already closed before the query date. This audit shows why checking data availability is more important than presenting an impressive number. Even if the diagnostic score changes on new data, this field remains invalid for pre-close prediction.</a:t>
            </a:r>
          </a:p>
          <a:p xmlns:a="http://schemas.openxmlformats.org/drawingml/2006/main">
            <a:r>
              <a:t/>
            </a:r>
          </a:p>
          <a:p xmlns:a="http://schemas.openxmlformats.org/drawingml/2006/main">
            <a:r>
              <a:t>Evidence: Current run: ablation_comparison.csv, history_audit.csv and demo_example.json; method references in the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Nguyen Khanh An Tran (50 seconds).</a:t>
            </a:r>
          </a:p>
          <a:p xmlns:a="http://schemas.openxmlformats.org/drawingml/2006/main">
            <a:r>
              <a:t/>
            </a:r>
          </a:p>
          <a:p xmlns:a="http://schemas.openxmlformats.org/drawingml/2006/main">
            <a:r>
              <a:t>The assistant has two separate parts. The model estimates a probability and shows the inputs that affect its score. The rule layer then suggests review actions using that score and the historical context. For example, it asks the user to complete a missing account, or review product fit when enough prior product outcomes show a weaker pattern. Each action includes the rule name, observed evidence, and reason. These are transparent decision-support rules. We do not claim they cause more sales. Bao will now demonstrate a real opportunity.</a:t>
            </a:r>
          </a:p>
          <a:p xmlns:a="http://schemas.openxmlformats.org/drawingml/2006/main">
            <a:r>
              <a:t/>
            </a:r>
          </a:p>
          <a:p xmlns:a="http://schemas.openxmlformats.org/drawingml/2006/main">
            <a:r>
              <a:t>Evidence: Current run: ablation_comparison.csv, history_audit.csv and demo_example.json; method references in the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Hoang Thien Bao Bui (90 seconds).</a:t>
            </a:r>
          </a:p>
          <a:p xmlns:a="http://schemas.openxmlformats.org/drawingml/2006/main">
            <a:r>
              <a:t/>
            </a:r>
          </a:p>
          <a:p xmlns:a="http://schemas.openxmlformats.org/drawingml/2006/main">
            <a:r>
              <a:t>For this demo, we use opportunity 01XZ9CRY, for Initech. I will run the demo command now. It loads the saved model, rebuilds the same historical features, and calculates the score again. The estimated win probability is about 53%. The actual outcome is still unknown. Below the score, we can see the strongest reference sensitivities and the assistant's review actions. The JSON version includes the supporting counts and timestamps. We choose this example by date, not because its score looks especially good.</a:t>
            </a:r>
          </a:p>
          <a:p xmlns:a="http://schemas.openxmlformats.org/drawingml/2006/main">
            <a:r>
              <a:t/>
            </a:r>
          </a:p>
          <a:p xmlns:a="http://schemas.openxmlformats.org/drawingml/2006/main">
            <a:r>
              <a:t>Evidence: Current run: ablation_comparison.csv, history_audit.csv and demo_example.json; method references in the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Hoang Thien Bao Bui (50 seconds).</a:t>
            </a:r>
          </a:p>
          <a:p xmlns:a="http://schemas.openxmlformats.org/drawingml/2006/main">
            <a:r>
              <a:t/>
            </a:r>
          </a:p>
          <a:p xmlns:a="http://schemas.openxmlformats.org/drawingml/2006/main">
            <a:r>
              <a:t>An explanation can make a weak model easier to inspect, but it cannot make that model accurate. Our main explanations change one input to a training reference and measure the score difference. These effects do not add up like SHAP values, and correlated features can make such changes unrealistic. We also keep a separate Random Forest TreeSHAP audit. Missing account information is another major issue in the open records. We show this warning explicitly. The assistant still requires human review and does not turn missing data into confident business advice.</a:t>
            </a:r>
          </a:p>
          <a:p xmlns:a="http://schemas.openxmlformats.org/drawingml/2006/main">
            <a:r>
              <a:t/>
            </a:r>
          </a:p>
          <a:p xmlns:a="http://schemas.openxmlformats.org/drawingml/2006/main">
            <a:r>
              <a:t>Evidence: Current run: ablation_comparison.csv, history_audit.csv and demo_example.json; method references in the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Hoang Thien Bao Bui (45 seconds).</a:t>
            </a:r>
          </a:p>
          <a:p xmlns:a="http://schemas.openxmlformats.org/drawingml/2006/main">
            <a:r>
              <a:t/>
            </a:r>
          </a:p>
          <a:p xmlns:a="http://schemas.openxmlformats.org/drawingml/2006/main">
            <a:r>
              <a:t>Our novelty is an applied system contribution. We combine a leakage audit, a tested historical feature engine, and a deterministic sales assistant with traceable evidence. We are not presenting a newly invented learning algorithm. The paired comparison shows the measured effect of adding history for this dataset. It does not establish a general improvement. The training archive is frozen, the account tables are static, and the data contains only observed closed outcomes for evaluation. Stronger future evidence would require richer activity data, new periods, and a prospective study of actual decisions.</a:t>
            </a:r>
          </a:p>
          <a:p xmlns:a="http://schemas.openxmlformats.org/drawingml/2006/main">
            <a:r>
              <a:t/>
            </a:r>
          </a:p>
          <a:p xmlns:a="http://schemas.openxmlformats.org/drawingml/2006/main">
            <a:r>
              <a:t>Evidence: Current run: ablation_comparison.csv, history_audit.csv and demo_example.json; method references in the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Hoang Thien Bao Bui (35 seconds).</a:t>
            </a:r>
          </a:p>
          <a:p xmlns:a="http://schemas.openxmlformats.org/drawingml/2006/main">
            <a:r>
              <a:t/>
            </a:r>
          </a:p>
          <a:p xmlns:a="http://schemas.openxmlformats.org/drawingml/2006/main">
            <a:r>
              <a:t>To finish, one command runs the full experiment and creates our results. The notebook uses the same code as this demo. We check the time rules and confirm that saved models reproduce the exported scores. Our next step is to test richer sales activity data and evaluate new opportunities. We will also rehearse in Colab and check the slide layout before presenting. Thank you. We are happy to answer your questions.</a:t>
            </a:r>
          </a:p>
          <a:p xmlns:a="http://schemas.openxmlformats.org/drawingml/2006/main">
            <a:r>
              <a:t/>
            </a:r>
          </a:p>
          <a:p xmlns:a="http://schemas.openxmlformats.org/drawingml/2006/main">
            <a:r>
              <a:t>Evidence: Current run: ablation_comparison.csv, history_audit.csv and demo_example.json; method references in the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84b7eeb7080454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7d537f406e64a6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eba6bd3585d47e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0032b4936224b1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91e2e9d4ad14f3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adf97e8c96a4ad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F383FF1-8B1F-488A-BA05-4864FCFEB40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B463F3E-0003-423C-8E6B-108D6FF38A6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E12E501-8D5B-44A4-9D19-8BADF6020E5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1E5FE6F-0AF1-43ED-B977-375C283BDAB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EE2D70C-E7F2-4F2D-9B22-42EE4D37421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3171E2B-66E1-4314-B547-27C47C5E1AF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CC7099C-620D-4D37-8572-C3EAE579A91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616F7B7-9683-4FC5-A169-CEECC622DD0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38AE59D-22AA-4507-B678-F3F1A0E13B1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10E3ABC-CBDB-4FCA-A8E5-A57AB344AD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3db0bcd3d634610" /><Relationship Type="http://schemas.openxmlformats.org/officeDocument/2006/relationships/slideLayout" Target="/ppt/slideLayouts/slideLayout1.xml" Id="Rb55bfca18b6d4fa9" /><Relationship Type="http://schemas.openxmlformats.org/officeDocument/2006/relationships/slideLayout" Target="/ppt/slideLayouts/slideLayout2.xml" Id="R0914f6402b434bee" /><Relationship Type="http://schemas.openxmlformats.org/officeDocument/2006/relationships/slideLayout" Target="/ppt/slideLayouts/slideLayout3.xml" Id="R4c6344dd26a84158" /><Relationship Type="http://schemas.openxmlformats.org/officeDocument/2006/relationships/slideLayout" Target="/ppt/slideLayouts/slideLayout4.xml" Id="R65c5f9cea86e495c" /><Relationship Type="http://schemas.openxmlformats.org/officeDocument/2006/relationships/slideLayout" Target="/ppt/slideLayouts/slideLayout5.xml" Id="R86c30ff142764721" /><Relationship Type="http://schemas.openxmlformats.org/officeDocument/2006/relationships/slideLayout" Target="/ppt/slideLayouts/slideLayout6.xml" Id="R1fac21704b34414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55bfca18b6d4fa9"/>
    <p:sldLayoutId xmlns:r="http://schemas.openxmlformats.org/officeDocument/2006/relationships" id="2147483650" r:id="R0914f6402b434bee"/>
    <p:sldLayoutId xmlns:r="http://schemas.openxmlformats.org/officeDocument/2006/relationships" id="2147483651" r:id="R4c6344dd26a84158"/>
    <p:sldLayoutId xmlns:r="http://schemas.openxmlformats.org/officeDocument/2006/relationships" id="2147483652" r:id="R65c5f9cea86e495c"/>
    <p:sldLayoutId xmlns:r="http://schemas.openxmlformats.org/officeDocument/2006/relationships" id="2147483653" r:id="R86c30ff142764721"/>
    <p:sldLayoutId xmlns:r="http://schemas.openxmlformats.org/officeDocument/2006/relationships" id="2147483654" r:id="R1fac21704b34414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2a05588fa534cd9" /><Relationship Type="http://schemas.openxmlformats.org/officeDocument/2006/relationships/notesSlide" Target="/ppt/notesSlides/notesSlide1.xml" Id="R0b2f995b186a46c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dc93546378d4104" /><Relationship Type="http://schemas.openxmlformats.org/officeDocument/2006/relationships/notesSlide" Target="/ppt/notesSlides/notesSlide2.xml" Id="Rc296149f73d24db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e5c2b22068646f7" /><Relationship Type="http://schemas.openxmlformats.org/officeDocument/2006/relationships/notesSlide" Target="/ppt/notesSlides/notesSlide3.xml" Id="R57339de4a92844f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6bc927d94534cf9" /><Relationship Type="http://schemas.openxmlformats.org/officeDocument/2006/relationships/notesSlide" Target="/ppt/notesSlides/notesSlide4.xml" Id="R924e3f1cc59c452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b387a203461495a" /><Relationship Type="http://schemas.openxmlformats.org/officeDocument/2006/relationships/notesSlide" Target="/ppt/notesSlides/notesSlide5.xml" Id="Rf5a3e9c1fc794f2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251e974efa44064" /><Relationship Type="http://schemas.openxmlformats.org/officeDocument/2006/relationships/notesSlide" Target="/ppt/notesSlides/notesSlide6.xml" Id="Rd8926481c5d54ed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65938c35ff94fad" /><Relationship Type="http://schemas.openxmlformats.org/officeDocument/2006/relationships/notesSlide" Target="/ppt/notesSlides/notesSlide7.xml" Id="R86e1583ca58b41c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b9b97586bd945c0" /><Relationship Type="http://schemas.openxmlformats.org/officeDocument/2006/relationships/notesSlide" Target="/ppt/notesSlides/notesSlide8.xml" Id="R1fab3287dfc940e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8a64e4f51af4c23" /><Relationship Type="http://schemas.openxmlformats.org/officeDocument/2006/relationships/notesSlide" Target="/ppt/notesSlides/notesSlide9.xml" Id="R763259fd873c422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08c2d3f1f9945e9" /><Relationship Type="http://schemas.openxmlformats.org/officeDocument/2006/relationships/notesSlide" Target="/ppt/notesSlides/notesSlide10.xml" Id="R17f270bd1edc417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a3037556e6b436c" /><Relationship Type="http://schemas.openxmlformats.org/officeDocument/2006/relationships/notesSlide" Target="/ppt/notesSlides/notesSlide11.xml" Id="Rb7aa659dd665440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4a4ff9de02b4de3" /><Relationship Type="http://schemas.openxmlformats.org/officeDocument/2006/relationships/notesSlide" Target="/ppt/notesSlides/notesSlide12.xml" Id="R44c40be0ac3f48e2" /></Relationships>
</file>

<file path=ppt/slides/slide1.xml><?xml version="1.0" encoding="utf-8"?>
<p:sld xmlns:p="http://schemas.openxmlformats.org/presentationml/2006/main">
  <p:cSld>
    <p:bg>
      <p:bgPr>
        <a:solidFill xmlns:a="http://schemas.openxmlformats.org/drawingml/2006/main">
          <a:srgbClr val="F4F7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6004ACF-C177-4980-BD93-106379C93336}"/>
              </a:ext>
            </a:extLst>
          </p:cNvPr>
          <p:cNvSpPr>
            <a:spLocks xmlns:a="http://schemas.openxmlformats.org/drawingml/2006/main" noGrp="1"/>
          </p:cNvSpPr>
          <p:nvPr/>
        </p:nvSpPr>
        <p:spPr>
          <a:xfrm xmlns:a="http://schemas.openxmlformats.org/drawingml/2006/main">
            <a:off x="609600" y="2857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1">
                <a:solidFill>
                  <a:srgbClr val="127D88"/>
                </a:solidFill>
                <a:latin typeface="Arial"/>
                <a:ea typeface="Arial"/>
                <a:cs typeface="Arial"/>
              </a:defRPr>
            </a:defPPr>
          </a:lstStyle>
          <a:p xmlns:a="http://schemas.openxmlformats.org/drawingml/2006/main">
            <a:pPr>
              <a:defRPr sz="1200" b="1">
                <a:solidFill>
                  <a:srgbClr val="127D88"/>
                </a:solidFill>
                <a:latin typeface="Arial"/>
                <a:ea typeface="Arial"/>
                <a:cs typeface="Arial"/>
              </a:defRPr>
            </a:pPr>
            <a:r>
              <a:rPr sz="1200" b="1">
                <a:solidFill>
                  <a:srgbClr val="127D88"/>
                </a:solidFill>
                <a:latin typeface="Arial"/>
                <a:ea typeface="Arial"/>
                <a:cs typeface="Arial"/>
              </a:rPr>
              <a:t>CS 582 / GROUP 2 / 01</a:t>
            </a:r>
          </a:p>
        </p:txBody>
      </p:sp>
      <p:sp>
        <p:nvSpPr>
          <p:cNvPr id="2" name="">
            <a:extLst xmlns:a="http://schemas.openxmlformats.org/drawingml/2006/main">
              <a:ext uri="{FF2B5EF4-FFF2-40B4-BE49-F238E27FC236}">
                <a16:creationId xmlns:a16="http://schemas.microsoft.com/office/drawing/2014/main" id="{3669D3F1-93DE-4D0B-9BB2-B3566F5C9E36}"/>
              </a:ext>
            </a:extLst>
          </p:cNvPr>
          <p:cNvSpPr>
            <a:spLocks xmlns:a="http://schemas.openxmlformats.org/drawingml/2006/main" noGrp="1"/>
          </p:cNvSpPr>
          <p:nvPr/>
        </p:nvSpPr>
        <p:spPr>
          <a:xfrm xmlns:a="http://schemas.openxmlformats.org/drawingml/2006/main">
            <a:off x="609600" y="809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22A3A"/>
                </a:solidFill>
                <a:latin typeface="Arial"/>
                <a:ea typeface="Arial"/>
                <a:cs typeface="Arial"/>
              </a:defRPr>
            </a:defPPr>
          </a:lstStyle>
          <a:p xmlns:a="http://schemas.openxmlformats.org/drawingml/2006/main">
            <a:pPr>
              <a:defRPr sz="3150" b="1">
                <a:solidFill>
                  <a:srgbClr val="122A3A"/>
                </a:solidFill>
                <a:latin typeface="Arial"/>
                <a:ea typeface="Arial"/>
                <a:cs typeface="Arial"/>
              </a:defRPr>
            </a:pPr>
            <a:r>
              <a:rPr sz="3150" b="1">
                <a:solidFill>
                  <a:srgbClr val="122A3A"/>
                </a:solidFill>
                <a:latin typeface="Arial"/>
                <a:ea typeface="Arial"/>
                <a:cs typeface="Arial"/>
              </a:rPr>
              <a:t>CRM sales decision support</a:t>
            </a:r>
          </a:p>
        </p:txBody>
      </p:sp>
      <p:sp>
        <p:nvSpPr>
          <p:cNvPr id="3" name="">
            <a:extLst xmlns:a="http://schemas.openxmlformats.org/drawingml/2006/main">
              <a:ext uri="{FF2B5EF4-FFF2-40B4-BE49-F238E27FC236}">
                <a16:creationId xmlns:a16="http://schemas.microsoft.com/office/drawing/2014/main" id="{4A47C7EA-392B-4E38-8C1B-35299B551C6C}"/>
              </a:ext>
            </a:extLst>
          </p:cNvPr>
          <p:cNvSpPr>
            <a:spLocks xmlns:a="http://schemas.openxmlformats.org/drawingml/2006/main" noGrp="1"/>
          </p:cNvSpPr>
          <p:nvPr/>
        </p:nvSpPr>
        <p:spPr>
          <a:xfrm xmlns:a="http://schemas.openxmlformats.org/drawingml/2006/main">
            <a:off x="723900" y="1981200"/>
            <a:ext cx="1078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22A3A"/>
                </a:solidFill>
                <a:latin typeface="Arial"/>
                <a:ea typeface="Arial"/>
                <a:cs typeface="Arial"/>
              </a:defRPr>
            </a:defPPr>
          </a:lstStyle>
          <a:p xmlns:a="http://schemas.openxmlformats.org/drawingml/2006/main">
            <a:pPr>
              <a:defRPr sz="2550" b="0">
                <a:solidFill>
                  <a:srgbClr val="122A3A"/>
                </a:solidFill>
                <a:latin typeface="Arial"/>
                <a:ea typeface="Arial"/>
                <a:cs typeface="Arial"/>
              </a:defRPr>
            </a:pPr>
            <a:r>
              <a:rPr sz="2550" b="0">
                <a:solidFill>
                  <a:srgbClr val="122A3A"/>
                </a:solidFill>
                <a:latin typeface="Arial"/>
                <a:ea typeface="Arial"/>
                <a:cs typeface="Arial"/>
              </a:rPr>
              <a:t>Won and Lost probability estimates</a:t>
            </a:r>
          </a:p>
        </p:txBody>
      </p:sp>
      <p:sp>
        <p:nvSpPr>
          <p:cNvPr id="4" name="">
            <a:extLst xmlns:a="http://schemas.openxmlformats.org/drawingml/2006/main">
              <a:ext uri="{FF2B5EF4-FFF2-40B4-BE49-F238E27FC236}">
                <a16:creationId xmlns:a16="http://schemas.microsoft.com/office/drawing/2014/main" id="{74CB6F27-DE5B-4661-861C-92B28347D9BF}"/>
              </a:ext>
            </a:extLst>
          </p:cNvPr>
          <p:cNvSpPr>
            <a:spLocks xmlns:a="http://schemas.openxmlformats.org/drawingml/2006/main" noGrp="1"/>
          </p:cNvSpPr>
          <p:nvPr/>
        </p:nvSpPr>
        <p:spPr>
          <a:xfrm xmlns:a="http://schemas.openxmlformats.org/drawingml/2006/main">
            <a:off x="723900" y="2886075"/>
            <a:ext cx="1078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22A3A"/>
                </a:solidFill>
                <a:latin typeface="Arial"/>
                <a:ea typeface="Arial"/>
                <a:cs typeface="Arial"/>
              </a:defRPr>
            </a:defPPr>
          </a:lstStyle>
          <a:p xmlns:a="http://schemas.openxmlformats.org/drawingml/2006/main">
            <a:pPr>
              <a:defRPr sz="2550" b="0">
                <a:solidFill>
                  <a:srgbClr val="122A3A"/>
                </a:solidFill>
                <a:latin typeface="Arial"/>
                <a:ea typeface="Arial"/>
                <a:cs typeface="Arial"/>
              </a:defRPr>
            </a:pPr>
            <a:r>
              <a:rPr sz="2550" b="0">
                <a:solidFill>
                  <a:srgbClr val="122A3A"/>
                </a:solidFill>
                <a:latin typeface="Arial"/>
                <a:ea typeface="Arial"/>
                <a:cs typeface="Arial"/>
              </a:rPr>
              <a:t>Historical context and review actions</a:t>
            </a:r>
          </a:p>
        </p:txBody>
      </p:sp>
      <p:sp>
        <p:nvSpPr>
          <p:cNvPr id="5" name="">
            <a:extLst xmlns:a="http://schemas.openxmlformats.org/drawingml/2006/main">
              <a:ext uri="{FF2B5EF4-FFF2-40B4-BE49-F238E27FC236}">
                <a16:creationId xmlns:a16="http://schemas.microsoft.com/office/drawing/2014/main" id="{B832B80C-909B-4F82-9DC7-7213A39DF5D7}"/>
              </a:ext>
            </a:extLst>
          </p:cNvPr>
          <p:cNvSpPr>
            <a:spLocks xmlns:a="http://schemas.openxmlformats.org/drawingml/2006/main" noGrp="1"/>
          </p:cNvSpPr>
          <p:nvPr/>
        </p:nvSpPr>
        <p:spPr>
          <a:xfrm xmlns:a="http://schemas.openxmlformats.org/drawingml/2006/main">
            <a:off x="723900" y="3790950"/>
            <a:ext cx="1078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22A3A"/>
                </a:solidFill>
                <a:latin typeface="Arial"/>
                <a:ea typeface="Arial"/>
                <a:cs typeface="Arial"/>
              </a:defRPr>
            </a:defPPr>
          </a:lstStyle>
          <a:p xmlns:a="http://schemas.openxmlformats.org/drawingml/2006/main">
            <a:pPr>
              <a:defRPr sz="2550" b="0">
                <a:solidFill>
                  <a:srgbClr val="122A3A"/>
                </a:solidFill>
                <a:latin typeface="Arial"/>
                <a:ea typeface="Arial"/>
                <a:cs typeface="Arial"/>
              </a:defRPr>
            </a:pPr>
            <a:r>
              <a:rPr sz="2550" b="0">
                <a:solidFill>
                  <a:srgbClr val="122A3A"/>
                </a:solidFill>
                <a:latin typeface="Arial"/>
                <a:ea typeface="Arial"/>
                <a:cs typeface="Arial"/>
              </a:rPr>
              <a:t>CS 582 Group 2</a:t>
            </a:r>
          </a:p>
        </p:txBody>
      </p:sp>
      <p:sp>
        <p:nvSpPr>
          <p:cNvPr id="6" name="">
            <a:extLst xmlns:a="http://schemas.openxmlformats.org/drawingml/2006/main">
              <a:ext uri="{FF2B5EF4-FFF2-40B4-BE49-F238E27FC236}">
                <a16:creationId xmlns:a16="http://schemas.microsoft.com/office/drawing/2014/main" id="{3A2E9122-7EBA-49C4-BEA3-38B91A40DF52}"/>
              </a:ext>
            </a:extLst>
          </p:cNvPr>
          <p:cNvSpPr>
            <a:spLocks xmlns:a="http://schemas.openxmlformats.org/drawingml/2006/main" noGrp="1"/>
          </p:cNvSpPr>
          <p:nvPr/>
        </p:nvSpPr>
        <p:spPr>
          <a:xfrm xmlns:a="http://schemas.openxmlformats.org/drawingml/2006/main">
            <a:off x="609600" y="64389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506574"/>
                </a:solidFill>
                <a:latin typeface="Arial"/>
                <a:ea typeface="Arial"/>
                <a:cs typeface="Arial"/>
              </a:defRPr>
            </a:defPPr>
          </a:lstStyle>
          <a:p xmlns:a="http://schemas.openxmlformats.org/drawingml/2006/main">
            <a:pPr>
              <a:defRPr sz="1050" b="0">
                <a:solidFill>
                  <a:srgbClr val="506574"/>
                </a:solidFill>
                <a:latin typeface="Arial"/>
                <a:ea typeface="Arial"/>
                <a:cs typeface="Arial"/>
              </a:defRPr>
            </a:pPr>
            <a:r>
              <a:rPr sz="1050" b="0">
                <a:solidFill>
                  <a:srgbClr val="506574"/>
                </a:solidFill>
                <a:latin typeface="Arial"/>
                <a:ea typeface="Arial"/>
                <a:cs typeface="Arial"/>
              </a:rPr>
              <a:t>CS 582 Group 2   full   01/12</a:t>
            </a:r>
          </a:p>
        </p:txBody>
      </p:sp>
    </p:spTree>
    <p:extLst>
      <p:ext uri="{BB962C8B-B14F-4D97-AF65-F5344CB8AC3E}">
        <p14:creationId xmlns:p14="http://schemas.microsoft.com/office/powerpoint/2010/main" val="1160341720"/>
      </p:ext>
    </p:extLst>
  </p:cSld>
</p:sld>
</file>

<file path=ppt/slides/slide2.xml><?xml version="1.0" encoding="utf-8"?>
<p:sld xmlns:p="http://schemas.openxmlformats.org/presentationml/2006/main">
  <p:cSld>
    <p:bg>
      <p:bgPr>
        <a:solidFill xmlns:a="http://schemas.openxmlformats.org/drawingml/2006/main">
          <a:srgbClr val="F4F7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A8DA5B0-DF0D-477F-BC2B-0B95BBBF0478}"/>
              </a:ext>
            </a:extLst>
          </p:cNvPr>
          <p:cNvSpPr>
            <a:spLocks xmlns:a="http://schemas.openxmlformats.org/drawingml/2006/main" noGrp="1"/>
          </p:cNvSpPr>
          <p:nvPr/>
        </p:nvSpPr>
        <p:spPr>
          <a:xfrm xmlns:a="http://schemas.openxmlformats.org/drawingml/2006/main">
            <a:off x="609600" y="2857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1">
                <a:solidFill>
                  <a:srgbClr val="127D88"/>
                </a:solidFill>
                <a:latin typeface="Arial"/>
                <a:ea typeface="Arial"/>
                <a:cs typeface="Arial"/>
              </a:defRPr>
            </a:defPPr>
          </a:lstStyle>
          <a:p xmlns:a="http://schemas.openxmlformats.org/drawingml/2006/main">
            <a:pPr>
              <a:defRPr sz="1200" b="1">
                <a:solidFill>
                  <a:srgbClr val="127D88"/>
                </a:solidFill>
                <a:latin typeface="Arial"/>
                <a:ea typeface="Arial"/>
                <a:cs typeface="Arial"/>
              </a:defRPr>
            </a:pPr>
            <a:r>
              <a:rPr sz="1200" b="1">
                <a:solidFill>
                  <a:srgbClr val="127D88"/>
                </a:solidFill>
                <a:latin typeface="Arial"/>
                <a:ea typeface="Arial"/>
                <a:cs typeface="Arial"/>
              </a:rPr>
              <a:t>CS 582 / GROUP 2 / 02</a:t>
            </a:r>
          </a:p>
        </p:txBody>
      </p:sp>
      <p:sp>
        <p:nvSpPr>
          <p:cNvPr id="2" name="">
            <a:extLst xmlns:a="http://schemas.openxmlformats.org/drawingml/2006/main">
              <a:ext uri="{FF2B5EF4-FFF2-40B4-BE49-F238E27FC236}">
                <a16:creationId xmlns:a16="http://schemas.microsoft.com/office/drawing/2014/main" id="{0B5FEAC1-7C11-4073-A75F-D0F3DEF11388}"/>
              </a:ext>
            </a:extLst>
          </p:cNvPr>
          <p:cNvSpPr>
            <a:spLocks xmlns:a="http://schemas.openxmlformats.org/drawingml/2006/main" noGrp="1"/>
          </p:cNvSpPr>
          <p:nvPr/>
        </p:nvSpPr>
        <p:spPr>
          <a:xfrm xmlns:a="http://schemas.openxmlformats.org/drawingml/2006/main">
            <a:off x="609600" y="809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22A3A"/>
                </a:solidFill>
                <a:latin typeface="Arial"/>
                <a:ea typeface="Arial"/>
                <a:cs typeface="Arial"/>
              </a:defRPr>
            </a:defPPr>
          </a:lstStyle>
          <a:p xmlns:a="http://schemas.openxmlformats.org/drawingml/2006/main">
            <a:pPr>
              <a:defRPr sz="3150" b="1">
                <a:solidFill>
                  <a:srgbClr val="122A3A"/>
                </a:solidFill>
                <a:latin typeface="Arial"/>
                <a:ea typeface="Arial"/>
                <a:cs typeface="Arial"/>
              </a:defRPr>
            </a:pPr>
            <a:r>
              <a:rPr sz="3150" b="1">
                <a:solidFill>
                  <a:srgbClr val="122A3A"/>
                </a:solidFill>
                <a:latin typeface="Arial"/>
                <a:ea typeface="Arial"/>
                <a:cs typeface="Arial"/>
              </a:rPr>
              <a:t>The prediction task and its inputs</a:t>
            </a:r>
          </a:p>
        </p:txBody>
      </p:sp>
      <p:sp>
        <p:nvSpPr>
          <p:cNvPr id="3" name="">
            <a:extLst xmlns:a="http://schemas.openxmlformats.org/drawingml/2006/main">
              <a:ext uri="{FF2B5EF4-FFF2-40B4-BE49-F238E27FC236}">
                <a16:creationId xmlns:a16="http://schemas.microsoft.com/office/drawing/2014/main" id="{6791B43E-F508-42CF-ACD0-64D8B3CA71A6}"/>
              </a:ext>
            </a:extLst>
          </p:cNvPr>
          <p:cNvSpPr>
            <a:spLocks xmlns:a="http://schemas.openxmlformats.org/drawingml/2006/main" noGrp="1"/>
          </p:cNvSpPr>
          <p:nvPr/>
        </p:nvSpPr>
        <p:spPr>
          <a:xfrm xmlns:a="http://schemas.openxmlformats.org/drawingml/2006/main">
            <a:off x="723900" y="1981200"/>
            <a:ext cx="1078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22A3A"/>
                </a:solidFill>
                <a:latin typeface="Arial"/>
                <a:ea typeface="Arial"/>
                <a:cs typeface="Arial"/>
              </a:defRPr>
            </a:defPPr>
          </a:lstStyle>
          <a:p xmlns:a="http://schemas.openxmlformats.org/drawingml/2006/main">
            <a:pPr>
              <a:defRPr sz="2250" b="0">
                <a:solidFill>
                  <a:srgbClr val="122A3A"/>
                </a:solidFill>
                <a:latin typeface="Arial"/>
                <a:ea typeface="Arial"/>
                <a:cs typeface="Arial"/>
              </a:defRPr>
            </a:pPr>
            <a:r>
              <a:rPr sz="2250" b="0">
                <a:solidFill>
                  <a:srgbClr val="122A3A"/>
                </a:solidFill>
                <a:latin typeface="Arial"/>
                <a:ea typeface="Arial"/>
                <a:cs typeface="Arial"/>
              </a:rPr>
              <a:t>8,800 opportunities and four connected CRM tables</a:t>
            </a:r>
          </a:p>
        </p:txBody>
      </p:sp>
      <p:sp>
        <p:nvSpPr>
          <p:cNvPr id="4" name="">
            <a:extLst xmlns:a="http://schemas.openxmlformats.org/drawingml/2006/main">
              <a:ext uri="{FF2B5EF4-FFF2-40B4-BE49-F238E27FC236}">
                <a16:creationId xmlns:a16="http://schemas.microsoft.com/office/drawing/2014/main" id="{996044F5-1BDD-4782-8E1F-C90F659BDDA4}"/>
              </a:ext>
            </a:extLst>
          </p:cNvPr>
          <p:cNvSpPr>
            <a:spLocks xmlns:a="http://schemas.openxmlformats.org/drawingml/2006/main" noGrp="1"/>
          </p:cNvSpPr>
          <p:nvPr/>
        </p:nvSpPr>
        <p:spPr>
          <a:xfrm xmlns:a="http://schemas.openxmlformats.org/drawingml/2006/main">
            <a:off x="723900" y="2886075"/>
            <a:ext cx="1078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22A3A"/>
                </a:solidFill>
                <a:latin typeface="Arial"/>
                <a:ea typeface="Arial"/>
                <a:cs typeface="Arial"/>
              </a:defRPr>
            </a:defPPr>
          </a:lstStyle>
          <a:p xmlns:a="http://schemas.openxmlformats.org/drawingml/2006/main">
            <a:pPr>
              <a:defRPr sz="2250" b="0">
                <a:solidFill>
                  <a:srgbClr val="122A3A"/>
                </a:solidFill>
                <a:latin typeface="Arial"/>
                <a:ea typeface="Arial"/>
                <a:cs typeface="Arial"/>
              </a:defRPr>
            </a:pPr>
            <a:r>
              <a:rPr sz="2250" b="0">
                <a:solidFill>
                  <a:srgbClr val="122A3A"/>
                </a:solidFill>
                <a:latin typeface="Arial"/>
                <a:ea typeface="Arial"/>
                <a:cs typeface="Arial"/>
              </a:rPr>
              <a:t>Opportunity, account, product and sales-team attributes</a:t>
            </a:r>
          </a:p>
        </p:txBody>
      </p:sp>
      <p:sp>
        <p:nvSpPr>
          <p:cNvPr id="5" name="">
            <a:extLst xmlns:a="http://schemas.openxmlformats.org/drawingml/2006/main">
              <a:ext uri="{FF2B5EF4-FFF2-40B4-BE49-F238E27FC236}">
                <a16:creationId xmlns:a16="http://schemas.microsoft.com/office/drawing/2014/main" id="{B62E588F-9133-41AB-8B54-757208BBF1C9}"/>
              </a:ext>
            </a:extLst>
          </p:cNvPr>
          <p:cNvSpPr>
            <a:spLocks xmlns:a="http://schemas.openxmlformats.org/drawingml/2006/main" noGrp="1"/>
          </p:cNvSpPr>
          <p:nvPr/>
        </p:nvSpPr>
        <p:spPr>
          <a:xfrm xmlns:a="http://schemas.openxmlformats.org/drawingml/2006/main">
            <a:off x="723900" y="3790950"/>
            <a:ext cx="1078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22A3A"/>
                </a:solidFill>
                <a:latin typeface="Arial"/>
                <a:ea typeface="Arial"/>
                <a:cs typeface="Arial"/>
              </a:defRPr>
            </a:defPPr>
          </a:lstStyle>
          <a:p xmlns:a="http://schemas.openxmlformats.org/drawingml/2006/main">
            <a:pPr>
              <a:defRPr sz="2250" b="0">
                <a:solidFill>
                  <a:srgbClr val="122A3A"/>
                </a:solidFill>
                <a:latin typeface="Arial"/>
                <a:ea typeface="Arial"/>
                <a:cs typeface="Arial"/>
              </a:defRPr>
            </a:pPr>
            <a:r>
              <a:rPr sz="2250" b="0">
                <a:solidFill>
                  <a:srgbClr val="122A3A"/>
                </a:solidFill>
                <a:latin typeface="Arial"/>
                <a:ea typeface="Arial"/>
                <a:cs typeface="Arial"/>
              </a:rPr>
              <a:t>Target: observed Won versus Lost among closed deals</a:t>
            </a:r>
          </a:p>
        </p:txBody>
      </p:sp>
      <p:sp>
        <p:nvSpPr>
          <p:cNvPr id="6" name="">
            <a:extLst xmlns:a="http://schemas.openxmlformats.org/drawingml/2006/main">
              <a:ext uri="{FF2B5EF4-FFF2-40B4-BE49-F238E27FC236}">
                <a16:creationId xmlns:a16="http://schemas.microsoft.com/office/drawing/2014/main" id="{685CA939-8907-41EC-B521-EDF074F8BC69}"/>
              </a:ext>
            </a:extLst>
          </p:cNvPr>
          <p:cNvSpPr>
            <a:spLocks xmlns:a="http://schemas.openxmlformats.org/drawingml/2006/main" noGrp="1"/>
          </p:cNvSpPr>
          <p:nvPr/>
        </p:nvSpPr>
        <p:spPr>
          <a:xfrm xmlns:a="http://schemas.openxmlformats.org/drawingml/2006/main">
            <a:off x="723900" y="4695825"/>
            <a:ext cx="1078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22A3A"/>
                </a:solidFill>
                <a:latin typeface="Arial"/>
                <a:ea typeface="Arial"/>
                <a:cs typeface="Arial"/>
              </a:defRPr>
            </a:defPPr>
          </a:lstStyle>
          <a:p xmlns:a="http://schemas.openxmlformats.org/drawingml/2006/main">
            <a:pPr>
              <a:defRPr sz="2250" b="0">
                <a:solidFill>
                  <a:srgbClr val="122A3A"/>
                </a:solidFill>
                <a:latin typeface="Arial"/>
                <a:ea typeface="Arial"/>
                <a:cs typeface="Arial"/>
              </a:defRPr>
            </a:pPr>
            <a:r>
              <a:rPr sz="2250" b="0">
                <a:solidFill>
                  <a:srgbClr val="122A3A"/>
                </a:solidFill>
                <a:latin typeface="Arial"/>
                <a:ea typeface="Arial"/>
                <a:cs typeface="Arial"/>
              </a:rPr>
              <a:t>Current close value, close date and stage stay out of predictors</a:t>
            </a:r>
          </a:p>
        </p:txBody>
      </p:sp>
      <p:sp>
        <p:nvSpPr>
          <p:cNvPr id="7" name="">
            <a:extLst xmlns:a="http://schemas.openxmlformats.org/drawingml/2006/main">
              <a:ext uri="{FF2B5EF4-FFF2-40B4-BE49-F238E27FC236}">
                <a16:creationId xmlns:a16="http://schemas.microsoft.com/office/drawing/2014/main" id="{D5C88282-231B-4EDA-AA8F-994845194FEE}"/>
              </a:ext>
            </a:extLst>
          </p:cNvPr>
          <p:cNvSpPr>
            <a:spLocks xmlns:a="http://schemas.openxmlformats.org/drawingml/2006/main" noGrp="1"/>
          </p:cNvSpPr>
          <p:nvPr/>
        </p:nvSpPr>
        <p:spPr>
          <a:xfrm xmlns:a="http://schemas.openxmlformats.org/drawingml/2006/main">
            <a:off x="609600" y="64389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506574"/>
                </a:solidFill>
                <a:latin typeface="Arial"/>
                <a:ea typeface="Arial"/>
                <a:cs typeface="Arial"/>
              </a:defRPr>
            </a:defPPr>
          </a:lstStyle>
          <a:p xmlns:a="http://schemas.openxmlformats.org/drawingml/2006/main">
            <a:pPr>
              <a:defRPr sz="1050" b="0">
                <a:solidFill>
                  <a:srgbClr val="506574"/>
                </a:solidFill>
                <a:latin typeface="Arial"/>
                <a:ea typeface="Arial"/>
                <a:cs typeface="Arial"/>
              </a:defRPr>
            </a:pPr>
            <a:r>
              <a:rPr sz="1050" b="0">
                <a:solidFill>
                  <a:srgbClr val="506574"/>
                </a:solidFill>
                <a:latin typeface="Arial"/>
                <a:ea typeface="Arial"/>
                <a:cs typeface="Arial"/>
              </a:rPr>
              <a:t>CS 582 Group 2   full   02/12</a:t>
            </a:r>
          </a:p>
        </p:txBody>
      </p:sp>
    </p:spTree>
    <p:extLst>
      <p:ext uri="{BB962C8B-B14F-4D97-AF65-F5344CB8AC3E}">
        <p14:creationId xmlns:p14="http://schemas.microsoft.com/office/powerpoint/2010/main" val="1032584407"/>
      </p:ext>
    </p:extLst>
  </p:cSld>
</p:sld>
</file>

<file path=ppt/slides/slide3.xml><?xml version="1.0" encoding="utf-8"?>
<p:sld xmlns:p="http://schemas.openxmlformats.org/presentationml/2006/main">
  <p:cSld>
    <p:bg>
      <p:bgPr>
        <a:solidFill xmlns:a="http://schemas.openxmlformats.org/drawingml/2006/main">
          <a:srgbClr val="F4F7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A5BC48A-1ABE-45AC-85AF-ACE68F1F4B44}"/>
              </a:ext>
            </a:extLst>
          </p:cNvPr>
          <p:cNvSpPr>
            <a:spLocks xmlns:a="http://schemas.openxmlformats.org/drawingml/2006/main" noGrp="1"/>
          </p:cNvSpPr>
          <p:nvPr/>
        </p:nvSpPr>
        <p:spPr>
          <a:xfrm xmlns:a="http://schemas.openxmlformats.org/drawingml/2006/main">
            <a:off x="609600" y="2857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1">
                <a:solidFill>
                  <a:srgbClr val="127D88"/>
                </a:solidFill>
                <a:latin typeface="Arial"/>
                <a:ea typeface="Arial"/>
                <a:cs typeface="Arial"/>
              </a:defRPr>
            </a:defPPr>
          </a:lstStyle>
          <a:p xmlns:a="http://schemas.openxmlformats.org/drawingml/2006/main">
            <a:pPr>
              <a:defRPr sz="1200" b="1">
                <a:solidFill>
                  <a:srgbClr val="127D88"/>
                </a:solidFill>
                <a:latin typeface="Arial"/>
                <a:ea typeface="Arial"/>
                <a:cs typeface="Arial"/>
              </a:defRPr>
            </a:pPr>
            <a:r>
              <a:rPr sz="1200" b="1">
                <a:solidFill>
                  <a:srgbClr val="127D88"/>
                </a:solidFill>
                <a:latin typeface="Arial"/>
                <a:ea typeface="Arial"/>
                <a:cs typeface="Arial"/>
              </a:rPr>
              <a:t>CS 582 / GROUP 2 / 03</a:t>
            </a:r>
          </a:p>
        </p:txBody>
      </p:sp>
      <p:sp>
        <p:nvSpPr>
          <p:cNvPr id="2" name="">
            <a:extLst xmlns:a="http://schemas.openxmlformats.org/drawingml/2006/main">
              <a:ext uri="{FF2B5EF4-FFF2-40B4-BE49-F238E27FC236}">
                <a16:creationId xmlns:a16="http://schemas.microsoft.com/office/drawing/2014/main" id="{F85CD579-1B7E-4656-B2DF-F143B852E540}"/>
              </a:ext>
            </a:extLst>
          </p:cNvPr>
          <p:cNvSpPr>
            <a:spLocks xmlns:a="http://schemas.openxmlformats.org/drawingml/2006/main" noGrp="1"/>
          </p:cNvSpPr>
          <p:nvPr/>
        </p:nvSpPr>
        <p:spPr>
          <a:xfrm xmlns:a="http://schemas.openxmlformats.org/drawingml/2006/main">
            <a:off x="609600" y="809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22A3A"/>
                </a:solidFill>
                <a:latin typeface="Arial"/>
                <a:ea typeface="Arial"/>
                <a:cs typeface="Arial"/>
              </a:defRPr>
            </a:defPPr>
          </a:lstStyle>
          <a:p xmlns:a="http://schemas.openxmlformats.org/drawingml/2006/main">
            <a:pPr>
              <a:defRPr sz="3150" b="1">
                <a:solidFill>
                  <a:srgbClr val="122A3A"/>
                </a:solidFill>
                <a:latin typeface="Arial"/>
                <a:ea typeface="Arial"/>
                <a:cs typeface="Arial"/>
              </a:defRPr>
            </a:pPr>
            <a:r>
              <a:rPr sz="3150" b="1">
                <a:solidFill>
                  <a:srgbClr val="122A3A"/>
                </a:solidFill>
                <a:latin typeface="Arial"/>
                <a:ea typeface="Arial"/>
                <a:cs typeface="Arial"/>
              </a:rPr>
              <a:t>A split that respects label availability</a:t>
            </a:r>
          </a:p>
        </p:txBody>
      </p:sp>
      <p:sp>
        <p:nvSpPr>
          <p:cNvPr id="3" name="">
            <a:extLst xmlns:a="http://schemas.openxmlformats.org/drawingml/2006/main">
              <a:ext uri="{FF2B5EF4-FFF2-40B4-BE49-F238E27FC236}">
                <a16:creationId xmlns:a16="http://schemas.microsoft.com/office/drawing/2014/main" id="{5976179F-5D35-4A90-A39C-99C35B1DF1FE}"/>
              </a:ext>
            </a:extLst>
          </p:cNvPr>
          <p:cNvSpPr>
            <a:spLocks xmlns:a="http://schemas.openxmlformats.org/drawingml/2006/main" noGrp="1"/>
          </p:cNvSpPr>
          <p:nvPr/>
        </p:nvSpPr>
        <p:spPr>
          <a:xfrm xmlns:a="http://schemas.openxmlformats.org/drawingml/2006/main">
            <a:off x="723900" y="1981200"/>
            <a:ext cx="1078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22A3A"/>
                </a:solidFill>
                <a:latin typeface="Arial"/>
                <a:ea typeface="Arial"/>
                <a:cs typeface="Arial"/>
              </a:defRPr>
            </a:defPPr>
          </a:lstStyle>
          <a:p xmlns:a="http://schemas.openxmlformats.org/drawingml/2006/main">
            <a:pPr>
              <a:defRPr sz="2250" b="0">
                <a:solidFill>
                  <a:srgbClr val="122A3A"/>
                </a:solidFill>
                <a:latin typeface="Arial"/>
                <a:ea typeface="Arial"/>
                <a:cs typeface="Arial"/>
              </a:defRPr>
            </a:pPr>
            <a:r>
              <a:rPr sz="2250" b="0">
                <a:solidFill>
                  <a:srgbClr val="122A3A"/>
                </a:solidFill>
                <a:latin typeface="Arial"/>
                <a:ea typeface="Arial"/>
                <a:cs typeface="Arial"/>
              </a:rPr>
              <a:t>Training 2,975    Validation 583    Test 1,361</a:t>
            </a:r>
          </a:p>
        </p:txBody>
      </p:sp>
      <p:sp>
        <p:nvSpPr>
          <p:cNvPr id="4" name="">
            <a:extLst xmlns:a="http://schemas.openxmlformats.org/drawingml/2006/main">
              <a:ext uri="{FF2B5EF4-FFF2-40B4-BE49-F238E27FC236}">
                <a16:creationId xmlns:a16="http://schemas.microsoft.com/office/drawing/2014/main" id="{F35ADBF1-0BE6-43AD-A559-C4590D75D7EC}"/>
              </a:ext>
            </a:extLst>
          </p:cNvPr>
          <p:cNvSpPr>
            <a:spLocks xmlns:a="http://schemas.openxmlformats.org/drawingml/2006/main" noGrp="1"/>
          </p:cNvSpPr>
          <p:nvPr/>
        </p:nvSpPr>
        <p:spPr>
          <a:xfrm xmlns:a="http://schemas.openxmlformats.org/drawingml/2006/main">
            <a:off x="723900" y="2886075"/>
            <a:ext cx="1078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22A3A"/>
                </a:solidFill>
                <a:latin typeface="Arial"/>
                <a:ea typeface="Arial"/>
                <a:cs typeface="Arial"/>
              </a:defRPr>
            </a:defPPr>
          </a:lstStyle>
          <a:p xmlns:a="http://schemas.openxmlformats.org/drawingml/2006/main">
            <a:pPr>
              <a:defRPr sz="2250" b="0">
                <a:solidFill>
                  <a:srgbClr val="122A3A"/>
                </a:solidFill>
                <a:latin typeface="Arial"/>
                <a:ea typeface="Arial"/>
                <a:cs typeface="Arial"/>
              </a:defRPr>
            </a:pPr>
            <a:r>
              <a:rPr sz="2250" b="0">
                <a:solidFill>
                  <a:srgbClr val="122A3A"/>
                </a:solidFill>
                <a:latin typeface="Arial"/>
                <a:ea typeface="Arial"/>
                <a:cs typeface="Arial"/>
              </a:rPr>
              <a:t>Validation starts 2017-07-15 and test starts 2017-09-18</a:t>
            </a:r>
          </a:p>
        </p:txBody>
      </p:sp>
      <p:sp>
        <p:nvSpPr>
          <p:cNvPr id="5" name="">
            <a:extLst xmlns:a="http://schemas.openxmlformats.org/drawingml/2006/main">
              <a:ext uri="{FF2B5EF4-FFF2-40B4-BE49-F238E27FC236}">
                <a16:creationId xmlns:a16="http://schemas.microsoft.com/office/drawing/2014/main" id="{148568F9-528C-47C7-99D0-3A022D5D1447}"/>
              </a:ext>
            </a:extLst>
          </p:cNvPr>
          <p:cNvSpPr>
            <a:spLocks xmlns:a="http://schemas.openxmlformats.org/drawingml/2006/main" noGrp="1"/>
          </p:cNvSpPr>
          <p:nvPr/>
        </p:nvSpPr>
        <p:spPr>
          <a:xfrm xmlns:a="http://schemas.openxmlformats.org/drawingml/2006/main">
            <a:off x="723900" y="3790950"/>
            <a:ext cx="1078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22A3A"/>
                </a:solidFill>
                <a:latin typeface="Arial"/>
                <a:ea typeface="Arial"/>
                <a:cs typeface="Arial"/>
              </a:defRPr>
            </a:defPPr>
          </a:lstStyle>
          <a:p xmlns:a="http://schemas.openxmlformats.org/drawingml/2006/main">
            <a:pPr>
              <a:defRPr sz="2250" b="0">
                <a:solidFill>
                  <a:srgbClr val="122A3A"/>
                </a:solidFill>
                <a:latin typeface="Arial"/>
                <a:ea typeface="Arial"/>
                <a:cs typeface="Arial"/>
              </a:defRPr>
            </a:pPr>
            <a:r>
              <a:rPr sz="2250" b="0">
                <a:solidFill>
                  <a:srgbClr val="122A3A"/>
                </a:solidFill>
                <a:latin typeface="Arial"/>
                <a:ea typeface="Arial"/>
                <a:cs typeface="Arial"/>
              </a:rPr>
              <a:t>1,792 late-closing records are excluded from earlier periods</a:t>
            </a:r>
          </a:p>
        </p:txBody>
      </p:sp>
      <p:sp>
        <p:nvSpPr>
          <p:cNvPr id="6" name="">
            <a:extLst xmlns:a="http://schemas.openxmlformats.org/drawingml/2006/main">
              <a:ext uri="{FF2B5EF4-FFF2-40B4-BE49-F238E27FC236}">
                <a16:creationId xmlns:a16="http://schemas.microsoft.com/office/drawing/2014/main" id="{321FB593-8C57-4BB0-B296-C1DF284BAF28}"/>
              </a:ext>
            </a:extLst>
          </p:cNvPr>
          <p:cNvSpPr>
            <a:spLocks xmlns:a="http://schemas.openxmlformats.org/drawingml/2006/main" noGrp="1"/>
          </p:cNvSpPr>
          <p:nvPr/>
        </p:nvSpPr>
        <p:spPr>
          <a:xfrm xmlns:a="http://schemas.openxmlformats.org/drawingml/2006/main">
            <a:off x="723900" y="4695825"/>
            <a:ext cx="1078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22A3A"/>
                </a:solidFill>
                <a:latin typeface="Arial"/>
                <a:ea typeface="Arial"/>
                <a:cs typeface="Arial"/>
              </a:defRPr>
            </a:defPPr>
          </a:lstStyle>
          <a:p xmlns:a="http://schemas.openxmlformats.org/drawingml/2006/main">
            <a:pPr>
              <a:defRPr sz="2250" b="0">
                <a:solidFill>
                  <a:srgbClr val="122A3A"/>
                </a:solidFill>
                <a:latin typeface="Arial"/>
                <a:ea typeface="Arial"/>
                <a:cs typeface="Arial"/>
              </a:defRPr>
            </a:pPr>
            <a:r>
              <a:rPr sz="2250" b="0">
                <a:solidFill>
                  <a:srgbClr val="122A3A"/>
                </a:solidFill>
                <a:latin typeface="Arial"/>
                <a:ea typeface="Arial"/>
                <a:cs typeface="Arial"/>
              </a:rPr>
              <a:t>Both feature experiments use exactly the same opportunity IDs</a:t>
            </a:r>
          </a:p>
        </p:txBody>
      </p:sp>
      <p:sp>
        <p:nvSpPr>
          <p:cNvPr id="7" name="">
            <a:extLst xmlns:a="http://schemas.openxmlformats.org/drawingml/2006/main">
              <a:ext uri="{FF2B5EF4-FFF2-40B4-BE49-F238E27FC236}">
                <a16:creationId xmlns:a16="http://schemas.microsoft.com/office/drawing/2014/main" id="{AFA046A2-1C13-47EA-8B6F-58FFAAD90CA1}"/>
              </a:ext>
            </a:extLst>
          </p:cNvPr>
          <p:cNvSpPr>
            <a:spLocks xmlns:a="http://schemas.openxmlformats.org/drawingml/2006/main" noGrp="1"/>
          </p:cNvSpPr>
          <p:nvPr/>
        </p:nvSpPr>
        <p:spPr>
          <a:xfrm xmlns:a="http://schemas.openxmlformats.org/drawingml/2006/main">
            <a:off x="609600" y="64389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506574"/>
                </a:solidFill>
                <a:latin typeface="Arial"/>
                <a:ea typeface="Arial"/>
                <a:cs typeface="Arial"/>
              </a:defRPr>
            </a:defPPr>
          </a:lstStyle>
          <a:p xmlns:a="http://schemas.openxmlformats.org/drawingml/2006/main">
            <a:pPr>
              <a:defRPr sz="1050" b="0">
                <a:solidFill>
                  <a:srgbClr val="506574"/>
                </a:solidFill>
                <a:latin typeface="Arial"/>
                <a:ea typeface="Arial"/>
                <a:cs typeface="Arial"/>
              </a:defRPr>
            </a:pPr>
            <a:r>
              <a:rPr sz="1050" b="0">
                <a:solidFill>
                  <a:srgbClr val="506574"/>
                </a:solidFill>
                <a:latin typeface="Arial"/>
                <a:ea typeface="Arial"/>
                <a:cs typeface="Arial"/>
              </a:rPr>
              <a:t>CS 582 Group 2   full   03/12</a:t>
            </a:r>
          </a:p>
        </p:txBody>
      </p:sp>
    </p:spTree>
    <p:extLst>
      <p:ext uri="{BB962C8B-B14F-4D97-AF65-F5344CB8AC3E}">
        <p14:creationId xmlns:p14="http://schemas.microsoft.com/office/powerpoint/2010/main" val="380498395"/>
      </p:ext>
    </p:extLst>
  </p:cSld>
</p:sld>
</file>

<file path=ppt/slides/slide4.xml><?xml version="1.0" encoding="utf-8"?>
<p:sld xmlns:p="http://schemas.openxmlformats.org/presentationml/2006/main">
  <p:cSld>
    <p:bg>
      <p:bgPr>
        <a:solidFill xmlns:a="http://schemas.openxmlformats.org/drawingml/2006/main">
          <a:srgbClr val="F4F7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6511982-EC7C-4D4B-A69F-DF83E433E547}"/>
              </a:ext>
            </a:extLst>
          </p:cNvPr>
          <p:cNvSpPr>
            <a:spLocks xmlns:a="http://schemas.openxmlformats.org/drawingml/2006/main" noGrp="1"/>
          </p:cNvSpPr>
          <p:nvPr/>
        </p:nvSpPr>
        <p:spPr>
          <a:xfrm xmlns:a="http://schemas.openxmlformats.org/drawingml/2006/main">
            <a:off x="609600" y="2857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1">
                <a:solidFill>
                  <a:srgbClr val="127D88"/>
                </a:solidFill>
                <a:latin typeface="Arial"/>
                <a:ea typeface="Arial"/>
                <a:cs typeface="Arial"/>
              </a:defRPr>
            </a:defPPr>
          </a:lstStyle>
          <a:p xmlns:a="http://schemas.openxmlformats.org/drawingml/2006/main">
            <a:pPr>
              <a:defRPr sz="1200" b="1">
                <a:solidFill>
                  <a:srgbClr val="127D88"/>
                </a:solidFill>
                <a:latin typeface="Arial"/>
                <a:ea typeface="Arial"/>
                <a:cs typeface="Arial"/>
              </a:defRPr>
            </a:pPr>
            <a:r>
              <a:rPr sz="1200" b="1">
                <a:solidFill>
                  <a:srgbClr val="127D88"/>
                </a:solidFill>
                <a:latin typeface="Arial"/>
                <a:ea typeface="Arial"/>
                <a:cs typeface="Arial"/>
              </a:rPr>
              <a:t>CS 582 / GROUP 2 / 04</a:t>
            </a:r>
          </a:p>
        </p:txBody>
      </p:sp>
      <p:sp>
        <p:nvSpPr>
          <p:cNvPr id="2" name="">
            <a:extLst xmlns:a="http://schemas.openxmlformats.org/drawingml/2006/main">
              <a:ext uri="{FF2B5EF4-FFF2-40B4-BE49-F238E27FC236}">
                <a16:creationId xmlns:a16="http://schemas.microsoft.com/office/drawing/2014/main" id="{D2FF17D5-313B-4C26-B9CE-4C3A49895F6D}"/>
              </a:ext>
            </a:extLst>
          </p:cNvPr>
          <p:cNvSpPr>
            <a:spLocks xmlns:a="http://schemas.openxmlformats.org/drawingml/2006/main" noGrp="1"/>
          </p:cNvSpPr>
          <p:nvPr/>
        </p:nvSpPr>
        <p:spPr>
          <a:xfrm xmlns:a="http://schemas.openxmlformats.org/drawingml/2006/main">
            <a:off x="609600" y="809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22A3A"/>
                </a:solidFill>
                <a:latin typeface="Arial"/>
                <a:ea typeface="Arial"/>
                <a:cs typeface="Arial"/>
              </a:defRPr>
            </a:defPPr>
          </a:lstStyle>
          <a:p xmlns:a="http://schemas.openxmlformats.org/drawingml/2006/main">
            <a:pPr>
              <a:defRPr sz="3150" b="1">
                <a:solidFill>
                  <a:srgbClr val="122A3A"/>
                </a:solidFill>
                <a:latin typeface="Arial"/>
                <a:ea typeface="Arial"/>
                <a:cs typeface="Arial"/>
              </a:defRPr>
            </a:pPr>
            <a:r>
              <a:rPr sz="3150" b="1">
                <a:solidFill>
                  <a:srgbClr val="122A3A"/>
                </a:solidFill>
                <a:latin typeface="Arial"/>
                <a:ea typeface="Arial"/>
                <a:cs typeface="Arial"/>
              </a:rPr>
              <a:t>Historical features without future outcomes</a:t>
            </a:r>
          </a:p>
        </p:txBody>
      </p:sp>
      <p:sp>
        <p:nvSpPr>
          <p:cNvPr id="3" name="">
            <a:extLst xmlns:a="http://schemas.openxmlformats.org/drawingml/2006/main">
              <a:ext uri="{FF2B5EF4-FFF2-40B4-BE49-F238E27FC236}">
                <a16:creationId xmlns:a16="http://schemas.microsoft.com/office/drawing/2014/main" id="{C928035A-1777-44DD-B6C2-9879CF6B6C8B}"/>
              </a:ext>
            </a:extLst>
          </p:cNvPr>
          <p:cNvSpPr>
            <a:spLocks xmlns:a="http://schemas.openxmlformats.org/drawingml/2006/main" noGrp="1"/>
          </p:cNvSpPr>
          <p:nvPr/>
        </p:nvSpPr>
        <p:spPr>
          <a:xfrm xmlns:a="http://schemas.openxmlformats.org/drawingml/2006/main">
            <a:off x="723900" y="1981200"/>
            <a:ext cx="1078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22A3A"/>
                </a:solidFill>
                <a:latin typeface="Arial"/>
                <a:ea typeface="Arial"/>
                <a:cs typeface="Arial"/>
              </a:defRPr>
            </a:defPPr>
          </a:lstStyle>
          <a:p xmlns:a="http://schemas.openxmlformats.org/drawingml/2006/main">
            <a:pPr>
              <a:defRPr sz="2250" b="0">
                <a:solidFill>
                  <a:srgbClr val="122A3A"/>
                </a:solidFill>
                <a:latin typeface="Arial"/>
                <a:ea typeface="Arial"/>
                <a:cs typeface="Arial"/>
              </a:defRPr>
            </a:pPr>
            <a:r>
              <a:rPr sz="2250" b="0">
                <a:solidFill>
                  <a:srgbClr val="122A3A"/>
                </a:solidFill>
                <a:latin typeface="Arial"/>
                <a:ea typeface="Arial"/>
                <a:cs typeface="Arial"/>
              </a:rPr>
              <a:t>Archive: training deals only, closed strictly before engagement</a:t>
            </a:r>
          </a:p>
        </p:txBody>
      </p:sp>
      <p:sp>
        <p:nvSpPr>
          <p:cNvPr id="4" name="">
            <a:extLst xmlns:a="http://schemas.openxmlformats.org/drawingml/2006/main">
              <a:ext uri="{FF2B5EF4-FFF2-40B4-BE49-F238E27FC236}">
                <a16:creationId xmlns:a16="http://schemas.microsoft.com/office/drawing/2014/main" id="{0232C370-99C3-4FA4-B93E-EF23F2AB0B0A}"/>
              </a:ext>
            </a:extLst>
          </p:cNvPr>
          <p:cNvSpPr>
            <a:spLocks xmlns:a="http://schemas.openxmlformats.org/drawingml/2006/main" noGrp="1"/>
          </p:cNvSpPr>
          <p:nvPr/>
        </p:nvSpPr>
        <p:spPr>
          <a:xfrm xmlns:a="http://schemas.openxmlformats.org/drawingml/2006/main">
            <a:off x="723900" y="2886075"/>
            <a:ext cx="1078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22A3A"/>
                </a:solidFill>
                <a:latin typeface="Arial"/>
                <a:ea typeface="Arial"/>
                <a:cs typeface="Arial"/>
              </a:defRPr>
            </a:defPPr>
          </a:lstStyle>
          <a:p xmlns:a="http://schemas.openxmlformats.org/drawingml/2006/main">
            <a:pPr>
              <a:defRPr sz="2250" b="0">
                <a:solidFill>
                  <a:srgbClr val="122A3A"/>
                </a:solidFill>
                <a:latin typeface="Arial"/>
                <a:ea typeface="Arial"/>
                <a:cs typeface="Arial"/>
              </a:defRPr>
            </a:pPr>
            <a:r>
              <a:rPr sz="2250" b="0">
                <a:solidFill>
                  <a:srgbClr val="122A3A"/>
                </a:solidFill>
                <a:latin typeface="Arial"/>
                <a:ea typeface="Arial"/>
                <a:cs typeface="Arial"/>
              </a:rPr>
              <a:t>Agent, account and product: counts, win rates, values and cycle days</a:t>
            </a:r>
          </a:p>
        </p:txBody>
      </p:sp>
      <p:sp>
        <p:nvSpPr>
          <p:cNvPr id="5" name="">
            <a:extLst xmlns:a="http://schemas.openxmlformats.org/drawingml/2006/main">
              <a:ext uri="{FF2B5EF4-FFF2-40B4-BE49-F238E27FC236}">
                <a16:creationId xmlns:a16="http://schemas.microsoft.com/office/drawing/2014/main" id="{1E3C1B02-5D01-491E-9716-22AB7CAE4868}"/>
              </a:ext>
            </a:extLst>
          </p:cNvPr>
          <p:cNvSpPr>
            <a:spLocks xmlns:a="http://schemas.openxmlformats.org/drawingml/2006/main" noGrp="1"/>
          </p:cNvSpPr>
          <p:nvPr/>
        </p:nvSpPr>
        <p:spPr>
          <a:xfrm xmlns:a="http://schemas.openxmlformats.org/drawingml/2006/main">
            <a:off x="723900" y="3790950"/>
            <a:ext cx="1078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22A3A"/>
                </a:solidFill>
                <a:latin typeface="Arial"/>
                <a:ea typeface="Arial"/>
                <a:cs typeface="Arial"/>
              </a:defRPr>
            </a:defPPr>
          </a:lstStyle>
          <a:p xmlns:a="http://schemas.openxmlformats.org/drawingml/2006/main">
            <a:pPr>
              <a:defRPr sz="2250" b="0">
                <a:solidFill>
                  <a:srgbClr val="122A3A"/>
                </a:solidFill>
                <a:latin typeface="Arial"/>
                <a:ea typeface="Arial"/>
                <a:cs typeface="Arial"/>
              </a:defRPr>
            </a:pPr>
            <a:r>
              <a:rPr sz="2250" b="0">
                <a:solidFill>
                  <a:srgbClr val="122A3A"/>
                </a:solidFill>
                <a:latin typeface="Arial"/>
                <a:ea typeface="Arial"/>
                <a:cs typeface="Arial"/>
              </a:rPr>
              <a:t>19 added features with explicit cold-start defaults</a:t>
            </a:r>
          </a:p>
        </p:txBody>
      </p:sp>
      <p:sp>
        <p:nvSpPr>
          <p:cNvPr id="6" name="">
            <a:extLst xmlns:a="http://schemas.openxmlformats.org/drawingml/2006/main">
              <a:ext uri="{FF2B5EF4-FFF2-40B4-BE49-F238E27FC236}">
                <a16:creationId xmlns:a16="http://schemas.microsoft.com/office/drawing/2014/main" id="{FB8E699F-0671-4C20-B8C2-0BD9428F151B}"/>
              </a:ext>
            </a:extLst>
          </p:cNvPr>
          <p:cNvSpPr>
            <a:spLocks xmlns:a="http://schemas.openxmlformats.org/drawingml/2006/main" noGrp="1"/>
          </p:cNvSpPr>
          <p:nvPr/>
        </p:nvSpPr>
        <p:spPr>
          <a:xfrm xmlns:a="http://schemas.openxmlformats.org/drawingml/2006/main">
            <a:off x="723900" y="4695825"/>
            <a:ext cx="1078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22A3A"/>
                </a:solidFill>
                <a:latin typeface="Arial"/>
                <a:ea typeface="Arial"/>
                <a:cs typeface="Arial"/>
              </a:defRPr>
            </a:defPPr>
          </a:lstStyle>
          <a:p xmlns:a="http://schemas.openxmlformats.org/drawingml/2006/main">
            <a:pPr>
              <a:defRPr sz="2250" b="0">
                <a:solidFill>
                  <a:srgbClr val="122A3A"/>
                </a:solidFill>
                <a:latin typeface="Arial"/>
                <a:ea typeface="Arial"/>
                <a:cs typeface="Arial"/>
              </a:defRPr>
            </a:pPr>
            <a:r>
              <a:rPr sz="2250" b="0">
                <a:solidFill>
                  <a:srgbClr val="122A3A"/>
                </a:solidFill>
                <a:latin typeface="Arial"/>
                <a:ea typeface="Arial"/>
                <a:cs typeface="Arial"/>
              </a:rPr>
              <a:t>Every row records the latest eligible closure and archive size</a:t>
            </a:r>
          </a:p>
        </p:txBody>
      </p:sp>
      <p:sp>
        <p:nvSpPr>
          <p:cNvPr id="7" name="">
            <a:extLst xmlns:a="http://schemas.openxmlformats.org/drawingml/2006/main">
              <a:ext uri="{FF2B5EF4-FFF2-40B4-BE49-F238E27FC236}">
                <a16:creationId xmlns:a16="http://schemas.microsoft.com/office/drawing/2014/main" id="{BA2134B4-BA91-4133-89A5-108D796F7312}"/>
              </a:ext>
            </a:extLst>
          </p:cNvPr>
          <p:cNvSpPr>
            <a:spLocks xmlns:a="http://schemas.openxmlformats.org/drawingml/2006/main" noGrp="1"/>
          </p:cNvSpPr>
          <p:nvPr/>
        </p:nvSpPr>
        <p:spPr>
          <a:xfrm xmlns:a="http://schemas.openxmlformats.org/drawingml/2006/main">
            <a:off x="609600" y="64389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506574"/>
                </a:solidFill>
                <a:latin typeface="Arial"/>
                <a:ea typeface="Arial"/>
                <a:cs typeface="Arial"/>
              </a:defRPr>
            </a:defPPr>
          </a:lstStyle>
          <a:p xmlns:a="http://schemas.openxmlformats.org/drawingml/2006/main">
            <a:pPr>
              <a:defRPr sz="1050" b="0">
                <a:solidFill>
                  <a:srgbClr val="506574"/>
                </a:solidFill>
                <a:latin typeface="Arial"/>
                <a:ea typeface="Arial"/>
                <a:cs typeface="Arial"/>
              </a:defRPr>
            </a:pPr>
            <a:r>
              <a:rPr sz="1050" b="0">
                <a:solidFill>
                  <a:srgbClr val="506574"/>
                </a:solidFill>
                <a:latin typeface="Arial"/>
                <a:ea typeface="Arial"/>
                <a:cs typeface="Arial"/>
              </a:rPr>
              <a:t>CS 582 Group 2   full   04/12</a:t>
            </a:r>
          </a:p>
        </p:txBody>
      </p:sp>
    </p:spTree>
    <p:extLst>
      <p:ext uri="{BB962C8B-B14F-4D97-AF65-F5344CB8AC3E}">
        <p14:creationId xmlns:p14="http://schemas.microsoft.com/office/powerpoint/2010/main" val="1078428374"/>
      </p:ext>
    </p:extLst>
  </p:cSld>
</p:sld>
</file>

<file path=ppt/slides/slide5.xml><?xml version="1.0" encoding="utf-8"?>
<p:sld xmlns:p="http://schemas.openxmlformats.org/presentationml/2006/main">
  <p:cSld>
    <p:bg>
      <p:bgPr>
        <a:solidFill xmlns:a="http://schemas.openxmlformats.org/drawingml/2006/main">
          <a:srgbClr val="F4F7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34B9261-2AF1-4F59-8F13-E4D5FE8D891D}"/>
              </a:ext>
            </a:extLst>
          </p:cNvPr>
          <p:cNvSpPr>
            <a:spLocks xmlns:a="http://schemas.openxmlformats.org/drawingml/2006/main" noGrp="1"/>
          </p:cNvSpPr>
          <p:nvPr/>
        </p:nvSpPr>
        <p:spPr>
          <a:xfrm xmlns:a="http://schemas.openxmlformats.org/drawingml/2006/main">
            <a:off x="609600" y="2857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1">
                <a:solidFill>
                  <a:srgbClr val="127D88"/>
                </a:solidFill>
                <a:latin typeface="Arial"/>
                <a:ea typeface="Arial"/>
                <a:cs typeface="Arial"/>
              </a:defRPr>
            </a:defPPr>
          </a:lstStyle>
          <a:p xmlns:a="http://schemas.openxmlformats.org/drawingml/2006/main">
            <a:pPr>
              <a:defRPr sz="1200" b="1">
                <a:solidFill>
                  <a:srgbClr val="127D88"/>
                </a:solidFill>
                <a:latin typeface="Arial"/>
                <a:ea typeface="Arial"/>
                <a:cs typeface="Arial"/>
              </a:defRPr>
            </a:pPr>
            <a:r>
              <a:rPr sz="1200" b="1">
                <a:solidFill>
                  <a:srgbClr val="127D88"/>
                </a:solidFill>
                <a:latin typeface="Arial"/>
                <a:ea typeface="Arial"/>
                <a:cs typeface="Arial"/>
              </a:rPr>
              <a:t>CS 582 / GROUP 2 / 05</a:t>
            </a:r>
          </a:p>
        </p:txBody>
      </p:sp>
      <p:sp>
        <p:nvSpPr>
          <p:cNvPr id="2" name="">
            <a:extLst xmlns:a="http://schemas.openxmlformats.org/drawingml/2006/main">
              <a:ext uri="{FF2B5EF4-FFF2-40B4-BE49-F238E27FC236}">
                <a16:creationId xmlns:a16="http://schemas.microsoft.com/office/drawing/2014/main" id="{01B7E5C6-8C72-4FF1-935F-A01696580757}"/>
              </a:ext>
            </a:extLst>
          </p:cNvPr>
          <p:cNvSpPr>
            <a:spLocks xmlns:a="http://schemas.openxmlformats.org/drawingml/2006/main" noGrp="1"/>
          </p:cNvSpPr>
          <p:nvPr/>
        </p:nvSpPr>
        <p:spPr>
          <a:xfrm xmlns:a="http://schemas.openxmlformats.org/drawingml/2006/main">
            <a:off x="609600" y="809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22A3A"/>
                </a:solidFill>
                <a:latin typeface="Arial"/>
                <a:ea typeface="Arial"/>
                <a:cs typeface="Arial"/>
              </a:defRPr>
            </a:defPPr>
          </a:lstStyle>
          <a:p xmlns:a="http://schemas.openxmlformats.org/drawingml/2006/main">
            <a:pPr>
              <a:defRPr sz="3150" b="1">
                <a:solidFill>
                  <a:srgbClr val="122A3A"/>
                </a:solidFill>
                <a:latin typeface="Arial"/>
                <a:ea typeface="Arial"/>
                <a:cs typeface="Arial"/>
              </a:defRPr>
            </a:pPr>
            <a:r>
              <a:rPr sz="3150" b="1">
                <a:solidFill>
                  <a:srgbClr val="122A3A"/>
                </a:solidFill>
                <a:latin typeface="Arial"/>
                <a:ea typeface="Arial"/>
                <a:cs typeface="Arial"/>
              </a:rPr>
              <a:t>A controlled model comparison</a:t>
            </a:r>
          </a:p>
        </p:txBody>
      </p:sp>
      <p:sp>
        <p:nvSpPr>
          <p:cNvPr id="3" name="">
            <a:extLst xmlns:a="http://schemas.openxmlformats.org/drawingml/2006/main">
              <a:ext uri="{FF2B5EF4-FFF2-40B4-BE49-F238E27FC236}">
                <a16:creationId xmlns:a16="http://schemas.microsoft.com/office/drawing/2014/main" id="{134912A6-6EC9-4D6E-A7EF-DA4D13E11D35}"/>
              </a:ext>
            </a:extLst>
          </p:cNvPr>
          <p:cNvSpPr>
            <a:spLocks xmlns:a="http://schemas.openxmlformats.org/drawingml/2006/main" noGrp="1"/>
          </p:cNvSpPr>
          <p:nvPr/>
        </p:nvSpPr>
        <p:spPr>
          <a:xfrm xmlns:a="http://schemas.openxmlformats.org/drawingml/2006/main">
            <a:off x="723900" y="1981200"/>
            <a:ext cx="1078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22A3A"/>
                </a:solidFill>
                <a:latin typeface="Arial"/>
                <a:ea typeface="Arial"/>
                <a:cs typeface="Arial"/>
              </a:defRPr>
            </a:defPPr>
          </a:lstStyle>
          <a:p xmlns:a="http://schemas.openxmlformats.org/drawingml/2006/main">
            <a:pPr>
              <a:defRPr sz="2250" b="0">
                <a:solidFill>
                  <a:srgbClr val="122A3A"/>
                </a:solidFill>
                <a:latin typeface="Arial"/>
                <a:ea typeface="Arial"/>
                <a:cs typeface="Arial"/>
              </a:defRPr>
            </a:pPr>
            <a:r>
              <a:rPr sz="2250" b="0">
                <a:solidFill>
                  <a:srgbClr val="122A3A"/>
                </a:solidFill>
                <a:latin typeface="Arial"/>
                <a:ea typeface="Arial"/>
                <a:cs typeface="Arial"/>
              </a:rPr>
              <a:t>A: 18 raw attributes    B: the same attributes plus 19 histories</a:t>
            </a:r>
          </a:p>
        </p:txBody>
      </p:sp>
      <p:sp>
        <p:nvSpPr>
          <p:cNvPr id="4" name="">
            <a:extLst xmlns:a="http://schemas.openxmlformats.org/drawingml/2006/main">
              <a:ext uri="{FF2B5EF4-FFF2-40B4-BE49-F238E27FC236}">
                <a16:creationId xmlns:a16="http://schemas.microsoft.com/office/drawing/2014/main" id="{18A91303-E873-41E5-A6D9-547D79CE62CC}"/>
              </a:ext>
            </a:extLst>
          </p:cNvPr>
          <p:cNvSpPr>
            <a:spLocks xmlns:a="http://schemas.openxmlformats.org/drawingml/2006/main" noGrp="1"/>
          </p:cNvSpPr>
          <p:nvPr/>
        </p:nvSpPr>
        <p:spPr>
          <a:xfrm xmlns:a="http://schemas.openxmlformats.org/drawingml/2006/main">
            <a:off x="723900" y="2886075"/>
            <a:ext cx="1078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22A3A"/>
                </a:solidFill>
                <a:latin typeface="Arial"/>
                <a:ea typeface="Arial"/>
                <a:cs typeface="Arial"/>
              </a:defRPr>
            </a:defPPr>
          </a:lstStyle>
          <a:p xmlns:a="http://schemas.openxmlformats.org/drawingml/2006/main">
            <a:pPr>
              <a:defRPr sz="2250" b="0">
                <a:solidFill>
                  <a:srgbClr val="122A3A"/>
                </a:solidFill>
                <a:latin typeface="Arial"/>
                <a:ea typeface="Arial"/>
                <a:cs typeface="Arial"/>
              </a:defRPr>
            </a:pPr>
            <a:r>
              <a:rPr sz="2250" b="0">
                <a:solidFill>
                  <a:srgbClr val="122A3A"/>
                </a:solidFill>
                <a:latin typeface="Arial"/>
                <a:ea typeface="Arial"/>
                <a:cs typeface="Arial"/>
              </a:rPr>
              <a:t>Dummy, Logistic Regression, Random Forest, MLP, TabNet and CatBoost</a:t>
            </a:r>
          </a:p>
        </p:txBody>
      </p:sp>
      <p:sp>
        <p:nvSpPr>
          <p:cNvPr id="5" name="">
            <a:extLst xmlns:a="http://schemas.openxmlformats.org/drawingml/2006/main">
              <a:ext uri="{FF2B5EF4-FFF2-40B4-BE49-F238E27FC236}">
                <a16:creationId xmlns:a16="http://schemas.microsoft.com/office/drawing/2014/main" id="{DCC9C80E-DB9E-4D67-B09A-B0B5B9111297}"/>
              </a:ext>
            </a:extLst>
          </p:cNvPr>
          <p:cNvSpPr>
            <a:spLocks xmlns:a="http://schemas.openxmlformats.org/drawingml/2006/main" noGrp="1"/>
          </p:cNvSpPr>
          <p:nvPr/>
        </p:nvSpPr>
        <p:spPr>
          <a:xfrm xmlns:a="http://schemas.openxmlformats.org/drawingml/2006/main">
            <a:off x="723900" y="3790950"/>
            <a:ext cx="1078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22A3A"/>
                </a:solidFill>
                <a:latin typeface="Arial"/>
                <a:ea typeface="Arial"/>
                <a:cs typeface="Arial"/>
              </a:defRPr>
            </a:defPPr>
          </a:lstStyle>
          <a:p xmlns:a="http://schemas.openxmlformats.org/drawingml/2006/main">
            <a:pPr>
              <a:defRPr sz="2250" b="0">
                <a:solidFill>
                  <a:srgbClr val="122A3A"/>
                </a:solidFill>
                <a:latin typeface="Arial"/>
                <a:ea typeface="Arial"/>
                <a:cs typeface="Arial"/>
              </a:defRPr>
            </a:pPr>
            <a:r>
              <a:rPr sz="2250" b="0">
                <a:solidFill>
                  <a:srgbClr val="122A3A"/>
                </a:solidFill>
                <a:latin typeface="Arial"/>
                <a:ea typeface="Arial"/>
                <a:cs typeface="Arial"/>
              </a:rPr>
              <a:t>Validation selects models, epochs, thresholds and calibration</a:t>
            </a:r>
          </a:p>
        </p:txBody>
      </p:sp>
      <p:sp>
        <p:nvSpPr>
          <p:cNvPr id="6" name="">
            <a:extLst xmlns:a="http://schemas.openxmlformats.org/drawingml/2006/main">
              <a:ext uri="{FF2B5EF4-FFF2-40B4-BE49-F238E27FC236}">
                <a16:creationId xmlns:a16="http://schemas.microsoft.com/office/drawing/2014/main" id="{AB209CFE-08B6-4AC7-9A57-25ACE4A0B2C1}"/>
              </a:ext>
            </a:extLst>
          </p:cNvPr>
          <p:cNvSpPr>
            <a:spLocks xmlns:a="http://schemas.openxmlformats.org/drawingml/2006/main" noGrp="1"/>
          </p:cNvSpPr>
          <p:nvPr/>
        </p:nvSpPr>
        <p:spPr>
          <a:xfrm xmlns:a="http://schemas.openxmlformats.org/drawingml/2006/main">
            <a:off x="723900" y="4695825"/>
            <a:ext cx="1078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22A3A"/>
                </a:solidFill>
                <a:latin typeface="Arial"/>
                <a:ea typeface="Arial"/>
                <a:cs typeface="Arial"/>
              </a:defRPr>
            </a:defPPr>
          </a:lstStyle>
          <a:p xmlns:a="http://schemas.openxmlformats.org/drawingml/2006/main">
            <a:pPr>
              <a:defRPr sz="2250" b="0">
                <a:solidFill>
                  <a:srgbClr val="122A3A"/>
                </a:solidFill>
                <a:latin typeface="Arial"/>
                <a:ea typeface="Arial"/>
                <a:cs typeface="Arial"/>
              </a:defRPr>
            </a:pPr>
            <a:r>
              <a:rPr sz="2250" b="0">
                <a:solidFill>
                  <a:srgbClr val="122A3A"/>
                </a:solidFill>
                <a:latin typeface="Arial"/>
                <a:ea typeface="Arial"/>
                <a:cs typeface="Arial"/>
              </a:rPr>
              <a:t>All choices lock before either experiment evaluates test performance</a:t>
            </a:r>
          </a:p>
        </p:txBody>
      </p:sp>
      <p:sp>
        <p:nvSpPr>
          <p:cNvPr id="7" name="">
            <a:extLst xmlns:a="http://schemas.openxmlformats.org/drawingml/2006/main">
              <a:ext uri="{FF2B5EF4-FFF2-40B4-BE49-F238E27FC236}">
                <a16:creationId xmlns:a16="http://schemas.microsoft.com/office/drawing/2014/main" id="{CF6177D2-BE0E-43E8-BADC-F666D9C95DDC}"/>
              </a:ext>
            </a:extLst>
          </p:cNvPr>
          <p:cNvSpPr>
            <a:spLocks xmlns:a="http://schemas.openxmlformats.org/drawingml/2006/main" noGrp="1"/>
          </p:cNvSpPr>
          <p:nvPr/>
        </p:nvSpPr>
        <p:spPr>
          <a:xfrm xmlns:a="http://schemas.openxmlformats.org/drawingml/2006/main">
            <a:off x="609600" y="64389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506574"/>
                </a:solidFill>
                <a:latin typeface="Arial"/>
                <a:ea typeface="Arial"/>
                <a:cs typeface="Arial"/>
              </a:defRPr>
            </a:defPPr>
          </a:lstStyle>
          <a:p xmlns:a="http://schemas.openxmlformats.org/drawingml/2006/main">
            <a:pPr>
              <a:defRPr sz="1050" b="0">
                <a:solidFill>
                  <a:srgbClr val="506574"/>
                </a:solidFill>
                <a:latin typeface="Arial"/>
                <a:ea typeface="Arial"/>
                <a:cs typeface="Arial"/>
              </a:defRPr>
            </a:pPr>
            <a:r>
              <a:rPr sz="1050" b="0">
                <a:solidFill>
                  <a:srgbClr val="506574"/>
                </a:solidFill>
                <a:latin typeface="Arial"/>
                <a:ea typeface="Arial"/>
                <a:cs typeface="Arial"/>
              </a:rPr>
              <a:t>CS 582 Group 2   full   05/12</a:t>
            </a:r>
          </a:p>
        </p:txBody>
      </p:sp>
    </p:spTree>
    <p:extLst>
      <p:ext uri="{BB962C8B-B14F-4D97-AF65-F5344CB8AC3E}">
        <p14:creationId xmlns:p14="http://schemas.microsoft.com/office/powerpoint/2010/main" val="1394421771"/>
      </p:ext>
    </p:extLst>
  </p:cSld>
</p:sld>
</file>

<file path=ppt/slides/slide6.xml><?xml version="1.0" encoding="utf-8"?>
<p:sld xmlns:p="http://schemas.openxmlformats.org/presentationml/2006/main">
  <p:cSld>
    <p:bg>
      <p:bgPr>
        <a:solidFill xmlns:a="http://schemas.openxmlformats.org/drawingml/2006/main">
          <a:srgbClr val="F4F7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1AF9876-A941-437C-98FC-DF9AEDFBCBF4}"/>
              </a:ext>
            </a:extLst>
          </p:cNvPr>
          <p:cNvSpPr>
            <a:spLocks xmlns:a="http://schemas.openxmlformats.org/drawingml/2006/main" noGrp="1"/>
          </p:cNvSpPr>
          <p:nvPr/>
        </p:nvSpPr>
        <p:spPr>
          <a:xfrm xmlns:a="http://schemas.openxmlformats.org/drawingml/2006/main">
            <a:off x="609600" y="2857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1">
                <a:solidFill>
                  <a:srgbClr val="127D88"/>
                </a:solidFill>
                <a:latin typeface="Arial"/>
                <a:ea typeface="Arial"/>
                <a:cs typeface="Arial"/>
              </a:defRPr>
            </a:defPPr>
          </a:lstStyle>
          <a:p xmlns:a="http://schemas.openxmlformats.org/drawingml/2006/main">
            <a:pPr>
              <a:defRPr sz="1200" b="1">
                <a:solidFill>
                  <a:srgbClr val="127D88"/>
                </a:solidFill>
                <a:latin typeface="Arial"/>
                <a:ea typeface="Arial"/>
                <a:cs typeface="Arial"/>
              </a:defRPr>
            </a:pPr>
            <a:r>
              <a:rPr sz="1200" b="1">
                <a:solidFill>
                  <a:srgbClr val="127D88"/>
                </a:solidFill>
                <a:latin typeface="Arial"/>
                <a:ea typeface="Arial"/>
                <a:cs typeface="Arial"/>
              </a:rPr>
              <a:t>CS 582 / GROUP 2 / 06</a:t>
            </a:r>
          </a:p>
        </p:txBody>
      </p:sp>
      <p:sp>
        <p:nvSpPr>
          <p:cNvPr id="2" name="">
            <a:extLst xmlns:a="http://schemas.openxmlformats.org/drawingml/2006/main">
              <a:ext uri="{FF2B5EF4-FFF2-40B4-BE49-F238E27FC236}">
                <a16:creationId xmlns:a16="http://schemas.microsoft.com/office/drawing/2014/main" id="{2540F038-6949-4B7B-A3E7-E3EDD6B0FC2B}"/>
              </a:ext>
            </a:extLst>
          </p:cNvPr>
          <p:cNvSpPr>
            <a:spLocks xmlns:a="http://schemas.openxmlformats.org/drawingml/2006/main" noGrp="1"/>
          </p:cNvSpPr>
          <p:nvPr/>
        </p:nvSpPr>
        <p:spPr>
          <a:xfrm xmlns:a="http://schemas.openxmlformats.org/drawingml/2006/main">
            <a:off x="609600" y="809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22A3A"/>
                </a:solidFill>
                <a:latin typeface="Arial"/>
                <a:ea typeface="Arial"/>
                <a:cs typeface="Arial"/>
              </a:defRPr>
            </a:defPPr>
          </a:lstStyle>
          <a:p xmlns:a="http://schemas.openxmlformats.org/drawingml/2006/main">
            <a:pPr>
              <a:defRPr sz="3150" b="1">
                <a:solidFill>
                  <a:srgbClr val="122A3A"/>
                </a:solidFill>
                <a:latin typeface="Arial"/>
                <a:ea typeface="Arial"/>
                <a:cs typeface="Arial"/>
              </a:defRPr>
            </a:pPr>
            <a:r>
              <a:rPr sz="3150" b="1">
                <a:solidFill>
                  <a:srgbClr val="122A3A"/>
                </a:solidFill>
                <a:latin typeface="Arial"/>
                <a:ea typeface="Arial"/>
                <a:cs typeface="Arial"/>
              </a:rPr>
              <a:t>The measured effect of historical features</a:t>
            </a:r>
          </a:p>
        </p:txBody>
      </p:sp>
      <p:graphicFrame>
        <p:nvGraphicFramePr>
          <p:cNvPr id="3" name="">
            <a:extLst xmlns:a="http://schemas.openxmlformats.org/drawingml/2006/main">
              <a:ext uri="{FF2B5EF4-FFF2-40B4-BE49-F238E27FC236}">
                <a16:creationId xmlns:a16="http://schemas.microsoft.com/office/drawing/2014/main" id="{D4B49E77-9069-4963-B477-54A4BFA6EE2F}"/>
              </a:ext>
            </a:extLst>
          </p:cNvPr>
          <p:cNvGraphicFramePr/>
          <p:nvPr/>
        </p:nvGraphicFramePr>
        <p:xfrm>
          <a:off xmlns:a="http://schemas.openxmlformats.org/drawingml/2006/main" x="609600" y="1952625"/>
          <a:ext xmlns:a="http://schemas.openxmlformats.org/drawingml/2006/main" cx="10972800" cy="3067050"/>
        </p:xfrm>
        <a:graphic xmlns:a="http://schemas.openxmlformats.org/drawingml/2006/main">
          <a:graphicData uri="http://schemas.openxmlformats.org/drawingml/2006/table">
            <a:tbl>
              <a:tblPr/>
              <a:tblGrid>
                <a:gridCol w="4000500"/>
                <a:gridCol w="2305050"/>
                <a:gridCol w="2305050"/>
                <a:gridCol w="2362200"/>
              </a:tblGrid>
              <a:tr h="438150">
                <a:tc>
                  <a:txBody>
                    <a:bodyPr/>
                    <a:lstStyle/>
                    <a:p>
                      <a:r>
                        <a:rPr sz="1800" b="1">
                          <a:solidFill>
                            <a:srgbClr val="FFFFFF"/>
                          </a:solidFill>
                          <a:latin typeface="Arial"/>
                          <a:ea typeface="Arial"/>
                          <a:cs typeface="Arial"/>
                        </a:rPr>
                        <a:t>Model</a:t>
                      </a:r>
                    </a:p>
                  </a:txBody>
                  <a:tcPr marL="91440" marR="91440" marT="45720" marB="45720">
                    <a:solidFill>
                      <a:srgbClr val="127D88"/>
                    </a:solidFill>
                  </a:tcPr>
                </a:tc>
                <a:tc>
                  <a:txBody>
                    <a:bodyPr/>
                    <a:lstStyle/>
                    <a:p>
                      <a:r>
                        <a:rPr sz="1800" b="1">
                          <a:solidFill>
                            <a:srgbClr val="FFFFFF"/>
                          </a:solidFill>
                          <a:latin typeface="Arial"/>
                          <a:ea typeface="Arial"/>
                          <a:cs typeface="Arial"/>
                        </a:rPr>
                        <a:t>A raw AUC</a:t>
                      </a:r>
                    </a:p>
                  </a:txBody>
                  <a:tcPr marL="91440" marR="91440" marT="45720" marB="45720">
                    <a:solidFill>
                      <a:srgbClr val="127D88"/>
                    </a:solidFill>
                  </a:tcPr>
                </a:tc>
                <a:tc>
                  <a:txBody>
                    <a:bodyPr/>
                    <a:lstStyle/>
                    <a:p>
                      <a:r>
                        <a:rPr sz="1800" b="1">
                          <a:solidFill>
                            <a:srgbClr val="FFFFFF"/>
                          </a:solidFill>
                          <a:latin typeface="Arial"/>
                          <a:ea typeface="Arial"/>
                          <a:cs typeface="Arial"/>
                        </a:rPr>
                        <a:t>B history AUC</a:t>
                      </a:r>
                    </a:p>
                  </a:txBody>
                  <a:tcPr marL="91440" marR="91440" marT="45720" marB="45720">
                    <a:solidFill>
                      <a:srgbClr val="127D88"/>
                    </a:solidFill>
                  </a:tcPr>
                </a:tc>
                <a:tc>
                  <a:txBody>
                    <a:bodyPr/>
                    <a:lstStyle/>
                    <a:p>
                      <a:r>
                        <a:rPr sz="1800" b="1">
                          <a:solidFill>
                            <a:srgbClr val="FFFFFF"/>
                          </a:solidFill>
                          <a:latin typeface="Arial"/>
                          <a:ea typeface="Arial"/>
                          <a:cs typeface="Arial"/>
                        </a:rPr>
                        <a:t>B minus A</a:t>
                      </a:r>
                    </a:p>
                  </a:txBody>
                  <a:tcPr marL="91440" marR="91440" marT="45720" marB="45720">
                    <a:solidFill>
                      <a:srgbClr val="127D88"/>
                    </a:solidFill>
                  </a:tcPr>
                </a:tc>
              </a:tr>
              <a:tr h="438150">
                <a:tc>
                  <a:txBody>
                    <a:bodyPr/>
                    <a:lstStyle/>
                    <a:p>
                      <a:r>
                        <a:rPr sz="1800" b="0">
                          <a:solidFill>
                            <a:srgbClr val="122A3A"/>
                          </a:solidFill>
                          <a:latin typeface="Arial"/>
                          <a:ea typeface="Arial"/>
                          <a:cs typeface="Arial"/>
                        </a:rPr>
                        <a:t>Dummy prior</a:t>
                      </a:r>
                    </a:p>
                  </a:txBody>
                  <a:tcPr marL="91440" marR="91440" marT="45720" marB="45720">
                    <a:solidFill>
                      <a:srgbClr val="E4EEF0"/>
                    </a:solidFill>
                  </a:tcPr>
                </a:tc>
                <a:tc>
                  <a:txBody>
                    <a:bodyPr/>
                    <a:lstStyle/>
                    <a:p>
                      <a:r>
                        <a:rPr sz="1800" b="0">
                          <a:solidFill>
                            <a:srgbClr val="122A3A"/>
                          </a:solidFill>
                          <a:latin typeface="Arial"/>
                          <a:ea typeface="Arial"/>
                          <a:cs typeface="Arial"/>
                        </a:rPr>
                        <a:t>0.5000</a:t>
                      </a:r>
                    </a:p>
                  </a:txBody>
                  <a:tcPr marL="91440" marR="91440" marT="45720" marB="45720">
                    <a:solidFill>
                      <a:srgbClr val="E4EEF0"/>
                    </a:solidFill>
                  </a:tcPr>
                </a:tc>
                <a:tc>
                  <a:txBody>
                    <a:bodyPr/>
                    <a:lstStyle/>
                    <a:p>
                      <a:r>
                        <a:rPr sz="1800" b="0">
                          <a:solidFill>
                            <a:srgbClr val="122A3A"/>
                          </a:solidFill>
                          <a:latin typeface="Arial"/>
                          <a:ea typeface="Arial"/>
                          <a:cs typeface="Arial"/>
                        </a:rPr>
                        <a:t>0.5000</a:t>
                      </a:r>
                    </a:p>
                  </a:txBody>
                  <a:tcPr marL="91440" marR="91440" marT="45720" marB="45720">
                    <a:solidFill>
                      <a:srgbClr val="E4EEF0"/>
                    </a:solidFill>
                  </a:tcPr>
                </a:tc>
                <a:tc>
                  <a:txBody>
                    <a:bodyPr/>
                    <a:lstStyle/>
                    <a:p>
                      <a:r>
                        <a:rPr sz="1800" b="0">
                          <a:solidFill>
                            <a:srgbClr val="122A3A"/>
                          </a:solidFill>
                          <a:latin typeface="Arial"/>
                          <a:ea typeface="Arial"/>
                          <a:cs typeface="Arial"/>
                        </a:rPr>
                        <a:t>+0.0000</a:t>
                      </a:r>
                    </a:p>
                  </a:txBody>
                  <a:tcPr marL="91440" marR="91440" marT="45720" marB="45720">
                    <a:solidFill>
                      <a:srgbClr val="E4EEF0"/>
                    </a:solidFill>
                  </a:tcPr>
                </a:tc>
              </a:tr>
              <a:tr h="438150">
                <a:tc>
                  <a:txBody>
                    <a:bodyPr/>
                    <a:lstStyle/>
                    <a:p>
                      <a:r>
                        <a:rPr sz="1800" b="0">
                          <a:solidFill>
                            <a:srgbClr val="122A3A"/>
                          </a:solidFill>
                          <a:latin typeface="Arial"/>
                          <a:ea typeface="Arial"/>
                          <a:cs typeface="Arial"/>
                        </a:rPr>
                        <a:t>Logistic Regression</a:t>
                      </a:r>
                    </a:p>
                  </a:txBody>
                  <a:tcPr marL="91440" marR="91440" marT="45720" marB="45720">
                    <a:solidFill>
                      <a:srgbClr val="FFFFFF"/>
                    </a:solidFill>
                  </a:tcPr>
                </a:tc>
                <a:tc>
                  <a:txBody>
                    <a:bodyPr/>
                    <a:lstStyle/>
                    <a:p>
                      <a:r>
                        <a:rPr sz="1800" b="0">
                          <a:solidFill>
                            <a:srgbClr val="122A3A"/>
                          </a:solidFill>
                          <a:latin typeface="Arial"/>
                          <a:ea typeface="Arial"/>
                          <a:cs typeface="Arial"/>
                        </a:rPr>
                        <a:t>0.5238</a:t>
                      </a:r>
                    </a:p>
                  </a:txBody>
                  <a:tcPr marL="91440" marR="91440" marT="45720" marB="45720">
                    <a:solidFill>
                      <a:srgbClr val="FFFFFF"/>
                    </a:solidFill>
                  </a:tcPr>
                </a:tc>
                <a:tc>
                  <a:txBody>
                    <a:bodyPr/>
                    <a:lstStyle/>
                    <a:p>
                      <a:r>
                        <a:rPr sz="1800" b="0">
                          <a:solidFill>
                            <a:srgbClr val="122A3A"/>
                          </a:solidFill>
                          <a:latin typeface="Arial"/>
                          <a:ea typeface="Arial"/>
                          <a:cs typeface="Arial"/>
                        </a:rPr>
                        <a:t>0.5168</a:t>
                      </a:r>
                    </a:p>
                  </a:txBody>
                  <a:tcPr marL="91440" marR="91440" marT="45720" marB="45720">
                    <a:solidFill>
                      <a:srgbClr val="FFFFFF"/>
                    </a:solidFill>
                  </a:tcPr>
                </a:tc>
                <a:tc>
                  <a:txBody>
                    <a:bodyPr/>
                    <a:lstStyle/>
                    <a:p>
                      <a:r>
                        <a:rPr sz="1800" b="0">
                          <a:solidFill>
                            <a:srgbClr val="122A3A"/>
                          </a:solidFill>
                          <a:latin typeface="Arial"/>
                          <a:ea typeface="Arial"/>
                          <a:cs typeface="Arial"/>
                        </a:rPr>
                        <a:t>-0.0070</a:t>
                      </a:r>
                    </a:p>
                  </a:txBody>
                  <a:tcPr marL="91440" marR="91440" marT="45720" marB="45720">
                    <a:solidFill>
                      <a:srgbClr val="FFFFFF"/>
                    </a:solidFill>
                  </a:tcPr>
                </a:tc>
              </a:tr>
              <a:tr h="438150">
                <a:tc>
                  <a:txBody>
                    <a:bodyPr/>
                    <a:lstStyle/>
                    <a:p>
                      <a:r>
                        <a:rPr sz="1800" b="0">
                          <a:solidFill>
                            <a:srgbClr val="122A3A"/>
                          </a:solidFill>
                          <a:latin typeface="Arial"/>
                          <a:ea typeface="Arial"/>
                          <a:cs typeface="Arial"/>
                        </a:rPr>
                        <a:t>Random Forest</a:t>
                      </a:r>
                    </a:p>
                  </a:txBody>
                  <a:tcPr marL="91440" marR="91440" marT="45720" marB="45720">
                    <a:solidFill>
                      <a:srgbClr val="E4EEF0"/>
                    </a:solidFill>
                  </a:tcPr>
                </a:tc>
                <a:tc>
                  <a:txBody>
                    <a:bodyPr/>
                    <a:lstStyle/>
                    <a:p>
                      <a:r>
                        <a:rPr sz="1800" b="0">
                          <a:solidFill>
                            <a:srgbClr val="122A3A"/>
                          </a:solidFill>
                          <a:latin typeface="Arial"/>
                          <a:ea typeface="Arial"/>
                          <a:cs typeface="Arial"/>
                        </a:rPr>
                        <a:t>0.5194</a:t>
                      </a:r>
                    </a:p>
                  </a:txBody>
                  <a:tcPr marL="91440" marR="91440" marT="45720" marB="45720">
                    <a:solidFill>
                      <a:srgbClr val="E4EEF0"/>
                    </a:solidFill>
                  </a:tcPr>
                </a:tc>
                <a:tc>
                  <a:txBody>
                    <a:bodyPr/>
                    <a:lstStyle/>
                    <a:p>
                      <a:r>
                        <a:rPr sz="1800" b="0">
                          <a:solidFill>
                            <a:srgbClr val="122A3A"/>
                          </a:solidFill>
                          <a:latin typeface="Arial"/>
                          <a:ea typeface="Arial"/>
                          <a:cs typeface="Arial"/>
                        </a:rPr>
                        <a:t>0.4804</a:t>
                      </a:r>
                    </a:p>
                  </a:txBody>
                  <a:tcPr marL="91440" marR="91440" marT="45720" marB="45720">
                    <a:solidFill>
                      <a:srgbClr val="E4EEF0"/>
                    </a:solidFill>
                  </a:tcPr>
                </a:tc>
                <a:tc>
                  <a:txBody>
                    <a:bodyPr/>
                    <a:lstStyle/>
                    <a:p>
                      <a:r>
                        <a:rPr sz="1800" b="0">
                          <a:solidFill>
                            <a:srgbClr val="122A3A"/>
                          </a:solidFill>
                          <a:latin typeface="Arial"/>
                          <a:ea typeface="Arial"/>
                          <a:cs typeface="Arial"/>
                        </a:rPr>
                        <a:t>-0.0390</a:t>
                      </a:r>
                    </a:p>
                  </a:txBody>
                  <a:tcPr marL="91440" marR="91440" marT="45720" marB="45720">
                    <a:solidFill>
                      <a:srgbClr val="E4EEF0"/>
                    </a:solidFill>
                  </a:tcPr>
                </a:tc>
              </a:tr>
              <a:tr h="438150">
                <a:tc>
                  <a:txBody>
                    <a:bodyPr/>
                    <a:lstStyle/>
                    <a:p>
                      <a:r>
                        <a:rPr sz="1800" b="0">
                          <a:solidFill>
                            <a:srgbClr val="122A3A"/>
                          </a:solidFill>
                          <a:latin typeface="Arial"/>
                          <a:ea typeface="Arial"/>
                          <a:cs typeface="Arial"/>
                        </a:rPr>
                        <a:t>MLP</a:t>
                      </a:r>
                    </a:p>
                  </a:txBody>
                  <a:tcPr marL="91440" marR="91440" marT="45720" marB="45720">
                    <a:solidFill>
                      <a:srgbClr val="FFFFFF"/>
                    </a:solidFill>
                  </a:tcPr>
                </a:tc>
                <a:tc>
                  <a:txBody>
                    <a:bodyPr/>
                    <a:lstStyle/>
                    <a:p>
                      <a:r>
                        <a:rPr sz="1800" b="0">
                          <a:solidFill>
                            <a:srgbClr val="122A3A"/>
                          </a:solidFill>
                          <a:latin typeface="Arial"/>
                          <a:ea typeface="Arial"/>
                          <a:cs typeface="Arial"/>
                        </a:rPr>
                        <a:t>0.4954</a:t>
                      </a:r>
                    </a:p>
                  </a:txBody>
                  <a:tcPr marL="91440" marR="91440" marT="45720" marB="45720">
                    <a:solidFill>
                      <a:srgbClr val="FFFFFF"/>
                    </a:solidFill>
                  </a:tcPr>
                </a:tc>
                <a:tc>
                  <a:txBody>
                    <a:bodyPr/>
                    <a:lstStyle/>
                    <a:p>
                      <a:r>
                        <a:rPr sz="1800" b="0">
                          <a:solidFill>
                            <a:srgbClr val="122A3A"/>
                          </a:solidFill>
                          <a:latin typeface="Arial"/>
                          <a:ea typeface="Arial"/>
                          <a:cs typeface="Arial"/>
                        </a:rPr>
                        <a:t>0.4987</a:t>
                      </a:r>
                    </a:p>
                  </a:txBody>
                  <a:tcPr marL="91440" marR="91440" marT="45720" marB="45720">
                    <a:solidFill>
                      <a:srgbClr val="FFFFFF"/>
                    </a:solidFill>
                  </a:tcPr>
                </a:tc>
                <a:tc>
                  <a:txBody>
                    <a:bodyPr/>
                    <a:lstStyle/>
                    <a:p>
                      <a:r>
                        <a:rPr sz="1800" b="0">
                          <a:solidFill>
                            <a:srgbClr val="122A3A"/>
                          </a:solidFill>
                          <a:latin typeface="Arial"/>
                          <a:ea typeface="Arial"/>
                          <a:cs typeface="Arial"/>
                        </a:rPr>
                        <a:t>+0.0032</a:t>
                      </a:r>
                    </a:p>
                  </a:txBody>
                  <a:tcPr marL="91440" marR="91440" marT="45720" marB="45720">
                    <a:solidFill>
                      <a:srgbClr val="FFFFFF"/>
                    </a:solidFill>
                  </a:tcPr>
                </a:tc>
              </a:tr>
              <a:tr h="438150">
                <a:tc>
                  <a:txBody>
                    <a:bodyPr/>
                    <a:lstStyle/>
                    <a:p>
                      <a:r>
                        <a:rPr sz="1800" b="0">
                          <a:solidFill>
                            <a:srgbClr val="122A3A"/>
                          </a:solidFill>
                          <a:latin typeface="Arial"/>
                          <a:ea typeface="Arial"/>
                          <a:cs typeface="Arial"/>
                        </a:rPr>
                        <a:t>TabNet</a:t>
                      </a:r>
                    </a:p>
                  </a:txBody>
                  <a:tcPr marL="91440" marR="91440" marT="45720" marB="45720">
                    <a:solidFill>
                      <a:srgbClr val="E4EEF0"/>
                    </a:solidFill>
                  </a:tcPr>
                </a:tc>
                <a:tc>
                  <a:txBody>
                    <a:bodyPr/>
                    <a:lstStyle/>
                    <a:p>
                      <a:r>
                        <a:rPr sz="1800" b="0">
                          <a:solidFill>
                            <a:srgbClr val="122A3A"/>
                          </a:solidFill>
                          <a:latin typeface="Arial"/>
                          <a:ea typeface="Arial"/>
                          <a:cs typeface="Arial"/>
                        </a:rPr>
                        <a:t>0.4924</a:t>
                      </a:r>
                    </a:p>
                  </a:txBody>
                  <a:tcPr marL="91440" marR="91440" marT="45720" marB="45720">
                    <a:solidFill>
                      <a:srgbClr val="E4EEF0"/>
                    </a:solidFill>
                  </a:tcPr>
                </a:tc>
                <a:tc>
                  <a:txBody>
                    <a:bodyPr/>
                    <a:lstStyle/>
                    <a:p>
                      <a:r>
                        <a:rPr sz="1800" b="0">
                          <a:solidFill>
                            <a:srgbClr val="122A3A"/>
                          </a:solidFill>
                          <a:latin typeface="Arial"/>
                          <a:ea typeface="Arial"/>
                          <a:cs typeface="Arial"/>
                        </a:rPr>
                        <a:t>0.4770</a:t>
                      </a:r>
                    </a:p>
                  </a:txBody>
                  <a:tcPr marL="91440" marR="91440" marT="45720" marB="45720">
                    <a:solidFill>
                      <a:srgbClr val="E4EEF0"/>
                    </a:solidFill>
                  </a:tcPr>
                </a:tc>
                <a:tc>
                  <a:txBody>
                    <a:bodyPr/>
                    <a:lstStyle/>
                    <a:p>
                      <a:r>
                        <a:rPr sz="1800" b="0">
                          <a:solidFill>
                            <a:srgbClr val="122A3A"/>
                          </a:solidFill>
                          <a:latin typeface="Arial"/>
                          <a:ea typeface="Arial"/>
                          <a:cs typeface="Arial"/>
                        </a:rPr>
                        <a:t>-0.0154</a:t>
                      </a:r>
                    </a:p>
                  </a:txBody>
                  <a:tcPr marL="91440" marR="91440" marT="45720" marB="45720">
                    <a:solidFill>
                      <a:srgbClr val="E4EEF0"/>
                    </a:solidFill>
                  </a:tcPr>
                </a:tc>
              </a:tr>
              <a:tr h="438150">
                <a:tc>
                  <a:txBody>
                    <a:bodyPr/>
                    <a:lstStyle/>
                    <a:p>
                      <a:r>
                        <a:rPr sz="1800" b="0">
                          <a:solidFill>
                            <a:srgbClr val="122A3A"/>
                          </a:solidFill>
                          <a:latin typeface="Arial"/>
                          <a:ea typeface="Arial"/>
                          <a:cs typeface="Arial"/>
                        </a:rPr>
                        <a:t>CatBoost</a:t>
                      </a:r>
                    </a:p>
                  </a:txBody>
                  <a:tcPr marL="91440" marR="91440" marT="45720" marB="45720">
                    <a:solidFill>
                      <a:srgbClr val="FFFFFF"/>
                    </a:solidFill>
                  </a:tcPr>
                </a:tc>
                <a:tc>
                  <a:txBody>
                    <a:bodyPr/>
                    <a:lstStyle/>
                    <a:p>
                      <a:r>
                        <a:rPr sz="1800" b="0">
                          <a:solidFill>
                            <a:srgbClr val="122A3A"/>
                          </a:solidFill>
                          <a:latin typeface="Arial"/>
                          <a:ea typeface="Arial"/>
                          <a:cs typeface="Arial"/>
                        </a:rPr>
                        <a:t>0.5424</a:t>
                      </a:r>
                    </a:p>
                  </a:txBody>
                  <a:tcPr marL="91440" marR="91440" marT="45720" marB="45720">
                    <a:solidFill>
                      <a:srgbClr val="FFFFFF"/>
                    </a:solidFill>
                  </a:tcPr>
                </a:tc>
                <a:tc>
                  <a:txBody>
                    <a:bodyPr/>
                    <a:lstStyle/>
                    <a:p>
                      <a:r>
                        <a:rPr sz="1800" b="0">
                          <a:solidFill>
                            <a:srgbClr val="122A3A"/>
                          </a:solidFill>
                          <a:latin typeface="Arial"/>
                          <a:ea typeface="Arial"/>
                          <a:cs typeface="Arial"/>
                        </a:rPr>
                        <a:t>0.4988</a:t>
                      </a:r>
                    </a:p>
                  </a:txBody>
                  <a:tcPr marL="91440" marR="91440" marT="45720" marB="45720">
                    <a:solidFill>
                      <a:srgbClr val="FFFFFF"/>
                    </a:solidFill>
                  </a:tcPr>
                </a:tc>
                <a:tc>
                  <a:txBody>
                    <a:bodyPr/>
                    <a:lstStyle/>
                    <a:p>
                      <a:r>
                        <a:rPr sz="1800" b="0">
                          <a:solidFill>
                            <a:srgbClr val="122A3A"/>
                          </a:solidFill>
                          <a:latin typeface="Arial"/>
                          <a:ea typeface="Arial"/>
                          <a:cs typeface="Arial"/>
                        </a:rPr>
                        <a:t>-0.0436</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BE03F30-ACBA-4A43-A52B-8F429A9FDF53}"/>
              </a:ext>
            </a:extLst>
          </p:cNvPr>
          <p:cNvSpPr>
            <a:spLocks xmlns:a="http://schemas.openxmlformats.org/drawingml/2006/main" noGrp="1"/>
          </p:cNvSpPr>
          <p:nvPr/>
        </p:nvSpPr>
        <p:spPr>
          <a:xfrm xmlns:a="http://schemas.openxmlformats.org/drawingml/2006/main">
            <a:off x="609600" y="52863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22A3A"/>
                </a:solidFill>
                <a:latin typeface="Arial"/>
                <a:ea typeface="Arial"/>
                <a:cs typeface="Arial"/>
              </a:defRPr>
            </a:defPPr>
          </a:lstStyle>
          <a:p xmlns:a="http://schemas.openxmlformats.org/drawingml/2006/main">
            <a:pPr>
              <a:defRPr sz="1950" b="0">
                <a:solidFill>
                  <a:srgbClr val="122A3A"/>
                </a:solidFill>
                <a:latin typeface="Arial"/>
                <a:ea typeface="Arial"/>
                <a:cs typeface="Arial"/>
              </a:defRPr>
            </a:pPr>
            <a:r>
              <a:rPr sz="1950" b="0">
                <a:solidFill>
                  <a:srgbClr val="122A3A"/>
                </a:solidFill>
                <a:latin typeface="Arial"/>
                <a:ea typeface="Arial"/>
                <a:cs typeface="Arial"/>
              </a:rPr>
              <a:t>Validation selects history / Logistic Regression</a:t>
            </a:r>
          </a:p>
        </p:txBody>
      </p:sp>
      <p:sp>
        <p:nvSpPr>
          <p:cNvPr id="5" name="">
            <a:extLst xmlns:a="http://schemas.openxmlformats.org/drawingml/2006/main">
              <a:ext uri="{FF2B5EF4-FFF2-40B4-BE49-F238E27FC236}">
                <a16:creationId xmlns:a16="http://schemas.microsoft.com/office/drawing/2014/main" id="{5B04D26A-4583-45DA-9760-A2202C995D56}"/>
              </a:ext>
            </a:extLst>
          </p:cNvPr>
          <p:cNvSpPr>
            <a:spLocks xmlns:a="http://schemas.openxmlformats.org/drawingml/2006/main" noGrp="1"/>
          </p:cNvSpPr>
          <p:nvPr/>
        </p:nvSpPr>
        <p:spPr>
          <a:xfrm xmlns:a="http://schemas.openxmlformats.org/drawingml/2006/main">
            <a:off x="609600" y="57340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22A3A"/>
                </a:solidFill>
                <a:latin typeface="Arial"/>
                <a:ea typeface="Arial"/>
                <a:cs typeface="Arial"/>
              </a:defRPr>
            </a:defPPr>
          </a:lstStyle>
          <a:p xmlns:a="http://schemas.openxmlformats.org/drawingml/2006/main">
            <a:pPr>
              <a:defRPr sz="1950" b="0">
                <a:solidFill>
                  <a:srgbClr val="122A3A"/>
                </a:solidFill>
                <a:latin typeface="Arial"/>
                <a:ea typeface="Arial"/>
                <a:cs typeface="Arial"/>
              </a:defRPr>
            </a:pPr>
            <a:r>
              <a:rPr sz="1950" b="0">
                <a:solidFill>
                  <a:srgbClr val="122A3A"/>
                </a:solidFill>
                <a:latin typeface="Arial"/>
                <a:ea typeface="Arial"/>
                <a:cs typeface="Arial"/>
              </a:rPr>
              <a:t>Selected test AUC 0.5168; paired raw-model AUC 0.5238</a:t>
            </a:r>
          </a:p>
        </p:txBody>
      </p:sp>
      <p:sp>
        <p:nvSpPr>
          <p:cNvPr id="6" name="">
            <a:extLst xmlns:a="http://schemas.openxmlformats.org/drawingml/2006/main">
              <a:ext uri="{FF2B5EF4-FFF2-40B4-BE49-F238E27FC236}">
                <a16:creationId xmlns:a16="http://schemas.microsoft.com/office/drawing/2014/main" id="{30090A36-0857-46E7-B1F3-EA30B8608A9C}"/>
              </a:ext>
            </a:extLst>
          </p:cNvPr>
          <p:cNvSpPr>
            <a:spLocks xmlns:a="http://schemas.openxmlformats.org/drawingml/2006/main" noGrp="1"/>
          </p:cNvSpPr>
          <p:nvPr/>
        </p:nvSpPr>
        <p:spPr>
          <a:xfrm xmlns:a="http://schemas.openxmlformats.org/drawingml/2006/main">
            <a:off x="609600" y="64389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506574"/>
                </a:solidFill>
                <a:latin typeface="Arial"/>
                <a:ea typeface="Arial"/>
                <a:cs typeface="Arial"/>
              </a:defRPr>
            </a:defPPr>
          </a:lstStyle>
          <a:p xmlns:a="http://schemas.openxmlformats.org/drawingml/2006/main">
            <a:pPr>
              <a:defRPr sz="1050" b="0">
                <a:solidFill>
                  <a:srgbClr val="506574"/>
                </a:solidFill>
                <a:latin typeface="Arial"/>
                <a:ea typeface="Arial"/>
                <a:cs typeface="Arial"/>
              </a:defRPr>
            </a:pPr>
            <a:r>
              <a:rPr sz="1050" b="0">
                <a:solidFill>
                  <a:srgbClr val="506574"/>
                </a:solidFill>
                <a:latin typeface="Arial"/>
                <a:ea typeface="Arial"/>
                <a:cs typeface="Arial"/>
              </a:rPr>
              <a:t>CS 582 Group 2   full   06/12</a:t>
            </a:r>
          </a:p>
        </p:txBody>
      </p:sp>
    </p:spTree>
    <p:extLst>
      <p:ext uri="{BB962C8B-B14F-4D97-AF65-F5344CB8AC3E}">
        <p14:creationId xmlns:p14="http://schemas.microsoft.com/office/powerpoint/2010/main" val="661501544"/>
      </p:ext>
    </p:extLst>
  </p:cSld>
</p:sld>
</file>

<file path=ppt/slides/slide7.xml><?xml version="1.0" encoding="utf-8"?>
<p:sld xmlns:p="http://schemas.openxmlformats.org/presentationml/2006/main">
  <p:cSld>
    <p:bg>
      <p:bgPr>
        <a:solidFill xmlns:a="http://schemas.openxmlformats.org/drawingml/2006/main">
          <a:srgbClr val="F4F7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F5A80E2-A19A-49BF-BDCF-FB74E9044F27}"/>
              </a:ext>
            </a:extLst>
          </p:cNvPr>
          <p:cNvSpPr>
            <a:spLocks xmlns:a="http://schemas.openxmlformats.org/drawingml/2006/main" noGrp="1"/>
          </p:cNvSpPr>
          <p:nvPr/>
        </p:nvSpPr>
        <p:spPr>
          <a:xfrm xmlns:a="http://schemas.openxmlformats.org/drawingml/2006/main">
            <a:off x="609600" y="2857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1">
                <a:solidFill>
                  <a:srgbClr val="127D88"/>
                </a:solidFill>
                <a:latin typeface="Arial"/>
                <a:ea typeface="Arial"/>
                <a:cs typeface="Arial"/>
              </a:defRPr>
            </a:defPPr>
          </a:lstStyle>
          <a:p xmlns:a="http://schemas.openxmlformats.org/drawingml/2006/main">
            <a:pPr>
              <a:defRPr sz="1200" b="1">
                <a:solidFill>
                  <a:srgbClr val="127D88"/>
                </a:solidFill>
                <a:latin typeface="Arial"/>
                <a:ea typeface="Arial"/>
                <a:cs typeface="Arial"/>
              </a:defRPr>
            </a:pPr>
            <a:r>
              <a:rPr sz="1200" b="1">
                <a:solidFill>
                  <a:srgbClr val="127D88"/>
                </a:solidFill>
                <a:latin typeface="Arial"/>
                <a:ea typeface="Arial"/>
                <a:cs typeface="Arial"/>
              </a:rPr>
              <a:t>CS 582 / GROUP 2 / 07</a:t>
            </a:r>
          </a:p>
        </p:txBody>
      </p:sp>
      <p:sp>
        <p:nvSpPr>
          <p:cNvPr id="2" name="">
            <a:extLst xmlns:a="http://schemas.openxmlformats.org/drawingml/2006/main">
              <a:ext uri="{FF2B5EF4-FFF2-40B4-BE49-F238E27FC236}">
                <a16:creationId xmlns:a16="http://schemas.microsoft.com/office/drawing/2014/main" id="{E13D0BA4-E4AE-47AE-820A-90035CC7244C}"/>
              </a:ext>
            </a:extLst>
          </p:cNvPr>
          <p:cNvSpPr>
            <a:spLocks xmlns:a="http://schemas.openxmlformats.org/drawingml/2006/main" noGrp="1"/>
          </p:cNvSpPr>
          <p:nvPr/>
        </p:nvSpPr>
        <p:spPr>
          <a:xfrm xmlns:a="http://schemas.openxmlformats.org/drawingml/2006/main">
            <a:off x="609600" y="809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22A3A"/>
                </a:solidFill>
                <a:latin typeface="Arial"/>
                <a:ea typeface="Arial"/>
                <a:cs typeface="Arial"/>
              </a:defRPr>
            </a:defPPr>
          </a:lstStyle>
          <a:p xmlns:a="http://schemas.openxmlformats.org/drawingml/2006/main">
            <a:pPr>
              <a:defRPr sz="3150" b="1">
                <a:solidFill>
                  <a:srgbClr val="122A3A"/>
                </a:solidFill>
                <a:latin typeface="Arial"/>
                <a:ea typeface="Arial"/>
                <a:cs typeface="Arial"/>
              </a:defRPr>
            </a:pPr>
            <a:r>
              <a:rPr sz="3150" b="1">
                <a:solidFill>
                  <a:srgbClr val="122A3A"/>
                </a:solidFill>
                <a:latin typeface="Arial"/>
                <a:ea typeface="Arial"/>
                <a:cs typeface="Arial"/>
              </a:rPr>
              <a:t>The leakage audit checks an invalid shortcut</a:t>
            </a:r>
          </a:p>
        </p:txBody>
      </p:sp>
      <p:sp>
        <p:nvSpPr>
          <p:cNvPr id="3" name="">
            <a:extLst xmlns:a="http://schemas.openxmlformats.org/drawingml/2006/main">
              <a:ext uri="{FF2B5EF4-FFF2-40B4-BE49-F238E27FC236}">
                <a16:creationId xmlns:a16="http://schemas.microsoft.com/office/drawing/2014/main" id="{F5EB73E6-6874-400E-86FB-8AC2870ACAB1}"/>
              </a:ext>
            </a:extLst>
          </p:cNvPr>
          <p:cNvSpPr>
            <a:spLocks xmlns:a="http://schemas.openxmlformats.org/drawingml/2006/main" noGrp="1"/>
          </p:cNvSpPr>
          <p:nvPr/>
        </p:nvSpPr>
        <p:spPr>
          <a:xfrm xmlns:a="http://schemas.openxmlformats.org/drawingml/2006/main">
            <a:off x="723900" y="1981200"/>
            <a:ext cx="1078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22A3A"/>
                </a:solidFill>
                <a:latin typeface="Arial"/>
                <a:ea typeface="Arial"/>
                <a:cs typeface="Arial"/>
              </a:defRPr>
            </a:defPPr>
          </a:lstStyle>
          <a:p xmlns:a="http://schemas.openxmlformats.org/drawingml/2006/main">
            <a:pPr>
              <a:defRPr sz="2250" b="0">
                <a:solidFill>
                  <a:srgbClr val="122A3A"/>
                </a:solidFill>
                <a:latin typeface="Arial"/>
                <a:ea typeface="Arial"/>
                <a:cs typeface="Arial"/>
              </a:defRPr>
            </a:pPr>
            <a:r>
              <a:rPr sz="2250" b="0">
                <a:solidFill>
                  <a:srgbClr val="122A3A"/>
                </a:solidFill>
                <a:latin typeface="Arial"/>
                <a:ea typeface="Arial"/>
                <a:cs typeface="Arial"/>
              </a:rPr>
              <a:t>Diagnostic C deliberately includes the current close value</a:t>
            </a:r>
          </a:p>
        </p:txBody>
      </p:sp>
      <p:sp>
        <p:nvSpPr>
          <p:cNvPr id="4" name="">
            <a:extLst xmlns:a="http://schemas.openxmlformats.org/drawingml/2006/main">
              <a:ext uri="{FF2B5EF4-FFF2-40B4-BE49-F238E27FC236}">
                <a16:creationId xmlns:a16="http://schemas.microsoft.com/office/drawing/2014/main" id="{1BBF06B8-ECFC-4C76-AD57-E04093C10609}"/>
              </a:ext>
            </a:extLst>
          </p:cNvPr>
          <p:cNvSpPr>
            <a:spLocks xmlns:a="http://schemas.openxmlformats.org/drawingml/2006/main" noGrp="1"/>
          </p:cNvSpPr>
          <p:nvPr/>
        </p:nvSpPr>
        <p:spPr>
          <a:xfrm xmlns:a="http://schemas.openxmlformats.org/drawingml/2006/main">
            <a:off x="723900" y="2886075"/>
            <a:ext cx="1078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22A3A"/>
                </a:solidFill>
                <a:latin typeface="Arial"/>
                <a:ea typeface="Arial"/>
                <a:cs typeface="Arial"/>
              </a:defRPr>
            </a:defPPr>
          </a:lstStyle>
          <a:p xmlns:a="http://schemas.openxmlformats.org/drawingml/2006/main">
            <a:pPr>
              <a:defRPr sz="2250" b="0">
                <a:solidFill>
                  <a:srgbClr val="122A3A"/>
                </a:solidFill>
                <a:latin typeface="Arial"/>
                <a:ea typeface="Arial"/>
                <a:cs typeface="Arial"/>
              </a:defRPr>
            </a:pPr>
            <a:r>
              <a:rPr sz="2250" b="0">
                <a:solidFill>
                  <a:srgbClr val="122A3A"/>
                </a:solidFill>
                <a:latin typeface="Arial"/>
                <a:ea typeface="Arial"/>
                <a:cs typeface="Arial"/>
              </a:rPr>
              <a:t>A depth-one tree reaches test AUC 1.0000 on this snapshot</a:t>
            </a:r>
          </a:p>
        </p:txBody>
      </p:sp>
      <p:sp>
        <p:nvSpPr>
          <p:cNvPr id="5" name="">
            <a:extLst xmlns:a="http://schemas.openxmlformats.org/drawingml/2006/main">
              <a:ext uri="{FF2B5EF4-FFF2-40B4-BE49-F238E27FC236}">
                <a16:creationId xmlns:a16="http://schemas.microsoft.com/office/drawing/2014/main" id="{4BBDBB67-7B82-44E9-B417-C2157A7C78D7}"/>
              </a:ext>
            </a:extLst>
          </p:cNvPr>
          <p:cNvSpPr>
            <a:spLocks xmlns:a="http://schemas.openxmlformats.org/drawingml/2006/main" noGrp="1"/>
          </p:cNvSpPr>
          <p:nvPr/>
        </p:nvSpPr>
        <p:spPr>
          <a:xfrm xmlns:a="http://schemas.openxmlformats.org/drawingml/2006/main">
            <a:off x="723900" y="3790950"/>
            <a:ext cx="1078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22A3A"/>
                </a:solidFill>
                <a:latin typeface="Arial"/>
                <a:ea typeface="Arial"/>
                <a:cs typeface="Arial"/>
              </a:defRPr>
            </a:defPPr>
          </a:lstStyle>
          <a:p xmlns:a="http://schemas.openxmlformats.org/drawingml/2006/main">
            <a:pPr>
              <a:defRPr sz="2250" b="0">
                <a:solidFill>
                  <a:srgbClr val="122A3A"/>
                </a:solidFill>
                <a:latin typeface="Arial"/>
                <a:ea typeface="Arial"/>
                <a:cs typeface="Arial"/>
              </a:defRPr>
            </a:pPr>
            <a:r>
              <a:rPr sz="2250" b="0">
                <a:solidFill>
                  <a:srgbClr val="122A3A"/>
                </a:solidFill>
                <a:latin typeface="Arial"/>
                <a:ea typeface="Arial"/>
                <a:cs typeface="Arial"/>
              </a:rPr>
              <a:t>The legitimate models never receive that feature</a:t>
            </a:r>
          </a:p>
        </p:txBody>
      </p:sp>
      <p:sp>
        <p:nvSpPr>
          <p:cNvPr id="6" name="">
            <a:extLst xmlns:a="http://schemas.openxmlformats.org/drawingml/2006/main">
              <a:ext uri="{FF2B5EF4-FFF2-40B4-BE49-F238E27FC236}">
                <a16:creationId xmlns:a16="http://schemas.microsoft.com/office/drawing/2014/main" id="{CD49C789-A662-4B4D-AF8E-8BB43DCA2E70}"/>
              </a:ext>
            </a:extLst>
          </p:cNvPr>
          <p:cNvSpPr>
            <a:spLocks xmlns:a="http://schemas.openxmlformats.org/drawingml/2006/main" noGrp="1"/>
          </p:cNvSpPr>
          <p:nvPr/>
        </p:nvSpPr>
        <p:spPr>
          <a:xfrm xmlns:a="http://schemas.openxmlformats.org/drawingml/2006/main">
            <a:off x="723900" y="4695825"/>
            <a:ext cx="1078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22A3A"/>
                </a:solidFill>
                <a:latin typeface="Arial"/>
                <a:ea typeface="Arial"/>
                <a:cs typeface="Arial"/>
              </a:defRPr>
            </a:defPPr>
          </a:lstStyle>
          <a:p xmlns:a="http://schemas.openxmlformats.org/drawingml/2006/main">
            <a:pPr>
              <a:defRPr sz="2250" b="0">
                <a:solidFill>
                  <a:srgbClr val="122A3A"/>
                </a:solidFill>
                <a:latin typeface="Arial"/>
                <a:ea typeface="Arial"/>
                <a:cs typeface="Arial"/>
              </a:defRPr>
            </a:pPr>
            <a:r>
              <a:rPr sz="2250" b="0">
                <a:solidFill>
                  <a:srgbClr val="122A3A"/>
                </a:solidFill>
                <a:latin typeface="Arial"/>
                <a:ea typeface="Arial"/>
                <a:cs typeface="Arial"/>
              </a:rPr>
              <a:t>Past closed-deal averages are distinct from the current final value</a:t>
            </a:r>
          </a:p>
        </p:txBody>
      </p:sp>
      <p:sp>
        <p:nvSpPr>
          <p:cNvPr id="7" name="">
            <a:extLst xmlns:a="http://schemas.openxmlformats.org/drawingml/2006/main">
              <a:ext uri="{FF2B5EF4-FFF2-40B4-BE49-F238E27FC236}">
                <a16:creationId xmlns:a16="http://schemas.microsoft.com/office/drawing/2014/main" id="{3D19E6FF-A5F8-4A75-B7E7-D64BAD97FD92}"/>
              </a:ext>
            </a:extLst>
          </p:cNvPr>
          <p:cNvSpPr>
            <a:spLocks xmlns:a="http://schemas.openxmlformats.org/drawingml/2006/main" noGrp="1"/>
          </p:cNvSpPr>
          <p:nvPr/>
        </p:nvSpPr>
        <p:spPr>
          <a:xfrm xmlns:a="http://schemas.openxmlformats.org/drawingml/2006/main">
            <a:off x="609600" y="64389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506574"/>
                </a:solidFill>
                <a:latin typeface="Arial"/>
                <a:ea typeface="Arial"/>
                <a:cs typeface="Arial"/>
              </a:defRPr>
            </a:defPPr>
          </a:lstStyle>
          <a:p xmlns:a="http://schemas.openxmlformats.org/drawingml/2006/main">
            <a:pPr>
              <a:defRPr sz="1050" b="0">
                <a:solidFill>
                  <a:srgbClr val="506574"/>
                </a:solidFill>
                <a:latin typeface="Arial"/>
                <a:ea typeface="Arial"/>
                <a:cs typeface="Arial"/>
              </a:defRPr>
            </a:pPr>
            <a:r>
              <a:rPr sz="1050" b="0">
                <a:solidFill>
                  <a:srgbClr val="506574"/>
                </a:solidFill>
                <a:latin typeface="Arial"/>
                <a:ea typeface="Arial"/>
                <a:cs typeface="Arial"/>
              </a:rPr>
              <a:t>CS 582 Group 2   full   07/12</a:t>
            </a:r>
          </a:p>
        </p:txBody>
      </p:sp>
    </p:spTree>
    <p:extLst>
      <p:ext uri="{BB962C8B-B14F-4D97-AF65-F5344CB8AC3E}">
        <p14:creationId xmlns:p14="http://schemas.microsoft.com/office/powerpoint/2010/main" val="1328454518"/>
      </p:ext>
    </p:extLst>
  </p:cSld>
</p:sld>
</file>

<file path=ppt/slides/slide8.xml><?xml version="1.0" encoding="utf-8"?>
<p:sld xmlns:p="http://schemas.openxmlformats.org/presentationml/2006/main">
  <p:cSld>
    <p:bg>
      <p:bgPr>
        <a:solidFill xmlns:a="http://schemas.openxmlformats.org/drawingml/2006/main">
          <a:srgbClr val="F4F7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1059776-2E44-46A7-9354-1FAB533AEC26}"/>
              </a:ext>
            </a:extLst>
          </p:cNvPr>
          <p:cNvSpPr>
            <a:spLocks xmlns:a="http://schemas.openxmlformats.org/drawingml/2006/main" noGrp="1"/>
          </p:cNvSpPr>
          <p:nvPr/>
        </p:nvSpPr>
        <p:spPr>
          <a:xfrm xmlns:a="http://schemas.openxmlformats.org/drawingml/2006/main">
            <a:off x="609600" y="2857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1">
                <a:solidFill>
                  <a:srgbClr val="127D88"/>
                </a:solidFill>
                <a:latin typeface="Arial"/>
                <a:ea typeface="Arial"/>
                <a:cs typeface="Arial"/>
              </a:defRPr>
            </a:defPPr>
          </a:lstStyle>
          <a:p xmlns:a="http://schemas.openxmlformats.org/drawingml/2006/main">
            <a:pPr>
              <a:defRPr sz="1200" b="1">
                <a:solidFill>
                  <a:srgbClr val="127D88"/>
                </a:solidFill>
                <a:latin typeface="Arial"/>
                <a:ea typeface="Arial"/>
                <a:cs typeface="Arial"/>
              </a:defRPr>
            </a:pPr>
            <a:r>
              <a:rPr sz="1200" b="1">
                <a:solidFill>
                  <a:srgbClr val="127D88"/>
                </a:solidFill>
                <a:latin typeface="Arial"/>
                <a:ea typeface="Arial"/>
                <a:cs typeface="Arial"/>
              </a:rPr>
              <a:t>CS 582 / GROUP 2 / 08</a:t>
            </a:r>
          </a:p>
        </p:txBody>
      </p:sp>
      <p:sp>
        <p:nvSpPr>
          <p:cNvPr id="2" name="">
            <a:extLst xmlns:a="http://schemas.openxmlformats.org/drawingml/2006/main">
              <a:ext uri="{FF2B5EF4-FFF2-40B4-BE49-F238E27FC236}">
                <a16:creationId xmlns:a16="http://schemas.microsoft.com/office/drawing/2014/main" id="{6082A1DC-B03F-47CD-AC5D-716D49887A58}"/>
              </a:ext>
            </a:extLst>
          </p:cNvPr>
          <p:cNvSpPr>
            <a:spLocks xmlns:a="http://schemas.openxmlformats.org/drawingml/2006/main" noGrp="1"/>
          </p:cNvSpPr>
          <p:nvPr/>
        </p:nvSpPr>
        <p:spPr>
          <a:xfrm xmlns:a="http://schemas.openxmlformats.org/drawingml/2006/main">
            <a:off x="609600" y="809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22A3A"/>
                </a:solidFill>
                <a:latin typeface="Arial"/>
                <a:ea typeface="Arial"/>
                <a:cs typeface="Arial"/>
              </a:defRPr>
            </a:defPPr>
          </a:lstStyle>
          <a:p xmlns:a="http://schemas.openxmlformats.org/drawingml/2006/main">
            <a:pPr>
              <a:defRPr sz="3150" b="1">
                <a:solidFill>
                  <a:srgbClr val="122A3A"/>
                </a:solidFill>
                <a:latin typeface="Arial"/>
                <a:ea typeface="Arial"/>
                <a:cs typeface="Arial"/>
              </a:defRPr>
            </a:pPr>
            <a:r>
              <a:rPr sz="3150" b="1">
                <a:solidFill>
                  <a:srgbClr val="122A3A"/>
                </a:solidFill>
                <a:latin typeface="Arial"/>
                <a:ea typeface="Arial"/>
                <a:cs typeface="Arial"/>
              </a:rPr>
              <a:t>The sales assistant has inspectable rules</a:t>
            </a:r>
          </a:p>
        </p:txBody>
      </p:sp>
      <p:sp>
        <p:nvSpPr>
          <p:cNvPr id="3" name="">
            <a:extLst xmlns:a="http://schemas.openxmlformats.org/drawingml/2006/main">
              <a:ext uri="{FF2B5EF4-FFF2-40B4-BE49-F238E27FC236}">
                <a16:creationId xmlns:a16="http://schemas.microsoft.com/office/drawing/2014/main" id="{90B46885-CFD0-4189-A0C3-E1CCA2B4E774}"/>
              </a:ext>
            </a:extLst>
          </p:cNvPr>
          <p:cNvSpPr>
            <a:spLocks xmlns:a="http://schemas.openxmlformats.org/drawingml/2006/main" noGrp="1"/>
          </p:cNvSpPr>
          <p:nvPr/>
        </p:nvSpPr>
        <p:spPr>
          <a:xfrm xmlns:a="http://schemas.openxmlformats.org/drawingml/2006/main">
            <a:off x="723900" y="1981200"/>
            <a:ext cx="1078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22A3A"/>
                </a:solidFill>
                <a:latin typeface="Arial"/>
                <a:ea typeface="Arial"/>
                <a:cs typeface="Arial"/>
              </a:defRPr>
            </a:defPPr>
          </a:lstStyle>
          <a:p xmlns:a="http://schemas.openxmlformats.org/drawingml/2006/main">
            <a:pPr>
              <a:defRPr sz="2250" b="0">
                <a:solidFill>
                  <a:srgbClr val="122A3A"/>
                </a:solidFill>
                <a:latin typeface="Arial"/>
                <a:ea typeface="Arial"/>
                <a:cs typeface="Arial"/>
              </a:defRPr>
            </a:pPr>
            <a:r>
              <a:rPr sz="2250" b="0">
                <a:solidFill>
                  <a:srgbClr val="122A3A"/>
                </a:solidFill>
                <a:latin typeface="Arial"/>
                <a:ea typeface="Arial"/>
                <a:cs typeface="Arial"/>
              </a:rPr>
              <a:t>Model output: probability and reference-based reasons</a:t>
            </a:r>
          </a:p>
        </p:txBody>
      </p:sp>
      <p:sp>
        <p:nvSpPr>
          <p:cNvPr id="4" name="">
            <a:extLst xmlns:a="http://schemas.openxmlformats.org/drawingml/2006/main">
              <a:ext uri="{FF2B5EF4-FFF2-40B4-BE49-F238E27FC236}">
                <a16:creationId xmlns:a16="http://schemas.microsoft.com/office/drawing/2014/main" id="{FD4A3FF9-9CCB-4AFE-93FD-43952AE5855B}"/>
              </a:ext>
            </a:extLst>
          </p:cNvPr>
          <p:cNvSpPr>
            <a:spLocks xmlns:a="http://schemas.openxmlformats.org/drawingml/2006/main" noGrp="1"/>
          </p:cNvSpPr>
          <p:nvPr/>
        </p:nvSpPr>
        <p:spPr>
          <a:xfrm xmlns:a="http://schemas.openxmlformats.org/drawingml/2006/main">
            <a:off x="723900" y="2886075"/>
            <a:ext cx="1078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22A3A"/>
                </a:solidFill>
                <a:latin typeface="Arial"/>
                <a:ea typeface="Arial"/>
                <a:cs typeface="Arial"/>
              </a:defRPr>
            </a:defPPr>
          </a:lstStyle>
          <a:p xmlns:a="http://schemas.openxmlformats.org/drawingml/2006/main">
            <a:pPr>
              <a:defRPr sz="2250" b="0">
                <a:solidFill>
                  <a:srgbClr val="122A3A"/>
                </a:solidFill>
                <a:latin typeface="Arial"/>
                <a:ea typeface="Arial"/>
                <a:cs typeface="Arial"/>
              </a:defRPr>
            </a:pPr>
            <a:r>
              <a:rPr sz="2250" b="0">
                <a:solidFill>
                  <a:srgbClr val="122A3A"/>
                </a:solidFill>
                <a:latin typeface="Arial"/>
                <a:ea typeface="Arial"/>
                <a:cs typeface="Arial"/>
              </a:rPr>
              <a:t>Assistant output: loss risk and 2–4 evidence-backed review actions</a:t>
            </a:r>
          </a:p>
        </p:txBody>
      </p:sp>
      <p:sp>
        <p:nvSpPr>
          <p:cNvPr id="5" name="">
            <a:extLst xmlns:a="http://schemas.openxmlformats.org/drawingml/2006/main">
              <a:ext uri="{FF2B5EF4-FFF2-40B4-BE49-F238E27FC236}">
                <a16:creationId xmlns:a16="http://schemas.microsoft.com/office/drawing/2014/main" id="{EDA0956F-72F9-4CD0-B116-8847D633D89B}"/>
              </a:ext>
            </a:extLst>
          </p:cNvPr>
          <p:cNvSpPr>
            <a:spLocks xmlns:a="http://schemas.openxmlformats.org/drawingml/2006/main" noGrp="1"/>
          </p:cNvSpPr>
          <p:nvPr/>
        </p:nvSpPr>
        <p:spPr>
          <a:xfrm xmlns:a="http://schemas.openxmlformats.org/drawingml/2006/main">
            <a:off x="723900" y="3790950"/>
            <a:ext cx="1078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22A3A"/>
                </a:solidFill>
                <a:latin typeface="Arial"/>
                <a:ea typeface="Arial"/>
                <a:cs typeface="Arial"/>
              </a:defRPr>
            </a:defPPr>
          </a:lstStyle>
          <a:p xmlns:a="http://schemas.openxmlformats.org/drawingml/2006/main">
            <a:pPr>
              <a:defRPr sz="2250" b="0">
                <a:solidFill>
                  <a:srgbClr val="122A3A"/>
                </a:solidFill>
                <a:latin typeface="Arial"/>
                <a:ea typeface="Arial"/>
                <a:cs typeface="Arial"/>
              </a:defRPr>
            </a:pPr>
            <a:r>
              <a:rPr sz="2250" b="0">
                <a:solidFill>
                  <a:srgbClr val="122A3A"/>
                </a:solidFill>
                <a:latin typeface="Arial"/>
                <a:ea typeface="Arial"/>
                <a:cs typeface="Arial"/>
              </a:rPr>
              <a:t>Rules check missing accounts, thin history and supported patterns</a:t>
            </a:r>
          </a:p>
        </p:txBody>
      </p:sp>
      <p:sp>
        <p:nvSpPr>
          <p:cNvPr id="6" name="">
            <a:extLst xmlns:a="http://schemas.openxmlformats.org/drawingml/2006/main">
              <a:ext uri="{FF2B5EF4-FFF2-40B4-BE49-F238E27FC236}">
                <a16:creationId xmlns:a16="http://schemas.microsoft.com/office/drawing/2014/main" id="{24553200-8718-449D-A2C1-C6EEFDA82131}"/>
              </a:ext>
            </a:extLst>
          </p:cNvPr>
          <p:cNvSpPr>
            <a:spLocks xmlns:a="http://schemas.openxmlformats.org/drawingml/2006/main" noGrp="1"/>
          </p:cNvSpPr>
          <p:nvPr/>
        </p:nvSpPr>
        <p:spPr>
          <a:xfrm xmlns:a="http://schemas.openxmlformats.org/drawingml/2006/main">
            <a:off x="723900" y="4695825"/>
            <a:ext cx="1078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22A3A"/>
                </a:solidFill>
                <a:latin typeface="Arial"/>
                <a:ea typeface="Arial"/>
                <a:cs typeface="Arial"/>
              </a:defRPr>
            </a:defPPr>
          </a:lstStyle>
          <a:p xmlns:a="http://schemas.openxmlformats.org/drawingml/2006/main">
            <a:pPr>
              <a:defRPr sz="2250" b="0">
                <a:solidFill>
                  <a:srgbClr val="122A3A"/>
                </a:solidFill>
                <a:latin typeface="Arial"/>
                <a:ea typeface="Arial"/>
                <a:cs typeface="Arial"/>
              </a:defRPr>
            </a:pPr>
            <a:r>
              <a:rPr sz="2250" b="0">
                <a:solidFill>
                  <a:srgbClr val="122A3A"/>
                </a:solidFill>
                <a:latin typeface="Arial"/>
                <a:ea typeface="Arial"/>
                <a:cs typeface="Arial"/>
              </a:rPr>
              <a:t>No paid API, automatic outreach or promise of sales uplift</a:t>
            </a:r>
          </a:p>
        </p:txBody>
      </p:sp>
      <p:sp>
        <p:nvSpPr>
          <p:cNvPr id="7" name="">
            <a:extLst xmlns:a="http://schemas.openxmlformats.org/drawingml/2006/main">
              <a:ext uri="{FF2B5EF4-FFF2-40B4-BE49-F238E27FC236}">
                <a16:creationId xmlns:a16="http://schemas.microsoft.com/office/drawing/2014/main" id="{39B37173-674F-46FB-A647-F5FEC388DF49}"/>
              </a:ext>
            </a:extLst>
          </p:cNvPr>
          <p:cNvSpPr>
            <a:spLocks xmlns:a="http://schemas.openxmlformats.org/drawingml/2006/main" noGrp="1"/>
          </p:cNvSpPr>
          <p:nvPr/>
        </p:nvSpPr>
        <p:spPr>
          <a:xfrm xmlns:a="http://schemas.openxmlformats.org/drawingml/2006/main">
            <a:off x="609600" y="64389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506574"/>
                </a:solidFill>
                <a:latin typeface="Arial"/>
                <a:ea typeface="Arial"/>
                <a:cs typeface="Arial"/>
              </a:defRPr>
            </a:defPPr>
          </a:lstStyle>
          <a:p xmlns:a="http://schemas.openxmlformats.org/drawingml/2006/main">
            <a:pPr>
              <a:defRPr sz="1050" b="0">
                <a:solidFill>
                  <a:srgbClr val="506574"/>
                </a:solidFill>
                <a:latin typeface="Arial"/>
                <a:ea typeface="Arial"/>
                <a:cs typeface="Arial"/>
              </a:defRPr>
            </a:pPr>
            <a:r>
              <a:rPr sz="1050" b="0">
                <a:solidFill>
                  <a:srgbClr val="506574"/>
                </a:solidFill>
                <a:latin typeface="Arial"/>
                <a:ea typeface="Arial"/>
                <a:cs typeface="Arial"/>
              </a:rPr>
              <a:t>CS 582 Group 2   full   08/12</a:t>
            </a:r>
          </a:p>
        </p:txBody>
      </p:sp>
    </p:spTree>
    <p:extLst>
      <p:ext uri="{BB962C8B-B14F-4D97-AF65-F5344CB8AC3E}">
        <p14:creationId xmlns:p14="http://schemas.microsoft.com/office/powerpoint/2010/main" val="1342081870"/>
      </p:ext>
    </p:extLst>
  </p:cSld>
</p:sld>
</file>

<file path=ppt/slides/slide9.xml><?xml version="1.0" encoding="utf-8"?>
<p:sld xmlns:p="http://schemas.openxmlformats.org/presentationml/2006/main">
  <p:cSld>
    <p:bg>
      <p:bgPr>
        <a:solidFill xmlns:a="http://schemas.openxmlformats.org/drawingml/2006/main">
          <a:srgbClr val="F4F7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0AAD883-9E9D-4F5F-8822-359413F3477A}"/>
              </a:ext>
            </a:extLst>
          </p:cNvPr>
          <p:cNvSpPr>
            <a:spLocks xmlns:a="http://schemas.openxmlformats.org/drawingml/2006/main" noGrp="1"/>
          </p:cNvSpPr>
          <p:nvPr/>
        </p:nvSpPr>
        <p:spPr>
          <a:xfrm xmlns:a="http://schemas.openxmlformats.org/drawingml/2006/main">
            <a:off x="609600" y="2857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1">
                <a:solidFill>
                  <a:srgbClr val="127D88"/>
                </a:solidFill>
                <a:latin typeface="Arial"/>
                <a:ea typeface="Arial"/>
                <a:cs typeface="Arial"/>
              </a:defRPr>
            </a:defPPr>
          </a:lstStyle>
          <a:p xmlns:a="http://schemas.openxmlformats.org/drawingml/2006/main">
            <a:pPr>
              <a:defRPr sz="1200" b="1">
                <a:solidFill>
                  <a:srgbClr val="127D88"/>
                </a:solidFill>
                <a:latin typeface="Arial"/>
                <a:ea typeface="Arial"/>
                <a:cs typeface="Arial"/>
              </a:defRPr>
            </a:pPr>
            <a:r>
              <a:rPr sz="1200" b="1">
                <a:solidFill>
                  <a:srgbClr val="127D88"/>
                </a:solidFill>
                <a:latin typeface="Arial"/>
                <a:ea typeface="Arial"/>
                <a:cs typeface="Arial"/>
              </a:rPr>
              <a:t>CS 582 / GROUP 2 / 09</a:t>
            </a:r>
          </a:p>
        </p:txBody>
      </p:sp>
      <p:sp>
        <p:nvSpPr>
          <p:cNvPr id="2" name="">
            <a:extLst xmlns:a="http://schemas.openxmlformats.org/drawingml/2006/main">
              <a:ext uri="{FF2B5EF4-FFF2-40B4-BE49-F238E27FC236}">
                <a16:creationId xmlns:a16="http://schemas.microsoft.com/office/drawing/2014/main" id="{EAC1BD15-C4FA-4CB9-A300-7BA82E46FAC2}"/>
              </a:ext>
            </a:extLst>
          </p:cNvPr>
          <p:cNvSpPr>
            <a:spLocks xmlns:a="http://schemas.openxmlformats.org/drawingml/2006/main" noGrp="1"/>
          </p:cNvSpPr>
          <p:nvPr/>
        </p:nvSpPr>
        <p:spPr>
          <a:xfrm xmlns:a="http://schemas.openxmlformats.org/drawingml/2006/main">
            <a:off x="609600" y="809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22A3A"/>
                </a:solidFill>
                <a:latin typeface="Arial"/>
                <a:ea typeface="Arial"/>
                <a:cs typeface="Arial"/>
              </a:defRPr>
            </a:defPPr>
          </a:lstStyle>
          <a:p xmlns:a="http://schemas.openxmlformats.org/drawingml/2006/main">
            <a:pPr>
              <a:defRPr sz="3150" b="1">
                <a:solidFill>
                  <a:srgbClr val="122A3A"/>
                </a:solidFill>
                <a:latin typeface="Arial"/>
                <a:ea typeface="Arial"/>
                <a:cs typeface="Arial"/>
              </a:defRPr>
            </a:pPr>
            <a:r>
              <a:rPr sz="3150" b="1">
                <a:solidFill>
                  <a:srgbClr val="122A3A"/>
                </a:solidFill>
                <a:latin typeface="Arial"/>
                <a:ea typeface="Arial"/>
                <a:cs typeface="Arial"/>
              </a:rPr>
              <a:t>A real opportunity through the saved model</a:t>
            </a:r>
          </a:p>
        </p:txBody>
      </p:sp>
      <p:sp>
        <p:nvSpPr>
          <p:cNvPr id="3" name="">
            <a:extLst xmlns:a="http://schemas.openxmlformats.org/drawingml/2006/main">
              <a:ext uri="{FF2B5EF4-FFF2-40B4-BE49-F238E27FC236}">
                <a16:creationId xmlns:a16="http://schemas.microsoft.com/office/drawing/2014/main" id="{B6218D2C-B6FB-4B31-9C7B-81D21E4074C8}"/>
              </a:ext>
            </a:extLst>
          </p:cNvPr>
          <p:cNvSpPr>
            <a:spLocks xmlns:a="http://schemas.openxmlformats.org/drawingml/2006/main" noGrp="1"/>
          </p:cNvSpPr>
          <p:nvPr/>
        </p:nvSpPr>
        <p:spPr>
          <a:xfrm xmlns:a="http://schemas.openxmlformats.org/drawingml/2006/main">
            <a:off x="723900" y="1981200"/>
            <a:ext cx="1078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22A3A"/>
                </a:solidFill>
                <a:latin typeface="Arial"/>
                <a:ea typeface="Arial"/>
                <a:cs typeface="Arial"/>
              </a:defRPr>
            </a:defPPr>
          </a:lstStyle>
          <a:p xmlns:a="http://schemas.openxmlformats.org/drawingml/2006/main">
            <a:pPr>
              <a:defRPr sz="2250" b="0">
                <a:solidFill>
                  <a:srgbClr val="122A3A"/>
                </a:solidFill>
                <a:latin typeface="Arial"/>
                <a:ea typeface="Arial"/>
                <a:cs typeface="Arial"/>
              </a:defRPr>
            </a:pPr>
            <a:r>
              <a:rPr sz="2250" b="0">
                <a:solidFill>
                  <a:srgbClr val="122A3A"/>
                </a:solidFill>
                <a:latin typeface="Arial"/>
                <a:ea typeface="Arial"/>
                <a:cs typeface="Arial"/>
              </a:rPr>
              <a:t>01XZ9CRY   Initech   GTX Plus Pro</a:t>
            </a:r>
          </a:p>
        </p:txBody>
      </p:sp>
      <p:sp>
        <p:nvSpPr>
          <p:cNvPr id="4" name="">
            <a:extLst xmlns:a="http://schemas.openxmlformats.org/drawingml/2006/main">
              <a:ext uri="{FF2B5EF4-FFF2-40B4-BE49-F238E27FC236}">
                <a16:creationId xmlns:a16="http://schemas.microsoft.com/office/drawing/2014/main" id="{1B2FD542-D538-45C0-8C39-CDC56FE1EC51}"/>
              </a:ext>
            </a:extLst>
          </p:cNvPr>
          <p:cNvSpPr>
            <a:spLocks xmlns:a="http://schemas.openxmlformats.org/drawingml/2006/main" noGrp="1"/>
          </p:cNvSpPr>
          <p:nvPr/>
        </p:nvSpPr>
        <p:spPr>
          <a:xfrm xmlns:a="http://schemas.openxmlformats.org/drawingml/2006/main">
            <a:off x="723900" y="2886075"/>
            <a:ext cx="1078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22A3A"/>
                </a:solidFill>
                <a:latin typeface="Arial"/>
                <a:ea typeface="Arial"/>
                <a:cs typeface="Arial"/>
              </a:defRPr>
            </a:defPPr>
          </a:lstStyle>
          <a:p xmlns:a="http://schemas.openxmlformats.org/drawingml/2006/main">
            <a:pPr>
              <a:defRPr sz="2250" b="0">
                <a:solidFill>
                  <a:srgbClr val="122A3A"/>
                </a:solidFill>
                <a:latin typeface="Arial"/>
                <a:ea typeface="Arial"/>
                <a:cs typeface="Arial"/>
              </a:defRPr>
            </a:pPr>
            <a:r>
              <a:rPr sz="2250" b="0">
                <a:solidFill>
                  <a:srgbClr val="122A3A"/>
                </a:solidFill>
                <a:latin typeface="Arial"/>
                <a:ea typeface="Arial"/>
                <a:cs typeface="Arial"/>
              </a:rPr>
              <a:t>Win 53.4%    Loss 46.6%    Loss risk MEDIUM</a:t>
            </a:r>
          </a:p>
        </p:txBody>
      </p:sp>
      <p:sp>
        <p:nvSpPr>
          <p:cNvPr id="5" name="">
            <a:extLst xmlns:a="http://schemas.openxmlformats.org/drawingml/2006/main">
              <a:ext uri="{FF2B5EF4-FFF2-40B4-BE49-F238E27FC236}">
                <a16:creationId xmlns:a16="http://schemas.microsoft.com/office/drawing/2014/main" id="{212F32F4-2924-4957-8C76-C8F124315927}"/>
              </a:ext>
            </a:extLst>
          </p:cNvPr>
          <p:cNvSpPr>
            <a:spLocks xmlns:a="http://schemas.openxmlformats.org/drawingml/2006/main" noGrp="1"/>
          </p:cNvSpPr>
          <p:nvPr/>
        </p:nvSpPr>
        <p:spPr>
          <a:xfrm xmlns:a="http://schemas.openxmlformats.org/drawingml/2006/main">
            <a:off x="723900" y="3790950"/>
            <a:ext cx="1078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22A3A"/>
                </a:solidFill>
                <a:latin typeface="Arial"/>
                <a:ea typeface="Arial"/>
                <a:cs typeface="Arial"/>
              </a:defRPr>
            </a:defPPr>
          </a:lstStyle>
          <a:p xmlns:a="http://schemas.openxmlformats.org/drawingml/2006/main">
            <a:pPr>
              <a:defRPr sz="2250" b="0">
                <a:solidFill>
                  <a:srgbClr val="122A3A"/>
                </a:solidFill>
                <a:latin typeface="Arial"/>
                <a:ea typeface="Arial"/>
                <a:cs typeface="Arial"/>
              </a:defRPr>
            </a:pPr>
            <a:r>
              <a:rPr sz="2250" b="0">
                <a:solidFill>
                  <a:srgbClr val="122A3A"/>
                </a:solidFill>
                <a:latin typeface="Arial"/>
                <a:ea typeface="Arial"/>
                <a:cs typeface="Arial"/>
              </a:rPr>
              <a:t>The CLI reloads the model and recomputes the score and reasons</a:t>
            </a:r>
          </a:p>
        </p:txBody>
      </p:sp>
      <p:sp>
        <p:nvSpPr>
          <p:cNvPr id="6" name="">
            <a:extLst xmlns:a="http://schemas.openxmlformats.org/drawingml/2006/main">
              <a:ext uri="{FF2B5EF4-FFF2-40B4-BE49-F238E27FC236}">
                <a16:creationId xmlns:a16="http://schemas.microsoft.com/office/drawing/2014/main" id="{C188AD2A-7353-4FEA-8FAA-D014205838CB}"/>
              </a:ext>
            </a:extLst>
          </p:cNvPr>
          <p:cNvSpPr>
            <a:spLocks xmlns:a="http://schemas.openxmlformats.org/drawingml/2006/main" noGrp="1"/>
          </p:cNvSpPr>
          <p:nvPr/>
        </p:nvSpPr>
        <p:spPr>
          <a:xfrm xmlns:a="http://schemas.openxmlformats.org/drawingml/2006/main">
            <a:off x="723900" y="4695825"/>
            <a:ext cx="1078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22A3A"/>
                </a:solidFill>
                <a:latin typeface="Arial"/>
                <a:ea typeface="Arial"/>
                <a:cs typeface="Arial"/>
              </a:defRPr>
            </a:defPPr>
          </a:lstStyle>
          <a:p xmlns:a="http://schemas.openxmlformats.org/drawingml/2006/main">
            <a:pPr>
              <a:defRPr sz="2250" b="0">
                <a:solidFill>
                  <a:srgbClr val="122A3A"/>
                </a:solidFill>
                <a:latin typeface="Arial"/>
                <a:ea typeface="Arial"/>
                <a:cs typeface="Arial"/>
              </a:defRPr>
            </a:pPr>
            <a:r>
              <a:rPr sz="2250" b="0">
                <a:solidFill>
                  <a:srgbClr val="122A3A"/>
                </a:solidFill>
                <a:latin typeface="Arial"/>
                <a:ea typeface="Arial"/>
                <a:cs typeface="Arial"/>
              </a:rPr>
              <a:t>Default example: first eligible dated record, not highest probability</a:t>
            </a:r>
          </a:p>
        </p:txBody>
      </p:sp>
      <p:sp>
        <p:nvSpPr>
          <p:cNvPr id="7" name="">
            <a:extLst xmlns:a="http://schemas.openxmlformats.org/drawingml/2006/main">
              <a:ext uri="{FF2B5EF4-FFF2-40B4-BE49-F238E27FC236}">
                <a16:creationId xmlns:a16="http://schemas.microsoft.com/office/drawing/2014/main" id="{17E7AC79-7C0B-4AA7-A314-0F7B56DDA6BA}"/>
              </a:ext>
            </a:extLst>
          </p:cNvPr>
          <p:cNvSpPr>
            <a:spLocks xmlns:a="http://schemas.openxmlformats.org/drawingml/2006/main" noGrp="1"/>
          </p:cNvSpPr>
          <p:nvPr/>
        </p:nvSpPr>
        <p:spPr>
          <a:xfrm xmlns:a="http://schemas.openxmlformats.org/drawingml/2006/main">
            <a:off x="609600" y="64389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506574"/>
                </a:solidFill>
                <a:latin typeface="Arial"/>
                <a:ea typeface="Arial"/>
                <a:cs typeface="Arial"/>
              </a:defRPr>
            </a:defPPr>
          </a:lstStyle>
          <a:p xmlns:a="http://schemas.openxmlformats.org/drawingml/2006/main">
            <a:pPr>
              <a:defRPr sz="1050" b="0">
                <a:solidFill>
                  <a:srgbClr val="506574"/>
                </a:solidFill>
                <a:latin typeface="Arial"/>
                <a:ea typeface="Arial"/>
                <a:cs typeface="Arial"/>
              </a:defRPr>
            </a:pPr>
            <a:r>
              <a:rPr sz="1050" b="0">
                <a:solidFill>
                  <a:srgbClr val="506574"/>
                </a:solidFill>
                <a:latin typeface="Arial"/>
                <a:ea typeface="Arial"/>
                <a:cs typeface="Arial"/>
              </a:rPr>
              <a:t>CS 582 Group 2   full   09/12</a:t>
            </a:r>
          </a:p>
        </p:txBody>
      </p:sp>
    </p:spTree>
    <p:extLst>
      <p:ext uri="{BB962C8B-B14F-4D97-AF65-F5344CB8AC3E}">
        <p14:creationId xmlns:p14="http://schemas.microsoft.com/office/powerpoint/2010/main" val="1888036063"/>
      </p:ext>
    </p:extLst>
  </p:cSld>
</p:sld>
</file>

<file path=ppt/slides/slide10.xml><?xml version="1.0" encoding="utf-8"?>
<p:sld xmlns:p="http://schemas.openxmlformats.org/presentationml/2006/main">
  <p:cSld>
    <p:bg>
      <p:bgPr>
        <a:solidFill xmlns:a="http://schemas.openxmlformats.org/drawingml/2006/main">
          <a:srgbClr val="F4F7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242BE1B-30C4-4A1D-B894-404C5C2656EE}"/>
              </a:ext>
            </a:extLst>
          </p:cNvPr>
          <p:cNvSpPr>
            <a:spLocks xmlns:a="http://schemas.openxmlformats.org/drawingml/2006/main" noGrp="1"/>
          </p:cNvSpPr>
          <p:nvPr/>
        </p:nvSpPr>
        <p:spPr>
          <a:xfrm xmlns:a="http://schemas.openxmlformats.org/drawingml/2006/main">
            <a:off x="609600" y="2857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1">
                <a:solidFill>
                  <a:srgbClr val="127D88"/>
                </a:solidFill>
                <a:latin typeface="Arial"/>
                <a:ea typeface="Arial"/>
                <a:cs typeface="Arial"/>
              </a:defRPr>
            </a:defPPr>
          </a:lstStyle>
          <a:p xmlns:a="http://schemas.openxmlformats.org/drawingml/2006/main">
            <a:pPr>
              <a:defRPr sz="1200" b="1">
                <a:solidFill>
                  <a:srgbClr val="127D88"/>
                </a:solidFill>
                <a:latin typeface="Arial"/>
                <a:ea typeface="Arial"/>
                <a:cs typeface="Arial"/>
              </a:defRPr>
            </a:pPr>
            <a:r>
              <a:rPr sz="1200" b="1">
                <a:solidFill>
                  <a:srgbClr val="127D88"/>
                </a:solidFill>
                <a:latin typeface="Arial"/>
                <a:ea typeface="Arial"/>
                <a:cs typeface="Arial"/>
              </a:rPr>
              <a:t>CS 582 / GROUP 2 / 10</a:t>
            </a:r>
          </a:p>
        </p:txBody>
      </p:sp>
      <p:sp>
        <p:nvSpPr>
          <p:cNvPr id="2" name="">
            <a:extLst xmlns:a="http://schemas.openxmlformats.org/drawingml/2006/main">
              <a:ext uri="{FF2B5EF4-FFF2-40B4-BE49-F238E27FC236}">
                <a16:creationId xmlns:a16="http://schemas.microsoft.com/office/drawing/2014/main" id="{BE826A55-7B11-40C8-A3DC-5757D8FCDC01}"/>
              </a:ext>
            </a:extLst>
          </p:cNvPr>
          <p:cNvSpPr>
            <a:spLocks xmlns:a="http://schemas.openxmlformats.org/drawingml/2006/main" noGrp="1"/>
          </p:cNvSpPr>
          <p:nvPr/>
        </p:nvSpPr>
        <p:spPr>
          <a:xfrm xmlns:a="http://schemas.openxmlformats.org/drawingml/2006/main">
            <a:off x="609600" y="809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22A3A"/>
                </a:solidFill>
                <a:latin typeface="Arial"/>
                <a:ea typeface="Arial"/>
                <a:cs typeface="Arial"/>
              </a:defRPr>
            </a:defPPr>
          </a:lstStyle>
          <a:p xmlns:a="http://schemas.openxmlformats.org/drawingml/2006/main">
            <a:pPr>
              <a:defRPr sz="3150" b="1">
                <a:solidFill>
                  <a:srgbClr val="122A3A"/>
                </a:solidFill>
                <a:latin typeface="Arial"/>
                <a:ea typeface="Arial"/>
                <a:cs typeface="Arial"/>
              </a:defRPr>
            </a:pPr>
            <a:r>
              <a:rPr sz="3150" b="1">
                <a:solidFill>
                  <a:srgbClr val="122A3A"/>
                </a:solidFill>
                <a:latin typeface="Arial"/>
                <a:ea typeface="Arial"/>
                <a:cs typeface="Arial"/>
              </a:rPr>
              <a:t>Reasons and evidence quality</a:t>
            </a:r>
          </a:p>
        </p:txBody>
      </p:sp>
      <p:sp>
        <p:nvSpPr>
          <p:cNvPr id="3" name="">
            <a:extLst xmlns:a="http://schemas.openxmlformats.org/drawingml/2006/main">
              <a:ext uri="{FF2B5EF4-FFF2-40B4-BE49-F238E27FC236}">
                <a16:creationId xmlns:a16="http://schemas.microsoft.com/office/drawing/2014/main" id="{FBF3D8BF-8EE5-4231-B639-F98317256C9B}"/>
              </a:ext>
            </a:extLst>
          </p:cNvPr>
          <p:cNvSpPr>
            <a:spLocks xmlns:a="http://schemas.openxmlformats.org/drawingml/2006/main" noGrp="1"/>
          </p:cNvSpPr>
          <p:nvPr/>
        </p:nvSpPr>
        <p:spPr>
          <a:xfrm xmlns:a="http://schemas.openxmlformats.org/drawingml/2006/main">
            <a:off x="723900" y="1981200"/>
            <a:ext cx="1078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22A3A"/>
                </a:solidFill>
                <a:latin typeface="Arial"/>
                <a:ea typeface="Arial"/>
                <a:cs typeface="Arial"/>
              </a:defRPr>
            </a:defPPr>
          </a:lstStyle>
          <a:p xmlns:a="http://schemas.openxmlformats.org/drawingml/2006/main">
            <a:pPr>
              <a:defRPr sz="2250" b="0">
                <a:solidFill>
                  <a:srgbClr val="122A3A"/>
                </a:solidFill>
                <a:latin typeface="Arial"/>
                <a:ea typeface="Arial"/>
                <a:cs typeface="Arial"/>
              </a:defRPr>
            </a:pPr>
            <a:r>
              <a:rPr sz="2250" b="0">
                <a:solidFill>
                  <a:srgbClr val="122A3A"/>
                </a:solidFill>
                <a:latin typeface="Arial"/>
                <a:ea typeface="Arial"/>
                <a:cs typeface="Arial"/>
              </a:rPr>
              <a:t>Local sensitivities show model behavior, not causal effects</a:t>
            </a:r>
          </a:p>
        </p:txBody>
      </p:sp>
      <p:sp>
        <p:nvSpPr>
          <p:cNvPr id="4" name="">
            <a:extLst xmlns:a="http://schemas.openxmlformats.org/drawingml/2006/main">
              <a:ext uri="{FF2B5EF4-FFF2-40B4-BE49-F238E27FC236}">
                <a16:creationId xmlns:a16="http://schemas.microsoft.com/office/drawing/2014/main" id="{16177714-55C8-40BA-98BF-622AD93F8827}"/>
              </a:ext>
            </a:extLst>
          </p:cNvPr>
          <p:cNvSpPr>
            <a:spLocks xmlns:a="http://schemas.openxmlformats.org/drawingml/2006/main" noGrp="1"/>
          </p:cNvSpPr>
          <p:nvPr/>
        </p:nvSpPr>
        <p:spPr>
          <a:xfrm xmlns:a="http://schemas.openxmlformats.org/drawingml/2006/main">
            <a:off x="723900" y="2886075"/>
            <a:ext cx="1078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22A3A"/>
                </a:solidFill>
                <a:latin typeface="Arial"/>
                <a:ea typeface="Arial"/>
                <a:cs typeface="Arial"/>
              </a:defRPr>
            </a:defPPr>
          </a:lstStyle>
          <a:p xmlns:a="http://schemas.openxmlformats.org/drawingml/2006/main">
            <a:pPr>
              <a:defRPr sz="2250" b="0">
                <a:solidFill>
                  <a:srgbClr val="122A3A"/>
                </a:solidFill>
                <a:latin typeface="Arial"/>
                <a:ea typeface="Arial"/>
                <a:cs typeface="Arial"/>
              </a:defRPr>
            </a:pPr>
            <a:r>
              <a:rPr sz="2250" b="0">
                <a:solidFill>
                  <a:srgbClr val="122A3A"/>
                </a:solidFill>
                <a:latin typeface="Arial"/>
                <a:ea typeface="Arial"/>
                <a:cs typeface="Arial"/>
              </a:rPr>
              <a:t>RF TreeSHAP provides a separate checked explanation diagnostic</a:t>
            </a:r>
          </a:p>
        </p:txBody>
      </p:sp>
      <p:sp>
        <p:nvSpPr>
          <p:cNvPr id="5" name="">
            <a:extLst xmlns:a="http://schemas.openxmlformats.org/drawingml/2006/main">
              <a:ext uri="{FF2B5EF4-FFF2-40B4-BE49-F238E27FC236}">
                <a16:creationId xmlns:a16="http://schemas.microsoft.com/office/drawing/2014/main" id="{F7803485-54C3-42E4-BDB3-6DF6C1C9DCBB}"/>
              </a:ext>
            </a:extLst>
          </p:cNvPr>
          <p:cNvSpPr>
            <a:spLocks xmlns:a="http://schemas.openxmlformats.org/drawingml/2006/main" noGrp="1"/>
          </p:cNvSpPr>
          <p:nvPr/>
        </p:nvSpPr>
        <p:spPr>
          <a:xfrm xmlns:a="http://schemas.openxmlformats.org/drawingml/2006/main">
            <a:off x="723900" y="3790950"/>
            <a:ext cx="1078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22A3A"/>
                </a:solidFill>
                <a:latin typeface="Arial"/>
                <a:ea typeface="Arial"/>
                <a:cs typeface="Arial"/>
              </a:defRPr>
            </a:defPPr>
          </a:lstStyle>
          <a:p xmlns:a="http://schemas.openxmlformats.org/drawingml/2006/main">
            <a:pPr>
              <a:defRPr sz="2250" b="0">
                <a:solidFill>
                  <a:srgbClr val="122A3A"/>
                </a:solidFill>
                <a:latin typeface="Arial"/>
                <a:ea typeface="Arial"/>
                <a:cs typeface="Arial"/>
              </a:defRPr>
            </a:pPr>
            <a:r>
              <a:rPr sz="2250" b="0">
                <a:solidFill>
                  <a:srgbClr val="122A3A"/>
                </a:solidFill>
                <a:latin typeface="Arial"/>
                <a:ea typeface="Arial"/>
                <a:cs typeface="Arial"/>
              </a:rPr>
              <a:t>1,088 of 1,589 scored records lack account information</a:t>
            </a:r>
          </a:p>
        </p:txBody>
      </p:sp>
      <p:sp>
        <p:nvSpPr>
          <p:cNvPr id="6" name="">
            <a:extLst xmlns:a="http://schemas.openxmlformats.org/drawingml/2006/main">
              <a:ext uri="{FF2B5EF4-FFF2-40B4-BE49-F238E27FC236}">
                <a16:creationId xmlns:a16="http://schemas.microsoft.com/office/drawing/2014/main" id="{097EE35E-3AF0-46A3-A4FC-21DB1482F079}"/>
              </a:ext>
            </a:extLst>
          </p:cNvPr>
          <p:cNvSpPr>
            <a:spLocks xmlns:a="http://schemas.openxmlformats.org/drawingml/2006/main" noGrp="1"/>
          </p:cNvSpPr>
          <p:nvPr/>
        </p:nvSpPr>
        <p:spPr>
          <a:xfrm xmlns:a="http://schemas.openxmlformats.org/drawingml/2006/main">
            <a:off x="723900" y="4695825"/>
            <a:ext cx="1078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22A3A"/>
                </a:solidFill>
                <a:latin typeface="Arial"/>
                <a:ea typeface="Arial"/>
                <a:cs typeface="Arial"/>
              </a:defRPr>
            </a:defPPr>
          </a:lstStyle>
          <a:p xmlns:a="http://schemas.openxmlformats.org/drawingml/2006/main">
            <a:pPr>
              <a:defRPr sz="2250" b="0">
                <a:solidFill>
                  <a:srgbClr val="122A3A"/>
                </a:solidFill>
                <a:latin typeface="Arial"/>
                <a:ea typeface="Arial"/>
                <a:cs typeface="Arial"/>
              </a:defRPr>
            </a:pPr>
            <a:r>
              <a:rPr sz="2250" b="0">
                <a:solidFill>
                  <a:srgbClr val="122A3A"/>
                </a:solidFill>
                <a:latin typeface="Arial"/>
                <a:ea typeface="Arial"/>
                <a:cs typeface="Arial"/>
              </a:rPr>
              <a:t>Missing data and weak prediction remain visible in the output</a:t>
            </a:r>
          </a:p>
        </p:txBody>
      </p:sp>
      <p:sp>
        <p:nvSpPr>
          <p:cNvPr id="7" name="">
            <a:extLst xmlns:a="http://schemas.openxmlformats.org/drawingml/2006/main">
              <a:ext uri="{FF2B5EF4-FFF2-40B4-BE49-F238E27FC236}">
                <a16:creationId xmlns:a16="http://schemas.microsoft.com/office/drawing/2014/main" id="{45A4CC98-8713-4AB6-87F5-B33406D910A9}"/>
              </a:ext>
            </a:extLst>
          </p:cNvPr>
          <p:cNvSpPr>
            <a:spLocks xmlns:a="http://schemas.openxmlformats.org/drawingml/2006/main" noGrp="1"/>
          </p:cNvSpPr>
          <p:nvPr/>
        </p:nvSpPr>
        <p:spPr>
          <a:xfrm xmlns:a="http://schemas.openxmlformats.org/drawingml/2006/main">
            <a:off x="609600" y="64389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506574"/>
                </a:solidFill>
                <a:latin typeface="Arial"/>
                <a:ea typeface="Arial"/>
                <a:cs typeface="Arial"/>
              </a:defRPr>
            </a:defPPr>
          </a:lstStyle>
          <a:p xmlns:a="http://schemas.openxmlformats.org/drawingml/2006/main">
            <a:pPr>
              <a:defRPr sz="1050" b="0">
                <a:solidFill>
                  <a:srgbClr val="506574"/>
                </a:solidFill>
                <a:latin typeface="Arial"/>
                <a:ea typeface="Arial"/>
                <a:cs typeface="Arial"/>
              </a:defRPr>
            </a:pPr>
            <a:r>
              <a:rPr sz="1050" b="0">
                <a:solidFill>
                  <a:srgbClr val="506574"/>
                </a:solidFill>
                <a:latin typeface="Arial"/>
                <a:ea typeface="Arial"/>
                <a:cs typeface="Arial"/>
              </a:rPr>
              <a:t>CS 582 Group 2   full   10/12</a:t>
            </a:r>
          </a:p>
        </p:txBody>
      </p:sp>
    </p:spTree>
    <p:extLst>
      <p:ext uri="{BB962C8B-B14F-4D97-AF65-F5344CB8AC3E}">
        <p14:creationId xmlns:p14="http://schemas.microsoft.com/office/powerpoint/2010/main" val="330526809"/>
      </p:ext>
    </p:extLst>
  </p:cSld>
</p:sld>
</file>

<file path=ppt/slides/slide11.xml><?xml version="1.0" encoding="utf-8"?>
<p:sld xmlns:p="http://schemas.openxmlformats.org/presentationml/2006/main">
  <p:cSld>
    <p:bg>
      <p:bgPr>
        <a:solidFill xmlns:a="http://schemas.openxmlformats.org/drawingml/2006/main">
          <a:srgbClr val="F4F7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3FEE9DE-90EC-4328-8F5E-460D5467ADFA}"/>
              </a:ext>
            </a:extLst>
          </p:cNvPr>
          <p:cNvSpPr>
            <a:spLocks xmlns:a="http://schemas.openxmlformats.org/drawingml/2006/main" noGrp="1"/>
          </p:cNvSpPr>
          <p:nvPr/>
        </p:nvSpPr>
        <p:spPr>
          <a:xfrm xmlns:a="http://schemas.openxmlformats.org/drawingml/2006/main">
            <a:off x="609600" y="2857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1">
                <a:solidFill>
                  <a:srgbClr val="127D88"/>
                </a:solidFill>
                <a:latin typeface="Arial"/>
                <a:ea typeface="Arial"/>
                <a:cs typeface="Arial"/>
              </a:defRPr>
            </a:defPPr>
          </a:lstStyle>
          <a:p xmlns:a="http://schemas.openxmlformats.org/drawingml/2006/main">
            <a:pPr>
              <a:defRPr sz="1200" b="1">
                <a:solidFill>
                  <a:srgbClr val="127D88"/>
                </a:solidFill>
                <a:latin typeface="Arial"/>
                <a:ea typeface="Arial"/>
                <a:cs typeface="Arial"/>
              </a:defRPr>
            </a:pPr>
            <a:r>
              <a:rPr sz="1200" b="1">
                <a:solidFill>
                  <a:srgbClr val="127D88"/>
                </a:solidFill>
                <a:latin typeface="Arial"/>
                <a:ea typeface="Arial"/>
                <a:cs typeface="Arial"/>
              </a:rPr>
              <a:t>CS 582 / GROUP 2 / 11</a:t>
            </a:r>
          </a:p>
        </p:txBody>
      </p:sp>
      <p:sp>
        <p:nvSpPr>
          <p:cNvPr id="2" name="">
            <a:extLst xmlns:a="http://schemas.openxmlformats.org/drawingml/2006/main">
              <a:ext uri="{FF2B5EF4-FFF2-40B4-BE49-F238E27FC236}">
                <a16:creationId xmlns:a16="http://schemas.microsoft.com/office/drawing/2014/main" id="{C632F9BB-DCAD-49EE-886B-A83B8C91757D}"/>
              </a:ext>
            </a:extLst>
          </p:cNvPr>
          <p:cNvSpPr>
            <a:spLocks xmlns:a="http://schemas.openxmlformats.org/drawingml/2006/main" noGrp="1"/>
          </p:cNvSpPr>
          <p:nvPr/>
        </p:nvSpPr>
        <p:spPr>
          <a:xfrm xmlns:a="http://schemas.openxmlformats.org/drawingml/2006/main">
            <a:off x="609600" y="809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22A3A"/>
                </a:solidFill>
                <a:latin typeface="Arial"/>
                <a:ea typeface="Arial"/>
                <a:cs typeface="Arial"/>
              </a:defRPr>
            </a:defPPr>
          </a:lstStyle>
          <a:p xmlns:a="http://schemas.openxmlformats.org/drawingml/2006/main">
            <a:pPr>
              <a:defRPr sz="3150" b="1">
                <a:solidFill>
                  <a:srgbClr val="122A3A"/>
                </a:solidFill>
                <a:latin typeface="Arial"/>
                <a:ea typeface="Arial"/>
                <a:cs typeface="Arial"/>
              </a:defRPr>
            </a:pPr>
            <a:r>
              <a:rPr sz="3150" b="1">
                <a:solidFill>
                  <a:srgbClr val="122A3A"/>
                </a:solidFill>
                <a:latin typeface="Arial"/>
                <a:ea typeface="Arial"/>
                <a:cs typeface="Arial"/>
              </a:rPr>
              <a:t>The contribution and its limits</a:t>
            </a:r>
          </a:p>
        </p:txBody>
      </p:sp>
      <p:sp>
        <p:nvSpPr>
          <p:cNvPr id="3" name="">
            <a:extLst xmlns:a="http://schemas.openxmlformats.org/drawingml/2006/main">
              <a:ext uri="{FF2B5EF4-FFF2-40B4-BE49-F238E27FC236}">
                <a16:creationId xmlns:a16="http://schemas.microsoft.com/office/drawing/2014/main" id="{6BA7E266-A3CE-4398-A3A8-44BC86EBD009}"/>
              </a:ext>
            </a:extLst>
          </p:cNvPr>
          <p:cNvSpPr>
            <a:spLocks xmlns:a="http://schemas.openxmlformats.org/drawingml/2006/main" noGrp="1"/>
          </p:cNvSpPr>
          <p:nvPr/>
        </p:nvSpPr>
        <p:spPr>
          <a:xfrm xmlns:a="http://schemas.openxmlformats.org/drawingml/2006/main">
            <a:off x="723900" y="1981200"/>
            <a:ext cx="1078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22A3A"/>
                </a:solidFill>
                <a:latin typeface="Arial"/>
                <a:ea typeface="Arial"/>
                <a:cs typeface="Arial"/>
              </a:defRPr>
            </a:defPPr>
          </a:lstStyle>
          <a:p xmlns:a="http://schemas.openxmlformats.org/drawingml/2006/main">
            <a:pPr>
              <a:defRPr sz="2250" b="0">
                <a:solidFill>
                  <a:srgbClr val="122A3A"/>
                </a:solidFill>
                <a:latin typeface="Arial"/>
                <a:ea typeface="Arial"/>
                <a:cs typeface="Arial"/>
              </a:defRPr>
            </a:pPr>
            <a:r>
              <a:rPr sz="2250" b="0">
                <a:solidFill>
                  <a:srgbClr val="122A3A"/>
                </a:solidFill>
                <a:latin typeface="Arial"/>
                <a:ea typeface="Arial"/>
                <a:cs typeface="Arial"/>
              </a:rPr>
              <a:t>Leakage audit plus a tested historical feature engine</a:t>
            </a:r>
          </a:p>
        </p:txBody>
      </p:sp>
      <p:sp>
        <p:nvSpPr>
          <p:cNvPr id="4" name="">
            <a:extLst xmlns:a="http://schemas.openxmlformats.org/drawingml/2006/main">
              <a:ext uri="{FF2B5EF4-FFF2-40B4-BE49-F238E27FC236}">
                <a16:creationId xmlns:a16="http://schemas.microsoft.com/office/drawing/2014/main" id="{1D8C9E58-330A-446F-8277-5B51785F35EA}"/>
              </a:ext>
            </a:extLst>
          </p:cNvPr>
          <p:cNvSpPr>
            <a:spLocks xmlns:a="http://schemas.openxmlformats.org/drawingml/2006/main" noGrp="1"/>
          </p:cNvSpPr>
          <p:nvPr/>
        </p:nvSpPr>
        <p:spPr>
          <a:xfrm xmlns:a="http://schemas.openxmlformats.org/drawingml/2006/main">
            <a:off x="723900" y="2886075"/>
            <a:ext cx="1078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22A3A"/>
                </a:solidFill>
                <a:latin typeface="Arial"/>
                <a:ea typeface="Arial"/>
                <a:cs typeface="Arial"/>
              </a:defRPr>
            </a:defPPr>
          </a:lstStyle>
          <a:p xmlns:a="http://schemas.openxmlformats.org/drawingml/2006/main">
            <a:pPr>
              <a:defRPr sz="2250" b="0">
                <a:solidFill>
                  <a:srgbClr val="122A3A"/>
                </a:solidFill>
                <a:latin typeface="Arial"/>
                <a:ea typeface="Arial"/>
                <a:cs typeface="Arial"/>
              </a:defRPr>
            </a:pPr>
            <a:r>
              <a:rPr sz="2250" b="0">
                <a:solidFill>
                  <a:srgbClr val="122A3A"/>
                </a:solidFill>
                <a:latin typeface="Arial"/>
                <a:ea typeface="Arial"/>
                <a:cs typeface="Arial"/>
              </a:rPr>
              <a:t>A deterministic assistant that links each action to evidence</a:t>
            </a:r>
          </a:p>
        </p:txBody>
      </p:sp>
      <p:sp>
        <p:nvSpPr>
          <p:cNvPr id="5" name="">
            <a:extLst xmlns:a="http://schemas.openxmlformats.org/drawingml/2006/main">
              <a:ext uri="{FF2B5EF4-FFF2-40B4-BE49-F238E27FC236}">
                <a16:creationId xmlns:a16="http://schemas.microsoft.com/office/drawing/2014/main" id="{5629C39D-168C-48C2-B05A-5C62CCEE72E7}"/>
              </a:ext>
            </a:extLst>
          </p:cNvPr>
          <p:cNvSpPr>
            <a:spLocks xmlns:a="http://schemas.openxmlformats.org/drawingml/2006/main" noGrp="1"/>
          </p:cNvSpPr>
          <p:nvPr/>
        </p:nvSpPr>
        <p:spPr>
          <a:xfrm xmlns:a="http://schemas.openxmlformats.org/drawingml/2006/main">
            <a:off x="723900" y="3790950"/>
            <a:ext cx="1078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22A3A"/>
                </a:solidFill>
                <a:latin typeface="Arial"/>
                <a:ea typeface="Arial"/>
                <a:cs typeface="Arial"/>
              </a:defRPr>
            </a:defPPr>
          </a:lstStyle>
          <a:p xmlns:a="http://schemas.openxmlformats.org/drawingml/2006/main">
            <a:pPr>
              <a:defRPr sz="2250" b="0">
                <a:solidFill>
                  <a:srgbClr val="122A3A"/>
                </a:solidFill>
                <a:latin typeface="Arial"/>
                <a:ea typeface="Arial"/>
                <a:cs typeface="Arial"/>
              </a:defRPr>
            </a:pPr>
            <a:r>
              <a:rPr sz="2250" b="0">
                <a:solidFill>
                  <a:srgbClr val="122A3A"/>
                </a:solidFill>
                <a:latin typeface="Arial"/>
                <a:ea typeface="Arial"/>
                <a:cs typeface="Arial"/>
              </a:rPr>
              <a:t>No new learning algorithm or demonstrated business improvement</a:t>
            </a:r>
          </a:p>
        </p:txBody>
      </p:sp>
      <p:sp>
        <p:nvSpPr>
          <p:cNvPr id="6" name="">
            <a:extLst xmlns:a="http://schemas.openxmlformats.org/drawingml/2006/main">
              <a:ext uri="{FF2B5EF4-FFF2-40B4-BE49-F238E27FC236}">
                <a16:creationId xmlns:a16="http://schemas.microsoft.com/office/drawing/2014/main" id="{15D91D21-115D-4B22-86D3-D63CD7D0A6C7}"/>
              </a:ext>
            </a:extLst>
          </p:cNvPr>
          <p:cNvSpPr>
            <a:spLocks xmlns:a="http://schemas.openxmlformats.org/drawingml/2006/main" noGrp="1"/>
          </p:cNvSpPr>
          <p:nvPr/>
        </p:nvSpPr>
        <p:spPr>
          <a:xfrm xmlns:a="http://schemas.openxmlformats.org/drawingml/2006/main">
            <a:off x="723900" y="4695825"/>
            <a:ext cx="1078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22A3A"/>
                </a:solidFill>
                <a:latin typeface="Arial"/>
                <a:ea typeface="Arial"/>
                <a:cs typeface="Arial"/>
              </a:defRPr>
            </a:defPPr>
          </a:lstStyle>
          <a:p xmlns:a="http://schemas.openxmlformats.org/drawingml/2006/main">
            <a:pPr>
              <a:defRPr sz="2250" b="0">
                <a:solidFill>
                  <a:srgbClr val="122A3A"/>
                </a:solidFill>
                <a:latin typeface="Arial"/>
                <a:ea typeface="Arial"/>
                <a:cs typeface="Arial"/>
              </a:defRPr>
            </a:pPr>
            <a:r>
              <a:rPr sz="2250" b="0">
                <a:solidFill>
                  <a:srgbClr val="122A3A"/>
                </a:solidFill>
                <a:latin typeface="Arial"/>
                <a:ea typeface="Arial"/>
                <a:cs typeface="Arial"/>
              </a:rPr>
              <a:t>Next evidence: richer pre-close activity and prospective evaluation</a:t>
            </a:r>
          </a:p>
        </p:txBody>
      </p:sp>
      <p:sp>
        <p:nvSpPr>
          <p:cNvPr id="7" name="">
            <a:extLst xmlns:a="http://schemas.openxmlformats.org/drawingml/2006/main">
              <a:ext uri="{FF2B5EF4-FFF2-40B4-BE49-F238E27FC236}">
                <a16:creationId xmlns:a16="http://schemas.microsoft.com/office/drawing/2014/main" id="{3C23DEBE-1D22-4E0D-A621-53E034336BE0}"/>
              </a:ext>
            </a:extLst>
          </p:cNvPr>
          <p:cNvSpPr>
            <a:spLocks xmlns:a="http://schemas.openxmlformats.org/drawingml/2006/main" noGrp="1"/>
          </p:cNvSpPr>
          <p:nvPr/>
        </p:nvSpPr>
        <p:spPr>
          <a:xfrm xmlns:a="http://schemas.openxmlformats.org/drawingml/2006/main">
            <a:off x="609600" y="64389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506574"/>
                </a:solidFill>
                <a:latin typeface="Arial"/>
                <a:ea typeface="Arial"/>
                <a:cs typeface="Arial"/>
              </a:defRPr>
            </a:defPPr>
          </a:lstStyle>
          <a:p xmlns:a="http://schemas.openxmlformats.org/drawingml/2006/main">
            <a:pPr>
              <a:defRPr sz="1050" b="0">
                <a:solidFill>
                  <a:srgbClr val="506574"/>
                </a:solidFill>
                <a:latin typeface="Arial"/>
                <a:ea typeface="Arial"/>
                <a:cs typeface="Arial"/>
              </a:defRPr>
            </a:pPr>
            <a:r>
              <a:rPr sz="1050" b="0">
                <a:solidFill>
                  <a:srgbClr val="506574"/>
                </a:solidFill>
                <a:latin typeface="Arial"/>
                <a:ea typeface="Arial"/>
                <a:cs typeface="Arial"/>
              </a:rPr>
              <a:t>CS 582 Group 2   full   11/12</a:t>
            </a:r>
          </a:p>
        </p:txBody>
      </p:sp>
    </p:spTree>
    <p:extLst>
      <p:ext uri="{BB962C8B-B14F-4D97-AF65-F5344CB8AC3E}">
        <p14:creationId xmlns:p14="http://schemas.microsoft.com/office/powerpoint/2010/main" val="335058913"/>
      </p:ext>
    </p:extLst>
  </p:cSld>
</p:sld>
</file>

<file path=ppt/slides/slide12.xml><?xml version="1.0" encoding="utf-8"?>
<p:sld xmlns:p="http://schemas.openxmlformats.org/presentationml/2006/main">
  <p:cSld>
    <p:bg>
      <p:bgPr>
        <a:solidFill xmlns:a="http://schemas.openxmlformats.org/drawingml/2006/main">
          <a:srgbClr val="F4F7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A3F2DA2-7E50-4561-8D57-B6BDF681A6F1}"/>
              </a:ext>
            </a:extLst>
          </p:cNvPr>
          <p:cNvSpPr>
            <a:spLocks xmlns:a="http://schemas.openxmlformats.org/drawingml/2006/main" noGrp="1"/>
          </p:cNvSpPr>
          <p:nvPr/>
        </p:nvSpPr>
        <p:spPr>
          <a:xfrm xmlns:a="http://schemas.openxmlformats.org/drawingml/2006/main">
            <a:off x="609600" y="2857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1">
                <a:solidFill>
                  <a:srgbClr val="127D88"/>
                </a:solidFill>
                <a:latin typeface="Arial"/>
                <a:ea typeface="Arial"/>
                <a:cs typeface="Arial"/>
              </a:defRPr>
            </a:defPPr>
          </a:lstStyle>
          <a:p xmlns:a="http://schemas.openxmlformats.org/drawingml/2006/main">
            <a:pPr>
              <a:defRPr sz="1200" b="1">
                <a:solidFill>
                  <a:srgbClr val="127D88"/>
                </a:solidFill>
                <a:latin typeface="Arial"/>
                <a:ea typeface="Arial"/>
                <a:cs typeface="Arial"/>
              </a:defRPr>
            </a:pPr>
            <a:r>
              <a:rPr sz="1200" b="1">
                <a:solidFill>
                  <a:srgbClr val="127D88"/>
                </a:solidFill>
                <a:latin typeface="Arial"/>
                <a:ea typeface="Arial"/>
                <a:cs typeface="Arial"/>
              </a:rPr>
              <a:t>CS 582 / GROUP 2 / 12</a:t>
            </a:r>
          </a:p>
        </p:txBody>
      </p:sp>
      <p:sp>
        <p:nvSpPr>
          <p:cNvPr id="2" name="">
            <a:extLst xmlns:a="http://schemas.openxmlformats.org/drawingml/2006/main">
              <a:ext uri="{FF2B5EF4-FFF2-40B4-BE49-F238E27FC236}">
                <a16:creationId xmlns:a16="http://schemas.microsoft.com/office/drawing/2014/main" id="{BD8AA4A5-7EC1-413C-86F8-39407E541596}"/>
              </a:ext>
            </a:extLst>
          </p:cNvPr>
          <p:cNvSpPr>
            <a:spLocks xmlns:a="http://schemas.openxmlformats.org/drawingml/2006/main" noGrp="1"/>
          </p:cNvSpPr>
          <p:nvPr/>
        </p:nvSpPr>
        <p:spPr>
          <a:xfrm xmlns:a="http://schemas.openxmlformats.org/drawingml/2006/main">
            <a:off x="609600" y="809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22A3A"/>
                </a:solidFill>
                <a:latin typeface="Arial"/>
                <a:ea typeface="Arial"/>
                <a:cs typeface="Arial"/>
              </a:defRPr>
            </a:defPPr>
          </a:lstStyle>
          <a:p xmlns:a="http://schemas.openxmlformats.org/drawingml/2006/main">
            <a:pPr>
              <a:defRPr sz="3150" b="1">
                <a:solidFill>
                  <a:srgbClr val="122A3A"/>
                </a:solidFill>
                <a:latin typeface="Arial"/>
                <a:ea typeface="Arial"/>
                <a:cs typeface="Arial"/>
              </a:defRPr>
            </a:pPr>
            <a:r>
              <a:rPr sz="3150" b="1">
                <a:solidFill>
                  <a:srgbClr val="122A3A"/>
                </a:solidFill>
                <a:latin typeface="Arial"/>
                <a:ea typeface="Arial"/>
                <a:cs typeface="Arial"/>
              </a:rPr>
              <a:t>Reproducible delivery and next steps</a:t>
            </a:r>
          </a:p>
        </p:txBody>
      </p:sp>
      <p:sp>
        <p:nvSpPr>
          <p:cNvPr id="3" name="">
            <a:extLst xmlns:a="http://schemas.openxmlformats.org/drawingml/2006/main">
              <a:ext uri="{FF2B5EF4-FFF2-40B4-BE49-F238E27FC236}">
                <a16:creationId xmlns:a16="http://schemas.microsoft.com/office/drawing/2014/main" id="{61E90687-D3A1-4918-9C93-56709DE232E6}"/>
              </a:ext>
            </a:extLst>
          </p:cNvPr>
          <p:cNvSpPr>
            <a:spLocks xmlns:a="http://schemas.openxmlformats.org/drawingml/2006/main" noGrp="1"/>
          </p:cNvSpPr>
          <p:nvPr/>
        </p:nvSpPr>
        <p:spPr>
          <a:xfrm xmlns:a="http://schemas.openxmlformats.org/drawingml/2006/main">
            <a:off x="723900" y="1981200"/>
            <a:ext cx="1078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22A3A"/>
                </a:solidFill>
                <a:latin typeface="Arial"/>
                <a:ea typeface="Arial"/>
                <a:cs typeface="Arial"/>
              </a:defRPr>
            </a:defPPr>
          </a:lstStyle>
          <a:p xmlns:a="http://schemas.openxmlformats.org/drawingml/2006/main">
            <a:pPr>
              <a:defRPr sz="2250" b="0">
                <a:solidFill>
                  <a:srgbClr val="122A3A"/>
                </a:solidFill>
                <a:latin typeface="Arial"/>
                <a:ea typeface="Arial"/>
                <a:cs typeface="Arial"/>
              </a:defRPr>
            </a:pPr>
            <a:r>
              <a:rPr sz="2250" b="0">
                <a:solidFill>
                  <a:srgbClr val="122A3A"/>
                </a:solidFill>
                <a:latin typeface="Arial"/>
                <a:ea typeface="Arial"/>
                <a:cs typeface="Arial"/>
              </a:rPr>
              <a:t>One CPU command regenerates the comparison and deliverables</a:t>
            </a:r>
          </a:p>
        </p:txBody>
      </p:sp>
      <p:sp>
        <p:nvSpPr>
          <p:cNvPr id="4" name="">
            <a:extLst xmlns:a="http://schemas.openxmlformats.org/drawingml/2006/main">
              <a:ext uri="{FF2B5EF4-FFF2-40B4-BE49-F238E27FC236}">
                <a16:creationId xmlns:a16="http://schemas.microsoft.com/office/drawing/2014/main" id="{95436F06-88DC-4767-BDDA-1073DAD9BACA}"/>
              </a:ext>
            </a:extLst>
          </p:cNvPr>
          <p:cNvSpPr>
            <a:spLocks xmlns:a="http://schemas.openxmlformats.org/drawingml/2006/main" noGrp="1"/>
          </p:cNvSpPr>
          <p:nvPr/>
        </p:nvSpPr>
        <p:spPr>
          <a:xfrm xmlns:a="http://schemas.openxmlformats.org/drawingml/2006/main">
            <a:off x="723900" y="2886075"/>
            <a:ext cx="1078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22A3A"/>
                </a:solidFill>
                <a:latin typeface="Arial"/>
                <a:ea typeface="Arial"/>
                <a:cs typeface="Arial"/>
              </a:defRPr>
            </a:defPPr>
          </a:lstStyle>
          <a:p xmlns:a="http://schemas.openxmlformats.org/drawingml/2006/main">
            <a:pPr>
              <a:defRPr sz="2250" b="0">
                <a:solidFill>
                  <a:srgbClr val="122A3A"/>
                </a:solidFill>
                <a:latin typeface="Arial"/>
                <a:ea typeface="Arial"/>
                <a:cs typeface="Arial"/>
              </a:defRPr>
            </a:pPr>
            <a:r>
              <a:rPr sz="2250" b="0">
                <a:solidFill>
                  <a:srgbClr val="122A3A"/>
                </a:solidFill>
                <a:latin typeface="Arial"/>
                <a:ea typeface="Arial"/>
                <a:cs typeface="Arial"/>
              </a:rPr>
              <a:t>Tests cover time leakage, six models, saved-model parity and rules</a:t>
            </a:r>
          </a:p>
        </p:txBody>
      </p:sp>
      <p:sp>
        <p:nvSpPr>
          <p:cNvPr id="5" name="">
            <a:extLst xmlns:a="http://schemas.openxmlformats.org/drawingml/2006/main">
              <a:ext uri="{FF2B5EF4-FFF2-40B4-BE49-F238E27FC236}">
                <a16:creationId xmlns:a16="http://schemas.microsoft.com/office/drawing/2014/main" id="{D2625A29-7A28-4846-9B94-3D1490B44DAA}"/>
              </a:ext>
            </a:extLst>
          </p:cNvPr>
          <p:cNvSpPr>
            <a:spLocks xmlns:a="http://schemas.openxmlformats.org/drawingml/2006/main" noGrp="1"/>
          </p:cNvSpPr>
          <p:nvPr/>
        </p:nvSpPr>
        <p:spPr>
          <a:xfrm xmlns:a="http://schemas.openxmlformats.org/drawingml/2006/main">
            <a:off x="723900" y="3790950"/>
            <a:ext cx="1078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22A3A"/>
                </a:solidFill>
                <a:latin typeface="Arial"/>
                <a:ea typeface="Arial"/>
                <a:cs typeface="Arial"/>
              </a:defRPr>
            </a:defPPr>
          </a:lstStyle>
          <a:p xmlns:a="http://schemas.openxmlformats.org/drawingml/2006/main">
            <a:pPr>
              <a:defRPr sz="2250" b="0">
                <a:solidFill>
                  <a:srgbClr val="122A3A"/>
                </a:solidFill>
                <a:latin typeface="Arial"/>
                <a:ea typeface="Arial"/>
                <a:cs typeface="Arial"/>
              </a:defRPr>
            </a:pPr>
            <a:r>
              <a:rPr sz="2250" b="0">
                <a:solidFill>
                  <a:srgbClr val="122A3A"/>
                </a:solidFill>
                <a:latin typeface="Arial"/>
                <a:ea typeface="Arial"/>
                <a:cs typeface="Arial"/>
              </a:rPr>
              <a:t>Notebook, demo guide, paper and editable slides are included</a:t>
            </a:r>
          </a:p>
        </p:txBody>
      </p:sp>
      <p:sp>
        <p:nvSpPr>
          <p:cNvPr id="6" name="">
            <a:extLst xmlns:a="http://schemas.openxmlformats.org/drawingml/2006/main">
              <a:ext uri="{FF2B5EF4-FFF2-40B4-BE49-F238E27FC236}">
                <a16:creationId xmlns:a16="http://schemas.microsoft.com/office/drawing/2014/main" id="{B5CECA30-FE6D-4600-906C-543E9B8490D6}"/>
              </a:ext>
            </a:extLst>
          </p:cNvPr>
          <p:cNvSpPr>
            <a:spLocks xmlns:a="http://schemas.openxmlformats.org/drawingml/2006/main" noGrp="1"/>
          </p:cNvSpPr>
          <p:nvPr/>
        </p:nvSpPr>
        <p:spPr>
          <a:xfrm xmlns:a="http://schemas.openxmlformats.org/drawingml/2006/main">
            <a:off x="723900" y="4695825"/>
            <a:ext cx="10782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22A3A"/>
                </a:solidFill>
                <a:latin typeface="Arial"/>
                <a:ea typeface="Arial"/>
                <a:cs typeface="Arial"/>
              </a:defRPr>
            </a:defPPr>
          </a:lstStyle>
          <a:p xmlns:a="http://schemas.openxmlformats.org/drawingml/2006/main">
            <a:pPr>
              <a:defRPr sz="2250" b="0">
                <a:solidFill>
                  <a:srgbClr val="122A3A"/>
                </a:solidFill>
                <a:latin typeface="Arial"/>
                <a:ea typeface="Arial"/>
                <a:cs typeface="Arial"/>
              </a:defRPr>
            </a:pPr>
            <a:r>
              <a:rPr sz="2250" b="0">
                <a:solidFill>
                  <a:srgbClr val="122A3A"/>
                </a:solidFill>
                <a:latin typeface="Arial"/>
                <a:ea typeface="Arial"/>
                <a:cs typeface="Arial"/>
              </a:rPr>
              <a:t>Team checks Colab, slide import, authorship and final submission</a:t>
            </a:r>
          </a:p>
        </p:txBody>
      </p:sp>
      <p:sp>
        <p:nvSpPr>
          <p:cNvPr id="7" name="">
            <a:extLst xmlns:a="http://schemas.openxmlformats.org/drawingml/2006/main">
              <a:ext uri="{FF2B5EF4-FFF2-40B4-BE49-F238E27FC236}">
                <a16:creationId xmlns:a16="http://schemas.microsoft.com/office/drawing/2014/main" id="{80F7057A-9A85-4AD7-A6EC-200A36792892}"/>
              </a:ext>
            </a:extLst>
          </p:cNvPr>
          <p:cNvSpPr>
            <a:spLocks xmlns:a="http://schemas.openxmlformats.org/drawingml/2006/main" noGrp="1"/>
          </p:cNvSpPr>
          <p:nvPr/>
        </p:nvSpPr>
        <p:spPr>
          <a:xfrm xmlns:a="http://schemas.openxmlformats.org/drawingml/2006/main">
            <a:off x="609600" y="64389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506574"/>
                </a:solidFill>
                <a:latin typeface="Arial"/>
                <a:ea typeface="Arial"/>
                <a:cs typeface="Arial"/>
              </a:defRPr>
            </a:defPPr>
          </a:lstStyle>
          <a:p xmlns:a="http://schemas.openxmlformats.org/drawingml/2006/main">
            <a:pPr>
              <a:defRPr sz="1050" b="0">
                <a:solidFill>
                  <a:srgbClr val="506574"/>
                </a:solidFill>
                <a:latin typeface="Arial"/>
                <a:ea typeface="Arial"/>
                <a:cs typeface="Arial"/>
              </a:defRPr>
            </a:pPr>
            <a:r>
              <a:rPr sz="1050" b="0">
                <a:solidFill>
                  <a:srgbClr val="506574"/>
                </a:solidFill>
                <a:latin typeface="Arial"/>
                <a:ea typeface="Arial"/>
                <a:cs typeface="Arial"/>
              </a:rPr>
              <a:t>CS 582 Group 2   full   12/12</a:t>
            </a:r>
          </a:p>
        </p:txBody>
      </p:sp>
    </p:spTree>
    <p:extLst>
      <p:ext uri="{BB962C8B-B14F-4D97-AF65-F5344CB8AC3E}">
        <p14:creationId xmlns:p14="http://schemas.microsoft.com/office/powerpoint/2010/main" val="15193542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2026-10-08T10:00:50.6530000Z</dcterms:created>
  <dcterms:modified xsi:type="dcterms:W3CDTF">2026-10-08T10:00:50.6540000Z</dcterms:modified>
</coreProperties>
</file>