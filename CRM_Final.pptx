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a960240-e348-6fb5-4431-30c03be043be}">
          <p14:sldIdLst>
            <p14:sldId id="256"/>
            <p14:sldId id="257"/>
          </p14:sldIdLst>
        </p14:section>
        <p14:section name="Scenario A: original data" id="{a27f2ef0-0e70-fff2-48f3-b7d3a864b71d}">
          <p14:sldIdLst>
            <p14:sldId id="258"/>
            <p14:sldId id="259"/>
            <p14:sldId id="260"/>
            <p14:sldId id="261"/>
            <p14:sldId id="262"/>
            <p14:sldId id="263"/>
            <p14:sldId id="264"/>
            <p14:sldId id="265"/>
            <p14:sldId id="266"/>
          </p14:sldIdLst>
        </p14:section>
        <p14:section name="Scenario B: simulated data" id="{543797b1-51cb-0dff-4a40-e5f6e881e2b2}">
          <p14:sldIdLst>
            <p14:sldId id="267"/>
            <p14:sldId id="268"/>
            <p14:sldId id="269"/>
            <p14:sldId id="270"/>
          </p14:sldIdLst>
        </p14:section>
        <p14:section name="Conclusion" id="{68cb6e84-4f43-2850-4527-6d43a96d3a5a}">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n-lt"/>
              </a:defRPr>
            </a:pPr>
            <a:r>
              <a:rPr sz="1400" b="0" i="0" u="none" strike="noStrike">
                <a:solidFill>
                  <a:srgbClr val="0E3B43"/>
                </a:solidFill>
                <a:latin typeface="+mn-lt"/>
              </a:rPr>
              <a:t>Deal stage of all 8,800 opportunities</a:t>
            </a:r>
          </a:p>
        </c:rich>
      </c:tx>
      <c:layout/>
      <c:overlay val="0"/>
    </c:title>
    <c:autoTitleDeleted val="0"/>
    <c:plotArea>
      <c:layout/>
      <c:doughnutChart>
        <c:varyColors val="1"/>
        <c:ser>
          <c:idx val="0"/>
          <c:order val="0"/>
          <c:tx>
            <c:strRef>
              <c:f>Sheet1!$B$1</c:f>
              <c:strCache>
                <c:ptCount val="1"/>
                <c:pt idx="0">
                  <c:v>Deal stage</c:v>
                </c:pt>
              </c:strCache>
            </c:strRef>
          </c:tx>
          <c:spPr>
            <a:solidFill>
              <a:schemeClr val="accent1"/>
            </a:solidFill>
            <a:ln w="9525" cap="flat">
              <a:solidFill>
                <a:srgbClr val="F9F9F9"/>
              </a:solidFill>
              <a:prstDash val="solid"/>
              <a:round/>
            </a:ln>
            <a:effectLst/>
          </c:spPr>
          <c:dPt>
            <c:idx val="0"/>
            <c:bubble3D val="0"/>
            <c:spPr>
              <a:solidFill>
                <a:srgbClr val="0F7A6C"/>
              </a:solidFill>
              <a:effectLst/>
            </c:spPr>
          </c:dPt>
          <c:dPt>
            <c:idx val="1"/>
            <c:bubble3D val="0"/>
            <c:spPr>
              <a:solidFill>
                <a:srgbClr val="D2554E"/>
              </a:solidFill>
              <a:effectLst/>
            </c:spPr>
          </c:dPt>
          <c:dPt>
            <c:idx val="2"/>
            <c:bubble3D val="0"/>
            <c:spPr>
              <a:solidFill>
                <a:srgbClr val="E39B2E"/>
              </a:solidFill>
              <a:effectLst/>
            </c:spPr>
          </c:dPt>
          <c:dPt>
            <c:idx val="3"/>
            <c:bubble3D val="0"/>
            <c:spPr>
              <a:solidFill>
                <a:srgbClr val="9CC5BB"/>
              </a:solidFill>
              <a:effectLst/>
            </c:spPr>
          </c:dPt>
          <c:dLbls>
            <c:dLbl>
              <c:idx val="0"/>
              <c:numFmt formatCode="General"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3"/>
              <c:numFmt formatCode="General"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Won</c:v>
                </c:pt>
                <c:pt idx="1">
                  <c:v>Lost</c:v>
                </c:pt>
                <c:pt idx="2">
                  <c:v>Engaging (open)</c:v>
                </c:pt>
                <c:pt idx="3">
                  <c:v>Prospecting (open)</c:v>
                </c:pt>
              </c:strCache>
            </c:strRef>
          </c:cat>
          <c:val>
            <c:numRef>
              <c:f>Sheet1!$B$2:$B$5</c:f>
              <c:numCache>
                <c:ptCount val="4"/>
                <c:pt idx="0">
                  <c:v>4238</c:v>
                </c:pt>
                <c:pt idx="1">
                  <c:v>2473</c:v>
                </c:pt>
                <c:pt idx="2">
                  <c:v>1589</c:v>
                </c:pt>
                <c:pt idx="3">
                  <c:v>500</c:v>
                </c:pt>
              </c:numCache>
            </c:numRef>
          </c:val>
        </c:ser>
        <c:firstSliceAng val="0"/>
        <c:holeSize val="55"/>
      </c:doughnutChart>
      <c:spPr>
        <a:noFill/>
        <a:ln>
          <a:noFill/>
        </a:ln>
        <a:effectLst/>
      </c:spPr>
    </c:plotArea>
    <c:legend>
      <c:legendPos val="r"/>
      <c:overlay val="0"/>
      <c:txPr>
        <a:bodyPr/>
        <a:lstStyle/>
        <a:p>
          <a:pPr>
            <a:defRPr sz="1300">
              <a:solidFill>
                <a:srgbClr val="1623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n-lt"/>
              </a:defRPr>
            </a:pPr>
            <a:r>
              <a:rPr sz="1400" b="0" i="0" u="none" strike="noStrike">
                <a:solidFill>
                  <a:srgbClr val="0E3B43"/>
                </a:solidFill>
                <a:latin typeface="+mn-lt"/>
              </a:rPr>
              <a:t>Test ROC-AUC (1.0 = perfect)</a:t>
            </a:r>
          </a:p>
        </c:rich>
      </c:tx>
      <c:layout/>
      <c:overlay val="0"/>
    </c:title>
    <c:autoTitleDeleted val="0"/>
    <c:plotArea>
      <c:layout/>
      <c:barChart>
        <c:barDir val="col"/>
        <c:grouping val="clustered"/>
        <c:varyColors val="0"/>
        <c:ser>
          <c:idx val="0"/>
          <c:order val="0"/>
          <c:tx>
            <c:strRef>
              <c:f>Sheet1!$B$1</c:f>
              <c:strCache>
                <c:ptCount val="1"/>
                <c:pt idx="0">
                  <c:v>Test ROC-AUC</c:v>
                </c:pt>
              </c:strCache>
            </c:strRef>
          </c:tx>
          <c:spPr>
            <a:solidFill>
              <a:srgbClr val="D2554E"/>
            </a:solidFill>
            <a:effectLst/>
          </c:spPr>
          <c:invertIfNegative val="0"/>
          <c:dLbls>
            <c:numFmt formatCode="0.00" sourceLinked="0"/>
            <c:txPr>
              <a:bodyPr/>
              <a:lstStyle/>
              <a:p>
                <a:pPr>
                  <a:defRPr b="0" i="0" strike="noStrike" sz="1200" u="none">
                    <a:solidFill>
                      <a:srgbClr val="16232E"/>
                    </a:solidFill>
                    <a:latin typeface="+mn-lt"/>
                  </a:defRPr>
                </a:pPr>
              </a:p>
            </c:txPr>
            <c:showLegendKey val="0"/>
            <c:showVal val="1"/>
            <c:showCatName val="0"/>
            <c:showSerName val="0"/>
            <c:showPercent val="0"/>
            <c:showBubbleSize val="0"/>
            <c:showLeaderLines val="0"/>
          </c:dLbls>
          <c:dPt>
            <c:idx val="0"/>
            <c:invertIfNegative val="0"/>
            <c:bubble3D val="0"/>
            <c:spPr>
              <a:solidFill>
                <a:srgbClr val="D2554E"/>
              </a:solidFill>
              <a:effectLst/>
            </c:spPr>
          </c:dPt>
          <c:dPt>
            <c:idx val="1"/>
            <c:invertIfNegative val="0"/>
            <c:bubble3D val="0"/>
            <c:spPr>
              <a:solidFill>
                <a:srgbClr val="0F7A6C"/>
              </a:solidFill>
              <a:effectLst/>
            </c:spPr>
          </c:dPt>
          <c:cat>
            <c:multiLvlStrRef>
              <c:f>Sheet1!$A$2:$A$3</c:f>
              <c:multiLvlStrCache>
                <c:ptCount val="2"/>
                <c:lvl>
                  <c:pt idx="0">
                    <c:v>Leaky one-rule model
(uses close_value)</c:v>
                  </c:pt>
                  <c:pt idx="1">
                    <c:v>Honest model
(Logistic Regression)</c:v>
                  </c:pt>
                </c:lvl>
              </c:multiLvlStrCache>
            </c:multiLvlStrRef>
          </c:cat>
          <c:val>
            <c:numRef>
              <c:f>Sheet1!$B$2:$B$3</c:f>
              <c:numCache>
                <c:formatCode>General</c:formatCode>
                <c:ptCount val="2"/>
                <c:pt idx="0">
                  <c:v>1</c:v>
                </c:pt>
                <c:pt idx="1">
                  <c:v>0.5238036845705235</c:v>
                </c:pt>
              </c:numCache>
            </c:numRef>
          </c:val>
        </c:ser>
        <c:dLbls>
          <c:numFmt formatCode="0.00" sourceLinked="0"/>
          <c:txPr>
            <a:bodyPr/>
            <a:lstStyle/>
            <a:p>
              <a:pPr>
                <a:defRPr b="0" i="0" strike="noStrike" sz="1200" u="none">
                  <a:solidFill>
                    <a:srgbClr val="1623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083"/>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DCE5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083"/>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n-lt"/>
              </a:defRPr>
            </a:pPr>
            <a:r>
              <a:rPr sz="1400" b="0" i="0" u="none" strike="noStrike">
                <a:solidFill>
                  <a:srgbClr val="0E3B43"/>
                </a:solidFill>
                <a:latin typeface="+mn-lt"/>
              </a:rPr>
              <a:t>Test ROC-AUC (0.5 = random ranking)</a:t>
            </a:r>
          </a:p>
        </c:rich>
      </c:tx>
      <c:layout/>
      <c:overlay val="0"/>
    </c:title>
    <c:autoTitleDeleted val="0"/>
    <c:plotArea>
      <c:layout/>
      <c:barChart>
        <c:barDir val="bar"/>
        <c:grouping val="clustered"/>
        <c:varyColors val="0"/>
        <c:ser>
          <c:idx val="0"/>
          <c:order val="0"/>
          <c:tx>
            <c:strRef>
              <c:f>Sheet1!$B$1</c:f>
              <c:strCache>
                <c:ptCount val="1"/>
                <c:pt idx="0">
                  <c:v>Test ROC-AUC</c:v>
                </c:pt>
              </c:strCache>
            </c:strRef>
          </c:tx>
          <c:spPr>
            <a:solidFill>
              <a:srgbClr val="9CC5BB"/>
            </a:solidFill>
            <a:effectLst/>
          </c:spPr>
          <c:invertIfNegative val="0"/>
          <c:dLbls>
            <c:numFmt formatCode="0.000" sourceLinked="0"/>
            <c:txPr>
              <a:bodyPr/>
              <a:lstStyle/>
              <a:p>
                <a:pPr>
                  <a:defRPr b="0" i="0" strike="noStrike" sz="1200" u="none">
                    <a:solidFill>
                      <a:srgbClr val="16232E"/>
                    </a:solidFill>
                    <a:latin typeface="+mn-lt"/>
                  </a:defRPr>
                </a:pPr>
              </a:p>
            </c:txPr>
            <c:showLegendKey val="0"/>
            <c:showVal val="1"/>
            <c:showCatName val="0"/>
            <c:showSerName val="0"/>
            <c:showPercent val="0"/>
            <c:showBubbleSize val="0"/>
            <c:showLeaderLines val="0"/>
          </c:dLbls>
          <c:dPt>
            <c:idx val="0"/>
            <c:invertIfNegative val="0"/>
            <c:bubble3D val="0"/>
            <c:spPr>
              <a:solidFill>
                <a:srgbClr val="9CC5BB"/>
              </a:solidFill>
              <a:effectLst/>
            </c:spPr>
          </c:dPt>
          <c:dPt>
            <c:idx val="1"/>
            <c:invertIfNegative val="0"/>
            <c:bubble3D val="0"/>
            <c:spPr>
              <a:solidFill>
                <a:srgbClr val="0F7A6C"/>
              </a:solidFill>
              <a:effectLst/>
            </c:spPr>
          </c:dPt>
          <c:dPt>
            <c:idx val="2"/>
            <c:invertIfNegative val="0"/>
            <c:bubble3D val="0"/>
            <c:spPr>
              <a:solidFill>
                <a:srgbClr val="9CC5BB"/>
              </a:solidFill>
              <a:effectLst/>
            </c:spPr>
          </c:dPt>
          <c:dPt>
            <c:idx val="3"/>
            <c:invertIfNegative val="0"/>
            <c:bubble3D val="0"/>
            <c:spPr>
              <a:solidFill>
                <a:srgbClr val="9CC5BB"/>
              </a:solidFill>
              <a:effectLst/>
            </c:spPr>
          </c:dPt>
          <c:dPt>
            <c:idx val="4"/>
            <c:invertIfNegative val="0"/>
            <c:bubble3D val="0"/>
            <c:spPr>
              <a:solidFill>
                <a:srgbClr val="9CC5BB"/>
              </a:solidFill>
              <a:effectLst/>
            </c:spPr>
          </c:dPt>
          <c:cat>
            <c:multiLvlStrRef>
              <c:f>Sheet1!$A$2:$A$6</c:f>
              <c:multiLvlStrCache>
                <c:ptCount val="5"/>
                <c:lvl>
                  <c:pt idx="0">
                    <c:v>Dummy prior</c:v>
                  </c:pt>
                  <c:pt idx="1">
                    <c:v>Logistic Regression</c:v>
                  </c:pt>
                  <c:pt idx="2">
                    <c:v>Random Forest</c:v>
                  </c:pt>
                  <c:pt idx="3">
                    <c:v>MLP</c:v>
                  </c:pt>
                  <c:pt idx="4">
                    <c:v>TabNet</c:v>
                  </c:pt>
                </c:lvl>
              </c:multiLvlStrCache>
            </c:multiLvlStrRef>
          </c:cat>
          <c:val>
            <c:numRef>
              <c:f>Sheet1!$B$2:$B$6</c:f>
              <c:numCache>
                <c:formatCode>General</c:formatCode>
                <c:ptCount val="5"/>
                <c:pt idx="0">
                  <c:v>0.5</c:v>
                </c:pt>
                <c:pt idx="1">
                  <c:v>0.5238036845705235</c:v>
                </c:pt>
                <c:pt idx="2">
                  <c:v>0.5194465944272445</c:v>
                </c:pt>
                <c:pt idx="3">
                  <c:v>0.4954460364317085</c:v>
                </c:pt>
                <c:pt idx="4">
                  <c:v>0.5173304863561092</c:v>
                </c:pt>
              </c:numCache>
            </c:numRef>
          </c:val>
        </c:ser>
        <c:dLbls>
          <c:numFmt formatCode="0.000" sourceLinked="0"/>
          <c:txPr>
            <a:bodyPr/>
            <a:lstStyle/>
            <a:p>
              <a:pPr>
                <a:defRPr b="0" i="0" strike="noStrike" sz="1200" u="none">
                  <a:solidFill>
                    <a:srgbClr val="1623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708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DCE5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7083"/>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n-lt"/>
              </a:defRPr>
            </a:pPr>
            <a:r>
              <a:rPr sz="1400" b="0" i="0" u="none" strike="noStrike">
                <a:solidFill>
                  <a:srgbClr val="0E3B43"/>
                </a:solidFill>
                <a:latin typeface="+mn-lt"/>
              </a:rPr>
              <a:t>Permutation importance, selected model on test (AUC drop)</a:t>
            </a:r>
          </a:p>
        </c:rich>
      </c:tx>
      <c:layout/>
      <c:overlay val="0"/>
    </c:title>
    <c:autoTitleDeleted val="0"/>
    <c:plotArea>
      <c:layout/>
      <c:barChart>
        <c:barDir val="bar"/>
        <c:grouping val="clustered"/>
        <c:varyColors val="0"/>
        <c:ser>
          <c:idx val="0"/>
          <c:order val="0"/>
          <c:tx>
            <c:strRef>
              <c:f>Sheet1!$B$1</c:f>
              <c:strCache>
                <c:ptCount val="1"/>
                <c:pt idx="0">
                  <c:v>Mean ROC-AUC drop</c:v>
                </c:pt>
              </c:strCache>
            </c:strRef>
          </c:tx>
          <c:spPr>
            <a:solidFill>
              <a:srgbClr val="0F7A6C"/>
            </a:solidFill>
            <a:effectLst/>
          </c:spPr>
          <c:invertIfNegative val="0"/>
          <c:dLbls>
            <c:numFmt formatCode="0.000" sourceLinked="0"/>
            <c:txPr>
              <a:bodyPr/>
              <a:lstStyle/>
              <a:p>
                <a:pPr>
                  <a:defRPr b="0" i="0" strike="noStrike" sz="1200" u="none">
                    <a:solidFill>
                      <a:srgbClr val="16232E"/>
                    </a:solidFill>
                    <a:latin typeface="+mn-lt"/>
                  </a:defRPr>
                </a:pPr>
              </a:p>
            </c:txPr>
            <c:showLegendKey val="0"/>
            <c:showVal val="1"/>
            <c:showCatName val="0"/>
            <c:showSerName val="0"/>
            <c:showPercent val="0"/>
            <c:showBubbleSize val="0"/>
            <c:showLeaderLines val="0"/>
          </c:dLbls>
          <c:cat>
            <c:multiLvlStrRef>
              <c:f>Sheet1!$A$2:$A$9</c:f>
              <c:multiLvlStrCache>
                <c:ptCount val="8"/>
                <c:lvl>
                  <c:pt idx="0">
                    <c:v>sales_agent</c:v>
                  </c:pt>
                  <c:pt idx="1">
                    <c:v>office_location</c:v>
                  </c:pt>
                  <c:pt idx="2">
                    <c:v>engage_month</c:v>
                  </c:pt>
                  <c:pt idx="3">
                    <c:v>engage_quarter</c:v>
                  </c:pt>
                  <c:pt idx="4">
                    <c:v>revenue</c:v>
                  </c:pt>
                  <c:pt idx="5">
                    <c:v>is_subsidiary</c:v>
                  </c:pt>
                  <c:pt idx="6">
                    <c:v>series</c:v>
                  </c:pt>
                  <c:pt idx="7">
                    <c:v>product</c:v>
                  </c:pt>
                </c:lvl>
              </c:multiLvlStrCache>
            </c:multiLvlStrRef>
          </c:cat>
          <c:val>
            <c:numRef>
              <c:f>Sheet1!$B$2:$B$9</c:f>
              <c:numCache>
                <c:formatCode>General</c:formatCode>
                <c:ptCount val="8"/>
                <c:pt idx="0">
                  <c:v>0.022817067463460388</c:v>
                </c:pt>
                <c:pt idx="1">
                  <c:v>0.008468932248542097</c:v>
                </c:pt>
                <c:pt idx="2">
                  <c:v>0.005556705546355715</c:v>
                </c:pt>
                <c:pt idx="3">
                  <c:v>0.004065342477260277</c:v>
                </c:pt>
                <c:pt idx="4">
                  <c:v>0.0030543505651955405</c:v>
                </c:pt>
                <c:pt idx="5">
                  <c:v>0.002273981808145642</c:v>
                </c:pt>
                <c:pt idx="6">
                  <c:v>0.002142357861137182</c:v>
                </c:pt>
                <c:pt idx="7">
                  <c:v>0.0018348603211175336</c:v>
                </c:pt>
              </c:numCache>
            </c:numRef>
          </c:val>
        </c:ser>
        <c:dLbls>
          <c:numFmt formatCode="0.000" sourceLinked="0"/>
          <c:txPr>
            <a:bodyPr/>
            <a:lstStyle/>
            <a:p>
              <a:pPr>
                <a:defRPr b="0" i="0" strike="noStrike" sz="1200" u="none">
                  <a:solidFill>
                    <a:srgbClr val="1623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7083"/>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CE5E3"/>
              </a:solidFill>
              <a:prstDash val="solid"/>
              <a:round/>
            </a:ln>
          </c:spPr>
        </c:majorGridlines>
        <c:numFmt formatCode="0.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708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n-lt"/>
              </a:defRPr>
            </a:pPr>
            <a:r>
              <a:rPr sz="1400" b="0" i="0" u="none" strike="noStrike">
                <a:solidFill>
                  <a:srgbClr val="0E3B43"/>
                </a:solidFill>
                <a:latin typeface="+mn-lt"/>
              </a:rPr>
              <a:t>USD millions</a:t>
            </a:r>
          </a:p>
        </c:rich>
      </c:tx>
      <c:layout/>
      <c:overlay val="0"/>
    </c:title>
    <c:autoTitleDeleted val="0"/>
    <c:plotArea>
      <c:layout/>
      <c:barChart>
        <c:barDir val="col"/>
        <c:grouping val="clustered"/>
        <c:varyColors val="0"/>
        <c:ser>
          <c:idx val="0"/>
          <c:order val="0"/>
          <c:tx>
            <c:strRef>
              <c:f>Sheet1!$B$1</c:f>
              <c:strCache>
                <c:ptCount val="1"/>
                <c:pt idx="0">
                  <c:v>USD (millions)</c:v>
                </c:pt>
              </c:strCache>
            </c:strRef>
          </c:tx>
          <c:spPr>
            <a:solidFill>
              <a:srgbClr val="9CC5BB"/>
            </a:solidFill>
            <a:effectLst/>
          </c:spPr>
          <c:invertIfNegative val="0"/>
          <c:dLbls>
            <c:numFmt formatCode="$0.00&quot;M&quot;" sourceLinked="0"/>
            <c:txPr>
              <a:bodyPr/>
              <a:lstStyle/>
              <a:p>
                <a:pPr>
                  <a:defRPr b="0" i="0" strike="noStrike" sz="1200" u="none">
                    <a:solidFill>
                      <a:srgbClr val="16232E"/>
                    </a:solidFill>
                    <a:latin typeface="+mn-lt"/>
                  </a:defRPr>
                </a:pPr>
              </a:p>
            </c:txPr>
            <c:showLegendKey val="0"/>
            <c:showVal val="1"/>
            <c:showCatName val="0"/>
            <c:showSerName val="0"/>
            <c:showPercent val="0"/>
            <c:showBubbleSize val="0"/>
            <c:showLeaderLines val="0"/>
          </c:dLbls>
          <c:dPt>
            <c:idx val="0"/>
            <c:invertIfNegative val="0"/>
            <c:bubble3D val="0"/>
            <c:spPr>
              <a:solidFill>
                <a:srgbClr val="9CC5BB"/>
              </a:solidFill>
              <a:effectLst/>
            </c:spPr>
          </c:dPt>
          <c:dPt>
            <c:idx val="1"/>
            <c:invertIfNegative val="0"/>
            <c:bubble3D val="0"/>
            <c:spPr>
              <a:solidFill>
                <a:srgbClr val="0F7A6C"/>
              </a:solidFill>
              <a:effectLst/>
            </c:spPr>
          </c:dPt>
          <c:dPt>
            <c:idx val="2"/>
            <c:invertIfNegative val="0"/>
            <c:bubble3D val="0"/>
            <c:spPr>
              <a:solidFill>
                <a:srgbClr val="5B7083"/>
              </a:solidFill>
              <a:effectLst/>
            </c:spPr>
          </c:dPt>
          <c:cat>
            <c:multiLvlStrRef>
              <c:f>Sheet1!$A$2:$A$4</c:f>
              <c:multiLvlStrCache>
                <c:ptCount val="3"/>
                <c:lvl>
                  <c:pt idx="0">
                    <c:v>Pipeline if all won</c:v>
                  </c:pt>
                  <c:pt idx="1">
                    <c:v>Expected (all open)</c:v>
                  </c:pt>
                  <c:pt idx="2">
                    <c:v>Expected (account known)</c:v>
                  </c:pt>
                </c:lvl>
              </c:multiLvlStrCache>
            </c:multiLvlStrRef>
          </c:cat>
          <c:val>
            <c:numRef>
              <c:f>Sheet1!$B$2:$B$4</c:f>
              <c:numCache>
                <c:formatCode>General</c:formatCode>
                <c:ptCount val="3"/>
                <c:pt idx="0">
                  <c:v>3.892229</c:v>
                </c:pt>
                <c:pt idx="1">
                  <c:v>2.502556377748908</c:v>
                </c:pt>
                <c:pt idx="2">
                  <c:v>0.831484162518196</c:v>
                </c:pt>
              </c:numCache>
            </c:numRef>
          </c:val>
        </c:ser>
        <c:dLbls>
          <c:numFmt formatCode="$0.00&quot;M&quot;" sourceLinked="0"/>
          <c:txPr>
            <a:bodyPr/>
            <a:lstStyle/>
            <a:p>
              <a:pPr>
                <a:defRPr b="0" i="0" strike="noStrike" sz="1200" u="none">
                  <a:solidFill>
                    <a:srgbClr val="1623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08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CE5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08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n-lt"/>
              </a:defRPr>
            </a:pPr>
            <a:r>
              <a:rPr sz="1400" b="0" i="0" u="none" strike="noStrike">
                <a:solidFill>
                  <a:srgbClr val="0E3B43"/>
                </a:solidFill>
                <a:latin typeface="+mn-lt"/>
              </a:rPr>
              <a:t>Test ROC-AUC (oracle 0.878, Dummy 0.500)</a:t>
            </a:r>
          </a:p>
        </c:rich>
      </c:tx>
      <c:layout/>
      <c:overlay val="0"/>
    </c:title>
    <c:autoTitleDeleted val="0"/>
    <c:plotArea>
      <c:layout/>
      <c:barChart>
        <c:barDir val="col"/>
        <c:grouping val="clustered"/>
        <c:varyColors val="0"/>
        <c:ser>
          <c:idx val="0"/>
          <c:order val="0"/>
          <c:tx>
            <c:strRef>
              <c:f>Sheet1!$B$1</c:f>
              <c:strCache>
                <c:ptCount val="1"/>
                <c:pt idx="0">
                  <c:v>Base features</c:v>
                </c:pt>
              </c:strCache>
            </c:strRef>
          </c:tx>
          <c:spPr>
            <a:solidFill>
              <a:srgbClr val="9CC5BB"/>
            </a:solidFill>
            <a:effectLst/>
          </c:spPr>
          <c:invertIfNegative val="0"/>
          <c:dLbls>
            <c:numFmt formatCode="0.000" sourceLinked="0"/>
            <c:txPr>
              <a:bodyPr/>
              <a:lstStyle/>
              <a:p>
                <a:pPr>
                  <a:defRPr b="0" i="0" strike="noStrike" sz="1100" u="none">
                    <a:solidFill>
                      <a:srgbClr val="16232E"/>
                    </a:solidFill>
                    <a:latin typeface="+mn-lt"/>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Random Forest</c:v>
                  </c:pt>
                  <c:pt idx="2">
                    <c:v>MLP</c:v>
                  </c:pt>
                  <c:pt idx="3">
                    <c:v>TabNet</c:v>
                  </c:pt>
                </c:lvl>
              </c:multiLvlStrCache>
            </c:multiLvlStrRef>
          </c:cat>
          <c:val>
            <c:numRef>
              <c:f>Sheet1!$B$2:$B$5</c:f>
              <c:numCache>
                <c:formatCode>General</c:formatCode>
                <c:ptCount val="4"/>
                <c:pt idx="0">
                  <c:v>0.7837330675219738</c:v>
                </c:pt>
                <c:pt idx="1">
                  <c:v>0.840114019112033</c:v>
                </c:pt>
                <c:pt idx="2">
                  <c:v>0.8375657877873307</c:v>
                </c:pt>
                <c:pt idx="3">
                  <c:v>0.8397216680774175</c:v>
                </c:pt>
              </c:numCache>
            </c:numRef>
          </c:val>
        </c:ser>
        <c:ser>
          <c:idx val="1"/>
          <c:order val="1"/>
          <c:tx>
            <c:strRef>
              <c:f>Sheet1!$C$1</c:f>
              <c:strCache>
                <c:ptCount val="1"/>
                <c:pt idx="0">
                  <c:v>Extended features</c:v>
                </c:pt>
              </c:strCache>
            </c:strRef>
          </c:tx>
          <c:spPr>
            <a:solidFill>
              <a:srgbClr val="0F7A6C"/>
            </a:solidFill>
            <a:effectLst/>
          </c:spPr>
          <c:invertIfNegative val="0"/>
          <c:dLbls>
            <c:numFmt formatCode="0.000" sourceLinked="0"/>
            <c:txPr>
              <a:bodyPr/>
              <a:lstStyle/>
              <a:p>
                <a:pPr>
                  <a:defRPr b="0" i="0" strike="noStrike" sz="1100" u="none">
                    <a:solidFill>
                      <a:srgbClr val="16232E"/>
                    </a:solidFill>
                    <a:latin typeface="+mn-lt"/>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Random Forest</c:v>
                  </c:pt>
                  <c:pt idx="2">
                    <c:v>MLP</c:v>
                  </c:pt>
                  <c:pt idx="3">
                    <c:v>TabNet</c:v>
                  </c:pt>
                </c:lvl>
              </c:multiLvlStrCache>
            </c:multiLvlStrRef>
          </c:cat>
          <c:val>
            <c:numRef>
              <c:f>Sheet1!$C$2:$C$5</c:f>
              <c:numCache>
                <c:formatCode>General</c:formatCode>
                <c:ptCount val="4"/>
                <c:pt idx="0">
                  <c:v>0.8089812034717152</c:v>
                </c:pt>
                <c:pt idx="1">
                  <c:v>0.8639501127226834</c:v>
                </c:pt>
                <c:pt idx="2">
                  <c:v>0.8663206015773756</c:v>
                </c:pt>
                <c:pt idx="3">
                  <c:v>0.8669440877113355</c:v>
                </c:pt>
              </c:numCache>
            </c:numRef>
          </c:val>
        </c:ser>
        <c:dLbls>
          <c:numFmt formatCode="0.000" sourceLinked="0"/>
          <c:txPr>
            <a:bodyPr/>
            <a:lstStyle/>
            <a:p>
              <a:pPr>
                <a:defRPr b="0" i="0" strike="noStrike" sz="1100" u="none">
                  <a:solidFill>
                    <a:srgbClr val="1623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083"/>
                </a:solidFill>
                <a:latin typeface="+mn-lt"/>
              </a:defRPr>
            </a:pPr>
            <a:endParaRPr lang="en-US"/>
          </a:p>
        </c:txPr>
        <c:crossAx val="2094734552"/>
        <c:crosses val="autoZero"/>
        <c:auto val="1"/>
        <c:lblAlgn val="ctr"/>
        <c:noMultiLvlLbl val="1"/>
      </c:catAx>
      <c:valAx>
        <c:axId val="2094734552"/>
        <c:scaling>
          <c:orientation val="minMax"/>
          <c:max val="0.9"/>
          <c:min val="0.5"/>
        </c:scaling>
        <c:delete val="0"/>
        <c:axPos val="l"/>
        <c:majorGridlines>
          <c:spPr>
            <a:ln w="9525" cap="flat">
              <a:solidFill>
                <a:srgbClr val="DCE5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083"/>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16232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 are Group 2. Our project is Predicting CRM Sales Opportunities Using Machine Learning. We predict whether a sales opportunity will be Won or Lost, and we show which factors influence the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is four CRM tables: pipeline, accounts, products and sales teams. We train five models, including a Dummy control. The output is a win probability for each open deal, plus the factors that move the score. We show two scenarios. Scenario A uses the original Maven CRM data and gives our reported results. Scenario B runs the same models on simulated data, to check that the pipeline finds signal when signal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Maven Analytics CRM dataset: a fictitious company that sells computer hardware to businesses. It has 8,800 opportunities, 85 accounts, 7 products and 35 sales agents. We join the four tables and fix two spelling problems in the raw data. We train only on the 6,711 closed deals: 4,238 Won and 2,473 Lost. Open deals are scored, never treated as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columns give away the answer. close_value is zero for every Lost deal, so a one-rule model on close_value gets a perfect ROC-AUC of 1.0. That is information from after the outcome. We excluded close_value, close_date, deal_stage and opportunity_id from the predictors. The honest model scores about 0.52. We keep the leaky model only as a control, to show what leakage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by time, not at random. Train has 2,975 deals, validation 583 and test 1,361. Deals from the same date stay together. We purged 1,792 rows whose outcomes were not known at the cutoff, so the model never learns from the future. Preprocessing is fit on the training set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a Dummy control, Logistic Regression, Random Forest, MLP and TabNet on the same rows and the same preprocessing. The model, the threshold and the calibration are all chosen on validation. Logistic Regression had the best validation ROC-AUC, 0.563, so it was selected before we looked at test. The threshold maximises macro-F1 on validation instead of using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main result on the original data. Test ROC-AUC is about 0.50 to 0.52 for all models. 0.5 means random ranking. The selected Logistic Regression has 0.524. The Dummy model gets 60 percent accuracy only because about 60 percent of deals are Won and it always predicts Won. So accuracy alone is misleading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has every metric from the proposal. The selected Logistic Regression has low recall because its threshold, chosen on validation, is strict. Calibration improved its Brier score from 0.2794 to 0.2443, but that is still worse than the Dummy at 0.2421. Calibration changes the probability scale, not the ranking, so ROC-AUC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shows how much test ROC-AUC drops when we shuffle one feature. sales_agent matters most, but every drop is small, which matches the weak overall result. For each open deal we also report positive and negative factors: we replace one input with its training median or mode and measure the change in win probability. Random Forest SHAP is a separate diagnostic; its additivity check passes. These are sensitivities of the model's score, not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scored 1,589 Engaging deals. Win and loss probabilities sum to one. 1,088 rows have a missing account and are flagged. Each deal gets a priority band and the factors that raise or lower its score; this example is the highest-scored deal. Priority is a heuristic and has not been validated. These are snapshot scores from a frozen model, not historical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Deals close within 138 days, with a median of 45, so the open pipeline covers about the next three months. Multiplying each deal's win probability by its list price gives about $2.50M from 1,589 deals, with a simulated range of $2.38M to $2.63M. Counting only the 501 deals with an account, it is about $0.83M. This is illustrative, not a forecast. We do not forecast two years because the data spans only about ten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scores could mean the data has no signal, or that our pipeline is broken. To tell these apart, we ran the same pipeline on simulated data where we know the signal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simulated data reuses the real accounts, agents and products, and matches the real date range and win rate. We added new products, competitor products and industry trends. Each deal's win probability comes from a formula we wrote, including interaction effects such as an expensive product sold to a small account. Because we wrote the formula, we know the true probability, which gives us the oracle: the best possible score. It is never used as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extended features, test ROC-AUC is 0.809 for Logistic Regression, 0.864 for Random Forest, 0.866 for MLP and 0.867 for TabNet. The best possible is 0.878. So the nonlinear models recover nearly all the planted signal. Over five newly generated datasets the result holds, with standard deviations under 0.01. Nonlinear models win partly because we built the data with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the two scenarios together: on the original data every model is near 0.52, and on simulated data with real signal the same pipeline reaches about 0.87. So the low scores come from the original data, not from the pipeline. The simulated scores are not real-world performance, and we never mix them into our reported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contribution is not a new algorithm. It is a careful workflow that combines prediction with explanation, a leakage audit, a label-availability split, input warnings and a known-truth simulation, all reproducible on a CPU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do not yet show the model helps sales prioritisation. Limitations: closed-only bias, validation reuse, static snapshots, repeated accounts, and the data was examined in earlier attempts, so the test set is not pristine. The simulated win rule is invented, so it says nothing about real sales. The most useful next step is richer engagement data, such as calls, emails and response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Likely questions: Why are the scores so low? The available features carry little signal, and we did not add close_value to inflate the numbers. Why does the Dummy have high accuracy? About 60 percent of closed deals are Won. Is simulated data cheating? No: it only checks the pipeline, and our reported results use the original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9601200" cy="1737360"/>
          </a:xfrm>
          <a:prstGeom prst="rect">
            <a:avLst/>
          </a:prstGeom>
          <a:noFill/>
          <a:ln/>
        </p:spPr>
        <p:txBody>
          <a:bodyPr wrap="square" rtlCol="0"/>
          <a:lstStyle>
            <a:lvl1pPr algn="l" indent="0" marL="0">
              <a:buNone/>
              <a:defRPr lang="en-US" sz="4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1" type="body" hasCustomPrompt="1"/>
          </p:nvPr>
        </p:nvSpPr>
        <p:spPr>
          <a:xfrm>
            <a:off x="548640" y="3794760"/>
            <a:ext cx="9601200" cy="146304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0515600" cy="12801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657600"/>
            <a:ext cx="10515600" cy="109728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CS 582 · Group 2 · Predicting CRM Sales Opportunities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9601200" cy="1737360"/>
          </a:xfrm>
          <a:prstGeom prst="rect">
            <a:avLst/>
          </a:prstGeom>
          <a:noFill/>
          <a:ln/>
        </p:spPr>
        <p:txBody>
          <a:bodyPr wrap="square" lIns="0" tIns="0" rIns="0" bIns="0" rtlCol="0" anchor="b"/>
          <a:lstStyle/>
          <a:p>
            <a:pPr algn="l" indent="0" marL="0">
              <a:buNone/>
            </a:pPr>
            <a:r>
              <a:rPr lang="en-US" sz="4200" b="1" dirty="0">
                <a:solidFill>
                  <a:schemeClr val="bg1"/>
                </a:solidFill>
                <a:latin typeface="Cambria" pitchFamily="34" charset="0"/>
                <a:ea typeface="Cambria" pitchFamily="34" charset="-122"/>
                <a:cs typeface="Cambria" pitchFamily="34" charset="-120"/>
              </a:rPr>
              <a:t>Predicting CRM Sales Opportunities Using Machine Learning</a:t>
            </a:r>
            <a:endParaRPr lang="en-US" sz="4200" dirty="0"/>
          </a:p>
        </p:txBody>
      </p:sp>
      <p:sp>
        <p:nvSpPr>
          <p:cNvPr id="3" name="Text 0"/>
          <p:cNvSpPr/>
          <p:nvPr>
            <p:ph idx="101" type="body" hasCustomPrompt="1"/>
          </p:nvPr>
        </p:nvSpPr>
        <p:spPr>
          <a:xfrm>
            <a:off x="548640" y="3794760"/>
            <a:ext cx="9601200" cy="1463040"/>
          </a:xfrm>
          <a:prstGeom prst="rect">
            <a:avLst/>
          </a:prstGeom>
          <a:noFill/>
          <a:ln/>
        </p:spPr>
        <p:txBody>
          <a:bodyPr wrap="square" lIns="0" tIns="0" rIns="0" bIns="0" rtlCol="0" anchor="t"/>
          <a:lstStyle/>
          <a:p>
            <a:pPr indent="0" marL="0">
              <a:buNone/>
            </a:pPr>
            <a:r>
              <a:rPr lang="en-US" sz="1800" dirty="0">
                <a:solidFill>
                  <a:schemeClr val="accent5"/>
                </a:solidFill>
              </a:rPr>
              <a:t>CS 582 Machine Learning · Group 2 · Final presentation</a:t>
            </a:r>
            <a:endParaRPr lang="en-US" sz="1800" dirty="0"/>
          </a:p>
          <a:p>
            <a:pPr indent="0" marL="0">
              <a:buNone/>
            </a:pPr>
            <a:r>
              <a:rPr lang="en-US" sz="1800" dirty="0">
                <a:solidFill>
                  <a:schemeClr val="bg1"/>
                </a:solidFill>
              </a:rPr>
              <a:t>Hong Thai Phan · Nguyen Khanh An Tran · Hoang Thien Bao Bui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Goal: a win probability and its reasons</a:t>
            </a:r>
            <a:endParaRPr lang="en-US" sz="3400" dirty="0"/>
          </a:p>
        </p:txBody>
      </p:sp>
      <p:sp>
        <p:nvSpPr>
          <p:cNvPr id="3" name="goal-card-0"/>
          <p:cNvSpPr/>
          <p:nvPr/>
        </p:nvSpPr>
        <p:spPr>
          <a:xfrm>
            <a:off x="548640" y="1600200"/>
            <a:ext cx="3291840" cy="2377440"/>
          </a:xfrm>
          <a:prstGeom prst="roundRect">
            <a:avLst>
              <a:gd name="adj" fmla="val 3077"/>
            </a:avLst>
          </a:prstGeom>
          <a:solidFill>
            <a:schemeClr val="bg2"/>
          </a:solidFill>
          <a:ln/>
        </p:spPr>
      </p:sp>
      <p:sp>
        <p:nvSpPr>
          <p:cNvPr id="4" name="icon-bg-table"/>
          <p:cNvSpPr/>
          <p:nvPr/>
        </p:nvSpPr>
        <p:spPr>
          <a:xfrm>
            <a:off x="868680" y="1920240"/>
            <a:ext cx="640080" cy="640080"/>
          </a:xfrm>
          <a:prstGeom prst="ellipse">
            <a:avLst/>
          </a:prstGeom>
          <a:solidFill>
            <a:schemeClr val="accent1"/>
          </a:solidFill>
          <a:ln/>
        </p:spPr>
      </p:sp>
      <p:pic>
        <p:nvPicPr>
          <p:cNvPr id="5" name="icon-table" descr="preencoded.png">    </p:cNvPr>
          <p:cNvPicPr>
            <a:picLocks noChangeAspect="1"/>
          </p:cNvPicPr>
          <p:nvPr/>
        </p:nvPicPr>
        <p:blipFill>
          <a:blip r:embed="rId1"/>
          <a:stretch>
            <a:fillRect/>
          </a:stretch>
        </p:blipFill>
        <p:spPr>
          <a:xfrm>
            <a:off x="1028700" y="2080260"/>
            <a:ext cx="320040" cy="320040"/>
          </a:xfrm>
          <a:prstGeom prst="rect">
            <a:avLst/>
          </a:prstGeom>
        </p:spPr>
      </p:pic>
      <p:sp>
        <p:nvSpPr>
          <p:cNvPr id="6" name="Text 3"/>
          <p:cNvSpPr txBox="1"/>
          <p:nvPr/>
        </p:nvSpPr>
        <p:spPr>
          <a:xfrm>
            <a:off x="868680" y="2697480"/>
            <a:ext cx="2651760" cy="365760"/>
          </a:xfrm>
          <a:prstGeom prst="rect">
            <a:avLst/>
          </a:prstGeom>
          <a:noFill/>
          <a:ln/>
        </p:spPr>
        <p:txBody>
          <a:bodyPr wrap="square" lIns="0" tIns="0" rIns="0" bIns="0" rtlCol="0" anchor="t"/>
          <a:lstStyle/>
          <a:p>
            <a:pPr indent="0" marL="0">
              <a:buNone/>
            </a:pPr>
            <a:r>
              <a:rPr lang="en-US" sz="2000" b="1" dirty="0">
                <a:solidFill>
                  <a:schemeClr val="tx2"/>
                </a:solidFill>
              </a:rPr>
              <a:t>Input</a:t>
            </a:r>
            <a:endParaRPr lang="en-US" sz="2000" dirty="0"/>
          </a:p>
        </p:txBody>
      </p:sp>
      <p:sp>
        <p:nvSpPr>
          <p:cNvPr id="7" name="Text 4"/>
          <p:cNvSpPr txBox="1"/>
          <p:nvPr/>
        </p:nvSpPr>
        <p:spPr>
          <a:xfrm>
            <a:off x="868680" y="3108960"/>
            <a:ext cx="2651760" cy="777240"/>
          </a:xfrm>
          <a:prstGeom prst="rect">
            <a:avLst/>
          </a:prstGeom>
          <a:noFill/>
          <a:ln/>
        </p:spPr>
        <p:txBody>
          <a:bodyPr wrap="square" lIns="0" tIns="0" rIns="0" bIns="0" rtlCol="0" anchor="t"/>
          <a:lstStyle/>
          <a:p>
            <a:pPr indent="0" marL="0">
              <a:buNone/>
            </a:pPr>
            <a:r>
              <a:rPr lang="en-US" sz="1500" dirty="0">
                <a:solidFill>
                  <a:schemeClr val="tx1"/>
                </a:solidFill>
              </a:rPr>
              <a:t>Four CRM tables: sales pipeline, accounts, products, sales teams</a:t>
            </a:r>
            <a:endParaRPr lang="en-US" sz="1500" dirty="0"/>
          </a:p>
        </p:txBody>
      </p:sp>
      <p:sp>
        <p:nvSpPr>
          <p:cNvPr id="8" name="goal-arrow-0"/>
          <p:cNvSpPr/>
          <p:nvPr/>
        </p:nvSpPr>
        <p:spPr>
          <a:xfrm>
            <a:off x="3959352" y="2606040"/>
            <a:ext cx="365760" cy="365760"/>
          </a:xfrm>
          <a:prstGeom prst="rightArrow">
            <a:avLst/>
          </a:prstGeom>
          <a:solidFill>
            <a:schemeClr val="accent2"/>
          </a:solidFill>
          <a:ln/>
        </p:spPr>
      </p:sp>
      <p:sp>
        <p:nvSpPr>
          <p:cNvPr id="9" name="goal-card-1"/>
          <p:cNvSpPr/>
          <p:nvPr/>
        </p:nvSpPr>
        <p:spPr>
          <a:xfrm>
            <a:off x="4434840" y="1600200"/>
            <a:ext cx="3291840" cy="2377440"/>
          </a:xfrm>
          <a:prstGeom prst="roundRect">
            <a:avLst>
              <a:gd name="adj" fmla="val 3077"/>
            </a:avLst>
          </a:prstGeom>
          <a:solidFill>
            <a:schemeClr val="bg2"/>
          </a:solidFill>
          <a:ln/>
        </p:spPr>
      </p:sp>
      <p:sp>
        <p:nvSpPr>
          <p:cNvPr id="10" name="icon-bg-brain"/>
          <p:cNvSpPr/>
          <p:nvPr/>
        </p:nvSpPr>
        <p:spPr>
          <a:xfrm>
            <a:off x="4754880" y="1920240"/>
            <a:ext cx="640080" cy="640080"/>
          </a:xfrm>
          <a:prstGeom prst="ellipse">
            <a:avLst/>
          </a:prstGeom>
          <a:solidFill>
            <a:schemeClr val="accent1"/>
          </a:solidFill>
          <a:ln/>
        </p:spPr>
      </p:sp>
      <p:pic>
        <p:nvPicPr>
          <p:cNvPr id="11" name="icon-brain" descr="preencoded.png">    </p:cNvPr>
          <p:cNvPicPr>
            <a:picLocks noChangeAspect="1"/>
          </p:cNvPicPr>
          <p:nvPr/>
        </p:nvPicPr>
        <p:blipFill>
          <a:blip r:embed="rId2"/>
          <a:stretch>
            <a:fillRect/>
          </a:stretch>
        </p:blipFill>
        <p:spPr>
          <a:xfrm>
            <a:off x="4914900" y="2080260"/>
            <a:ext cx="320040" cy="320040"/>
          </a:xfrm>
          <a:prstGeom prst="rect">
            <a:avLst/>
          </a:prstGeom>
        </p:spPr>
      </p:pic>
      <p:sp>
        <p:nvSpPr>
          <p:cNvPr id="12" name="Text 8"/>
          <p:cNvSpPr txBox="1"/>
          <p:nvPr/>
        </p:nvSpPr>
        <p:spPr>
          <a:xfrm>
            <a:off x="4754880" y="2697480"/>
            <a:ext cx="2651760" cy="365760"/>
          </a:xfrm>
          <a:prstGeom prst="rect">
            <a:avLst/>
          </a:prstGeom>
          <a:noFill/>
          <a:ln/>
        </p:spPr>
        <p:txBody>
          <a:bodyPr wrap="square" lIns="0" tIns="0" rIns="0" bIns="0" rtlCol="0" anchor="t"/>
          <a:lstStyle/>
          <a:p>
            <a:pPr indent="0" marL="0">
              <a:buNone/>
            </a:pPr>
            <a:r>
              <a:rPr lang="en-US" sz="2000" b="1" dirty="0">
                <a:solidFill>
                  <a:schemeClr val="tx2"/>
                </a:solidFill>
              </a:rPr>
              <a:t>Models</a:t>
            </a:r>
            <a:endParaRPr lang="en-US" sz="2000" dirty="0"/>
          </a:p>
        </p:txBody>
      </p:sp>
      <p:sp>
        <p:nvSpPr>
          <p:cNvPr id="13" name="Text 9"/>
          <p:cNvSpPr txBox="1"/>
          <p:nvPr/>
        </p:nvSpPr>
        <p:spPr>
          <a:xfrm>
            <a:off x="4754880" y="3108960"/>
            <a:ext cx="2651760" cy="777240"/>
          </a:xfrm>
          <a:prstGeom prst="rect">
            <a:avLst/>
          </a:prstGeom>
          <a:noFill/>
          <a:ln/>
        </p:spPr>
        <p:txBody>
          <a:bodyPr wrap="square" lIns="0" tIns="0" rIns="0" bIns="0" rtlCol="0" anchor="t"/>
          <a:lstStyle/>
          <a:p>
            <a:pPr indent="0" marL="0">
              <a:buNone/>
            </a:pPr>
            <a:r>
              <a:rPr lang="en-US" sz="1500" dirty="0">
                <a:solidFill>
                  <a:schemeClr val="tx1"/>
                </a:solidFill>
              </a:rPr>
              <a:t>Dummy control, Logistic Regression, Random Forest, MLP, TabNet</a:t>
            </a:r>
            <a:endParaRPr lang="en-US" sz="1500" dirty="0"/>
          </a:p>
        </p:txBody>
      </p:sp>
      <p:sp>
        <p:nvSpPr>
          <p:cNvPr id="14" name="goal-arrow-1"/>
          <p:cNvSpPr/>
          <p:nvPr/>
        </p:nvSpPr>
        <p:spPr>
          <a:xfrm>
            <a:off x="7845552" y="2606040"/>
            <a:ext cx="365760" cy="365760"/>
          </a:xfrm>
          <a:prstGeom prst="rightArrow">
            <a:avLst/>
          </a:prstGeom>
          <a:solidFill>
            <a:schemeClr val="accent2"/>
          </a:solidFill>
          <a:ln/>
        </p:spPr>
      </p:sp>
      <p:sp>
        <p:nvSpPr>
          <p:cNvPr id="15" name="goal-card-2"/>
          <p:cNvSpPr/>
          <p:nvPr/>
        </p:nvSpPr>
        <p:spPr>
          <a:xfrm>
            <a:off x="8321040" y="1600200"/>
            <a:ext cx="3291840" cy="2377440"/>
          </a:xfrm>
          <a:prstGeom prst="roundRect">
            <a:avLst>
              <a:gd name="adj" fmla="val 3077"/>
            </a:avLst>
          </a:prstGeom>
          <a:solidFill>
            <a:schemeClr val="bg2"/>
          </a:solidFill>
          <a:ln/>
        </p:spPr>
      </p:sp>
      <p:sp>
        <p:nvSpPr>
          <p:cNvPr id="16" name="icon-bg-chart"/>
          <p:cNvSpPr/>
          <p:nvPr/>
        </p:nvSpPr>
        <p:spPr>
          <a:xfrm>
            <a:off x="8641080" y="1920240"/>
            <a:ext cx="640080" cy="640080"/>
          </a:xfrm>
          <a:prstGeom prst="ellipse">
            <a:avLst/>
          </a:prstGeom>
          <a:solidFill>
            <a:schemeClr val="accent1"/>
          </a:solidFill>
          <a:ln/>
        </p:spPr>
      </p:sp>
      <p:pic>
        <p:nvPicPr>
          <p:cNvPr id="17" name="icon-chart" descr="preencoded.png">    </p:cNvPr>
          <p:cNvPicPr>
            <a:picLocks noChangeAspect="1"/>
          </p:cNvPicPr>
          <p:nvPr/>
        </p:nvPicPr>
        <p:blipFill>
          <a:blip r:embed="rId3"/>
          <a:stretch>
            <a:fillRect/>
          </a:stretch>
        </p:blipFill>
        <p:spPr>
          <a:xfrm>
            <a:off x="8801100" y="2080260"/>
            <a:ext cx="320040" cy="320040"/>
          </a:xfrm>
          <a:prstGeom prst="rect">
            <a:avLst/>
          </a:prstGeom>
        </p:spPr>
      </p:pic>
      <p:sp>
        <p:nvSpPr>
          <p:cNvPr id="18" name="Text 13"/>
          <p:cNvSpPr txBox="1"/>
          <p:nvPr/>
        </p:nvSpPr>
        <p:spPr>
          <a:xfrm>
            <a:off x="8641080" y="2697480"/>
            <a:ext cx="2651760" cy="365760"/>
          </a:xfrm>
          <a:prstGeom prst="rect">
            <a:avLst/>
          </a:prstGeom>
          <a:noFill/>
          <a:ln/>
        </p:spPr>
        <p:txBody>
          <a:bodyPr wrap="square" lIns="0" tIns="0" rIns="0" bIns="0" rtlCol="0" anchor="t"/>
          <a:lstStyle/>
          <a:p>
            <a:pPr indent="0" marL="0">
              <a:buNone/>
            </a:pPr>
            <a:r>
              <a:rPr lang="en-US" sz="2000" b="1" dirty="0">
                <a:solidFill>
                  <a:schemeClr val="tx2"/>
                </a:solidFill>
              </a:rPr>
              <a:t>Output</a:t>
            </a:r>
            <a:endParaRPr lang="en-US" sz="2000" dirty="0"/>
          </a:p>
        </p:txBody>
      </p:sp>
      <p:sp>
        <p:nvSpPr>
          <p:cNvPr id="19" name="Text 14"/>
          <p:cNvSpPr txBox="1"/>
          <p:nvPr/>
        </p:nvSpPr>
        <p:spPr>
          <a:xfrm>
            <a:off x="8641080" y="3108960"/>
            <a:ext cx="2651760" cy="777240"/>
          </a:xfrm>
          <a:prstGeom prst="rect">
            <a:avLst/>
          </a:prstGeom>
          <a:noFill/>
          <a:ln/>
        </p:spPr>
        <p:txBody>
          <a:bodyPr wrap="square" lIns="0" tIns="0" rIns="0" bIns="0" rtlCol="0" anchor="t"/>
          <a:lstStyle/>
          <a:p>
            <a:pPr indent="0" marL="0">
              <a:buNone/>
            </a:pPr>
            <a:r>
              <a:rPr lang="en-US" sz="1500" dirty="0">
                <a:solidFill>
                  <a:schemeClr val="tx1"/>
                </a:solidFill>
              </a:rPr>
              <a:t>P(Won) for each open deal plus the factors that move its score</a:t>
            </a:r>
            <a:endParaRPr lang="en-US" sz="1500" dirty="0"/>
          </a:p>
        </p:txBody>
      </p:sp>
      <p:sp>
        <p:nvSpPr>
          <p:cNvPr id="20" name="scenario-frame"/>
          <p:cNvSpPr/>
          <p:nvPr/>
        </p:nvSpPr>
        <p:spPr>
          <a:xfrm>
            <a:off x="548640" y="4343400"/>
            <a:ext cx="11094415" cy="1600200"/>
          </a:xfrm>
          <a:prstGeom prst="roundRect">
            <a:avLst>
              <a:gd name="adj" fmla="val 4571"/>
            </a:avLst>
          </a:prstGeom>
          <a:solidFill>
            <a:schemeClr val="bg1"/>
          </a:solidFill>
          <a:ln/>
        </p:spPr>
      </p:sp>
      <p:sp>
        <p:nvSpPr>
          <p:cNvPr id="21" name="Text 16"/>
          <p:cNvSpPr txBox="1"/>
          <p:nvPr/>
        </p:nvSpPr>
        <p:spPr>
          <a:xfrm>
            <a:off x="548640" y="4343400"/>
            <a:ext cx="11094415" cy="365760"/>
          </a:xfrm>
          <a:prstGeom prst="rect">
            <a:avLst/>
          </a:prstGeom>
          <a:noFill/>
          <a:ln/>
        </p:spPr>
        <p:txBody>
          <a:bodyPr wrap="square" lIns="0" tIns="0" rIns="0" bIns="0" rtlCol="0" anchor="t"/>
          <a:lstStyle/>
          <a:p>
            <a:pPr indent="0" marL="0">
              <a:buNone/>
            </a:pPr>
            <a:r>
              <a:rPr lang="en-US" sz="1800" b="1" dirty="0">
                <a:solidFill>
                  <a:schemeClr val="tx2"/>
                </a:solidFill>
              </a:rPr>
              <a:t>Two scenarios, same pipeline</a:t>
            </a:r>
            <a:endParaRPr lang="en-US" sz="1800" dirty="0"/>
          </a:p>
        </p:txBody>
      </p:sp>
      <p:sp>
        <p:nvSpPr>
          <p:cNvPr id="22" name="Text 17"/>
          <p:cNvSpPr txBox="1"/>
          <p:nvPr/>
        </p:nvSpPr>
        <p:spPr>
          <a:xfrm>
            <a:off x="548640" y="4800600"/>
            <a:ext cx="11094415" cy="100584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A · Original Maven CRM data: </a:t>
            </a:r>
            <a:pPr indent="0" marL="0">
              <a:spcAft>
                <a:spcPts val="600"/>
              </a:spcAft>
              <a:buNone/>
            </a:pPr>
            <a:r>
              <a:rPr lang="en-US" sz="1600" dirty="0">
                <a:solidFill>
                  <a:schemeClr val="tx1"/>
                </a:solidFill>
              </a:rPr>
              <a:t>the project's reported results.</a:t>
            </a:r>
            <a:endParaRPr lang="en-US" sz="1600" dirty="0"/>
          </a:p>
          <a:p>
            <a:pPr indent="0" marL="0">
              <a:spcAft>
                <a:spcPts val="600"/>
              </a:spcAft>
              <a:buNone/>
            </a:pPr>
            <a:r>
              <a:rPr lang="en-US" sz="1600" b="1" dirty="0">
                <a:solidFill>
                  <a:schemeClr val="accent2"/>
                </a:solidFill>
              </a:rPr>
              <a:t>B · Simulated data with a known formula: </a:t>
            </a:r>
            <a:pPr indent="0" marL="0">
              <a:spcAft>
                <a:spcPts val="600"/>
              </a:spcAft>
              <a:buNone/>
            </a:pPr>
            <a:r>
              <a:rPr lang="en-US" sz="1600" dirty="0">
                <a:solidFill>
                  <a:schemeClr val="tx1"/>
                </a:solidFill>
              </a:rPr>
              <a:t>a check that the pipeline finds signal when signal exists.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Data: a fictitious B2B hardware seller</a:t>
            </a:r>
            <a:endParaRPr lang="en-US" sz="3400" dirty="0"/>
          </a:p>
        </p:txBody>
      </p:sp>
      <p:sp>
        <p:nvSpPr>
          <p:cNvPr id="3" name="Text 1"/>
          <p:cNvSpPr txBox="1"/>
          <p:nvPr/>
        </p:nvSpPr>
        <p:spPr>
          <a:xfrm>
            <a:off x="548640" y="1463040"/>
            <a:ext cx="2560320" cy="73152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8,800</a:t>
            </a:r>
            <a:endParaRPr lang="en-US" sz="4400" dirty="0"/>
          </a:p>
        </p:txBody>
      </p:sp>
      <p:sp>
        <p:nvSpPr>
          <p:cNvPr id="4" name="Text 2"/>
          <p:cNvSpPr txBox="1"/>
          <p:nvPr/>
        </p:nvSpPr>
        <p:spPr>
          <a:xfrm>
            <a:off x="548640" y="2240280"/>
            <a:ext cx="2560320" cy="548640"/>
          </a:xfrm>
          <a:prstGeom prst="rect">
            <a:avLst/>
          </a:prstGeom>
          <a:noFill/>
          <a:ln/>
        </p:spPr>
        <p:txBody>
          <a:bodyPr wrap="square" lIns="0" tIns="0" rIns="0" bIns="0" rtlCol="0" anchor="t"/>
          <a:lstStyle/>
          <a:p>
            <a:pPr indent="0" marL="0">
              <a:buNone/>
            </a:pPr>
            <a:r>
              <a:rPr lang="en-US" sz="1300" dirty="0">
                <a:solidFill>
                  <a:schemeClr val="accent4"/>
                </a:solidFill>
              </a:rPr>
              <a:t>sales opportunities</a:t>
            </a:r>
            <a:endParaRPr lang="en-US" sz="1300" dirty="0"/>
          </a:p>
        </p:txBody>
      </p:sp>
      <p:sp>
        <p:nvSpPr>
          <p:cNvPr id="5" name="Text 3"/>
          <p:cNvSpPr txBox="1"/>
          <p:nvPr/>
        </p:nvSpPr>
        <p:spPr>
          <a:xfrm>
            <a:off x="3291840" y="1463040"/>
            <a:ext cx="2560320" cy="73152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85</a:t>
            </a:r>
            <a:endParaRPr lang="en-US" sz="4400" dirty="0"/>
          </a:p>
        </p:txBody>
      </p:sp>
      <p:sp>
        <p:nvSpPr>
          <p:cNvPr id="6" name="Text 4"/>
          <p:cNvSpPr txBox="1"/>
          <p:nvPr/>
        </p:nvSpPr>
        <p:spPr>
          <a:xfrm>
            <a:off x="3291840" y="2240280"/>
            <a:ext cx="2560320" cy="548640"/>
          </a:xfrm>
          <a:prstGeom prst="rect">
            <a:avLst/>
          </a:prstGeom>
          <a:noFill/>
          <a:ln/>
        </p:spPr>
        <p:txBody>
          <a:bodyPr wrap="square" lIns="0" tIns="0" rIns="0" bIns="0" rtlCol="0" anchor="t"/>
          <a:lstStyle/>
          <a:p>
            <a:pPr indent="0" marL="0">
              <a:buNone/>
            </a:pPr>
            <a:r>
              <a:rPr lang="en-US" sz="1300" dirty="0">
                <a:solidFill>
                  <a:schemeClr val="accent4"/>
                </a:solidFill>
              </a:rPr>
              <a:t>customer accounts</a:t>
            </a:r>
            <a:endParaRPr lang="en-US" sz="1300" dirty="0"/>
          </a:p>
        </p:txBody>
      </p:sp>
      <p:sp>
        <p:nvSpPr>
          <p:cNvPr id="7" name="Text 5"/>
          <p:cNvSpPr txBox="1"/>
          <p:nvPr/>
        </p:nvSpPr>
        <p:spPr>
          <a:xfrm>
            <a:off x="548640" y="2926080"/>
            <a:ext cx="2560320" cy="73152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7</a:t>
            </a:r>
            <a:endParaRPr lang="en-US" sz="4400" dirty="0"/>
          </a:p>
        </p:txBody>
      </p:sp>
      <p:sp>
        <p:nvSpPr>
          <p:cNvPr id="8" name="Text 6"/>
          <p:cNvSpPr txBox="1"/>
          <p:nvPr/>
        </p:nvSpPr>
        <p:spPr>
          <a:xfrm>
            <a:off x="548640" y="3703320"/>
            <a:ext cx="2560320" cy="548640"/>
          </a:xfrm>
          <a:prstGeom prst="rect">
            <a:avLst/>
          </a:prstGeom>
          <a:noFill/>
          <a:ln/>
        </p:spPr>
        <p:txBody>
          <a:bodyPr wrap="square" lIns="0" tIns="0" rIns="0" bIns="0" rtlCol="0" anchor="t"/>
          <a:lstStyle/>
          <a:p>
            <a:pPr indent="0" marL="0">
              <a:buNone/>
            </a:pPr>
            <a:r>
              <a:rPr lang="en-US" sz="1300" dirty="0">
                <a:solidFill>
                  <a:schemeClr val="accent4"/>
                </a:solidFill>
              </a:rPr>
              <a:t>products</a:t>
            </a:r>
            <a:endParaRPr lang="en-US" sz="1300" dirty="0"/>
          </a:p>
        </p:txBody>
      </p:sp>
      <p:sp>
        <p:nvSpPr>
          <p:cNvPr id="9" name="Text 7"/>
          <p:cNvSpPr txBox="1"/>
          <p:nvPr/>
        </p:nvSpPr>
        <p:spPr>
          <a:xfrm>
            <a:off x="3291840" y="2926080"/>
            <a:ext cx="2560320" cy="73152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35</a:t>
            </a:r>
            <a:endParaRPr lang="en-US" sz="4400" dirty="0"/>
          </a:p>
        </p:txBody>
      </p:sp>
      <p:sp>
        <p:nvSpPr>
          <p:cNvPr id="10" name="Text 8"/>
          <p:cNvSpPr txBox="1"/>
          <p:nvPr/>
        </p:nvSpPr>
        <p:spPr>
          <a:xfrm>
            <a:off x="3291840" y="3703320"/>
            <a:ext cx="2560320" cy="548640"/>
          </a:xfrm>
          <a:prstGeom prst="rect">
            <a:avLst/>
          </a:prstGeom>
          <a:noFill/>
          <a:ln/>
        </p:spPr>
        <p:txBody>
          <a:bodyPr wrap="square" lIns="0" tIns="0" rIns="0" bIns="0" rtlCol="0" anchor="t"/>
          <a:lstStyle/>
          <a:p>
            <a:pPr indent="0" marL="0">
              <a:buNone/>
            </a:pPr>
            <a:r>
              <a:rPr lang="en-US" sz="1300" dirty="0">
                <a:solidFill>
                  <a:schemeClr val="accent4"/>
                </a:solidFill>
              </a:rPr>
              <a:t>sales agents</a:t>
            </a:r>
            <a:endParaRPr lang="en-US" sz="1300" dirty="0"/>
          </a:p>
        </p:txBody>
      </p:sp>
      <p:sp>
        <p:nvSpPr>
          <p:cNvPr id="11" name="Text 9"/>
          <p:cNvSpPr txBox="1"/>
          <p:nvPr/>
        </p:nvSpPr>
        <p:spPr>
          <a:xfrm>
            <a:off x="548640" y="4526280"/>
            <a:ext cx="5212080" cy="731520"/>
          </a:xfrm>
          <a:prstGeom prst="rect">
            <a:avLst/>
          </a:prstGeom>
          <a:noFill/>
          <a:ln/>
        </p:spPr>
        <p:txBody>
          <a:bodyPr wrap="square" lIns="0" tIns="0" rIns="0" bIns="0" rtlCol="0" anchor="t"/>
          <a:lstStyle/>
          <a:p>
            <a:pPr indent="0" marL="0">
              <a:buNone/>
            </a:pPr>
            <a:r>
              <a:rPr lang="en-US" sz="1600" dirty="0">
                <a:solidFill>
                  <a:schemeClr val="tx1"/>
                </a:solidFill>
              </a:rPr>
              <a:t>Train only on 6,711 closed deals (63% Won). </a:t>
            </a:r>
            <a:pPr indent="0" marL="0">
              <a:buNone/>
            </a:pPr>
            <a:r>
              <a:rPr lang="en-US" sz="1600" dirty="0">
                <a:solidFill>
                  <a:schemeClr val="tx1"/>
                </a:solidFill>
              </a:rPr>
              <a:t>Open deals are scored, never labelled Lost.</a:t>
            </a:r>
            <a:endParaRPr lang="en-US" sz="1600" dirty="0"/>
          </a:p>
        </p:txBody>
      </p:sp>
      <p:sp>
        <p:nvSpPr>
          <p:cNvPr id="12" name="Text 10"/>
          <p:cNvSpPr txBox="1"/>
          <p:nvPr/>
        </p:nvSpPr>
        <p:spPr>
          <a:xfrm>
            <a:off x="548640" y="5669280"/>
            <a:ext cx="5303520" cy="457200"/>
          </a:xfrm>
          <a:prstGeom prst="rect">
            <a:avLst/>
          </a:prstGeom>
          <a:noFill/>
          <a:ln/>
        </p:spPr>
        <p:txBody>
          <a:bodyPr wrap="square" lIns="0" tIns="0" rIns="0" bIns="0" rtlCol="0" anchor="t"/>
          <a:lstStyle/>
          <a:p>
            <a:pPr indent="0" marL="0">
              <a:buNone/>
            </a:pPr>
            <a:r>
              <a:rPr lang="en-US" sz="1100" dirty="0">
                <a:solidFill>
                  <a:schemeClr val="accent4"/>
                </a:solidFill>
              </a:rPr>
              <a:t>Source: Maven Analytics CRM Sales Opportunities (public practice dataset)</a:t>
            </a:r>
            <a:endParaRPr lang="en-US" sz="1100" dirty="0"/>
          </a:p>
        </p:txBody>
      </p:sp>
      <p:graphicFrame>
        <p:nvGraphicFramePr>
          <p:cNvPr id="13" name="stage-chart" descr=""/>
          <p:cNvGraphicFramePr/>
          <p:nvPr/>
        </p:nvGraphicFramePr>
        <p:xfrm>
          <a:off x="6309360" y="1325880"/>
          <a:ext cx="530352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Leakage control: hide the answer</a:t>
            </a:r>
            <a:endParaRPr lang="en-US" sz="3400" dirty="0"/>
          </a:p>
        </p:txBody>
      </p:sp>
      <p:sp>
        <p:nvSpPr>
          <p:cNvPr id="3" name="icon-bg-ban"/>
          <p:cNvSpPr/>
          <p:nvPr/>
        </p:nvSpPr>
        <p:spPr>
          <a:xfrm>
            <a:off x="548640" y="1463040"/>
            <a:ext cx="502920" cy="502920"/>
          </a:xfrm>
          <a:prstGeom prst="ellipse">
            <a:avLst/>
          </a:prstGeom>
          <a:solidFill>
            <a:schemeClr val="accent3"/>
          </a:solidFill>
          <a:ln/>
        </p:spPr>
      </p:sp>
      <p:pic>
        <p:nvPicPr>
          <p:cNvPr id="4" name="icon-ban" descr="preencoded.png">    </p:cNvPr>
          <p:cNvPicPr>
            <a:picLocks noChangeAspect="1"/>
          </p:cNvPicPr>
          <p:nvPr/>
        </p:nvPicPr>
        <p:blipFill>
          <a:blip r:embed="rId1"/>
          <a:stretch>
            <a:fillRect/>
          </a:stretch>
        </p:blipFill>
        <p:spPr>
          <a:xfrm>
            <a:off x="674370" y="1588770"/>
            <a:ext cx="251460" cy="251460"/>
          </a:xfrm>
          <a:prstGeom prst="rect">
            <a:avLst/>
          </a:prstGeom>
        </p:spPr>
      </p:pic>
      <p:sp>
        <p:nvSpPr>
          <p:cNvPr id="5" name="Text 2"/>
          <p:cNvSpPr txBox="1"/>
          <p:nvPr/>
        </p:nvSpPr>
        <p:spPr>
          <a:xfrm>
            <a:off x="1280160" y="1444752"/>
            <a:ext cx="4754880" cy="320040"/>
          </a:xfrm>
          <a:prstGeom prst="rect">
            <a:avLst/>
          </a:prstGeom>
          <a:noFill/>
          <a:ln/>
        </p:spPr>
        <p:txBody>
          <a:bodyPr wrap="square" lIns="0" tIns="0" rIns="0" bIns="0" rtlCol="0" anchor="t"/>
          <a:lstStyle/>
          <a:p>
            <a:pPr indent="0" marL="0">
              <a:buNone/>
            </a:pPr>
            <a:r>
              <a:rPr lang="en-US" sz="1800" b="1" dirty="0">
                <a:solidFill>
                  <a:schemeClr val="tx2"/>
                </a:solidFill>
                <a:latin typeface="Courier New" pitchFamily="34" charset="0"/>
                <a:ea typeface="Courier New" pitchFamily="34" charset="-122"/>
                <a:cs typeface="Courier New" pitchFamily="34" charset="-120"/>
              </a:rPr>
              <a:t>close_value</a:t>
            </a:r>
            <a:endParaRPr lang="en-US" sz="1800" dirty="0"/>
          </a:p>
        </p:txBody>
      </p:sp>
      <p:sp>
        <p:nvSpPr>
          <p:cNvPr id="6" name="Text 3"/>
          <p:cNvSpPr txBox="1"/>
          <p:nvPr/>
        </p:nvSpPr>
        <p:spPr>
          <a:xfrm>
            <a:off x="1280160" y="1810512"/>
            <a:ext cx="4754880" cy="365760"/>
          </a:xfrm>
          <a:prstGeom prst="rect">
            <a:avLst/>
          </a:prstGeom>
          <a:noFill/>
          <a:ln/>
        </p:spPr>
        <p:txBody>
          <a:bodyPr wrap="square" lIns="0" tIns="0" rIns="0" bIns="0" rtlCol="0" anchor="t"/>
          <a:lstStyle/>
          <a:p>
            <a:pPr indent="0" marL="0">
              <a:buNone/>
            </a:pPr>
            <a:r>
              <a:rPr lang="en-US" sz="1500" dirty="0">
                <a:solidFill>
                  <a:schemeClr val="accent4"/>
                </a:solidFill>
              </a:rPr>
              <a:t>0 for every Lost deal: reveals the outcome</a:t>
            </a:r>
            <a:endParaRPr lang="en-US" sz="1500" dirty="0"/>
          </a:p>
        </p:txBody>
      </p:sp>
      <p:sp>
        <p:nvSpPr>
          <p:cNvPr id="7" name="icon-bg-ban"/>
          <p:cNvSpPr/>
          <p:nvPr/>
        </p:nvSpPr>
        <p:spPr>
          <a:xfrm>
            <a:off x="548640" y="2487168"/>
            <a:ext cx="502920" cy="502920"/>
          </a:xfrm>
          <a:prstGeom prst="ellipse">
            <a:avLst/>
          </a:prstGeom>
          <a:solidFill>
            <a:schemeClr val="accent3"/>
          </a:solidFill>
          <a:ln/>
        </p:spPr>
      </p:sp>
      <p:pic>
        <p:nvPicPr>
          <p:cNvPr id="8" name="icon-ban" descr="preencoded.png">    </p:cNvPr>
          <p:cNvPicPr>
            <a:picLocks noChangeAspect="1"/>
          </p:cNvPicPr>
          <p:nvPr/>
        </p:nvPicPr>
        <p:blipFill>
          <a:blip r:embed="rId2"/>
          <a:stretch>
            <a:fillRect/>
          </a:stretch>
        </p:blipFill>
        <p:spPr>
          <a:xfrm>
            <a:off x="674370" y="2612898"/>
            <a:ext cx="251460" cy="251460"/>
          </a:xfrm>
          <a:prstGeom prst="rect">
            <a:avLst/>
          </a:prstGeom>
        </p:spPr>
      </p:pic>
      <p:sp>
        <p:nvSpPr>
          <p:cNvPr id="9" name="Text 5"/>
          <p:cNvSpPr txBox="1"/>
          <p:nvPr/>
        </p:nvSpPr>
        <p:spPr>
          <a:xfrm>
            <a:off x="1280160" y="2468880"/>
            <a:ext cx="4754880" cy="320040"/>
          </a:xfrm>
          <a:prstGeom prst="rect">
            <a:avLst/>
          </a:prstGeom>
          <a:noFill/>
          <a:ln/>
        </p:spPr>
        <p:txBody>
          <a:bodyPr wrap="square" lIns="0" tIns="0" rIns="0" bIns="0" rtlCol="0" anchor="t"/>
          <a:lstStyle/>
          <a:p>
            <a:pPr indent="0" marL="0">
              <a:buNone/>
            </a:pPr>
            <a:r>
              <a:rPr lang="en-US" sz="1800" b="1" dirty="0">
                <a:solidFill>
                  <a:schemeClr val="tx2"/>
                </a:solidFill>
                <a:latin typeface="Courier New" pitchFamily="34" charset="0"/>
                <a:ea typeface="Courier New" pitchFamily="34" charset="-122"/>
                <a:cs typeface="Courier New" pitchFamily="34" charset="-120"/>
              </a:rPr>
              <a:t>close_date</a:t>
            </a:r>
            <a:endParaRPr lang="en-US" sz="1800" dirty="0"/>
          </a:p>
        </p:txBody>
      </p:sp>
      <p:sp>
        <p:nvSpPr>
          <p:cNvPr id="10" name="Text 6"/>
          <p:cNvSpPr txBox="1"/>
          <p:nvPr/>
        </p:nvSpPr>
        <p:spPr>
          <a:xfrm>
            <a:off x="1280160" y="2834640"/>
            <a:ext cx="4754880" cy="365760"/>
          </a:xfrm>
          <a:prstGeom prst="rect">
            <a:avLst/>
          </a:prstGeom>
          <a:noFill/>
          <a:ln/>
        </p:spPr>
        <p:txBody>
          <a:bodyPr wrap="square" lIns="0" tIns="0" rIns="0" bIns="0" rtlCol="0" anchor="t"/>
          <a:lstStyle/>
          <a:p>
            <a:pPr indent="0" marL="0">
              <a:buNone/>
            </a:pPr>
            <a:r>
              <a:rPr lang="en-US" sz="1500" dirty="0">
                <a:solidFill>
                  <a:schemeClr val="accent4"/>
                </a:solidFill>
              </a:rPr>
              <a:t>only known after the deal closes</a:t>
            </a:r>
            <a:endParaRPr lang="en-US" sz="1500" dirty="0"/>
          </a:p>
        </p:txBody>
      </p:sp>
      <p:sp>
        <p:nvSpPr>
          <p:cNvPr id="11" name="icon-bg-ban"/>
          <p:cNvSpPr/>
          <p:nvPr/>
        </p:nvSpPr>
        <p:spPr>
          <a:xfrm>
            <a:off x="548640" y="3511296"/>
            <a:ext cx="502920" cy="502920"/>
          </a:xfrm>
          <a:prstGeom prst="ellipse">
            <a:avLst/>
          </a:prstGeom>
          <a:solidFill>
            <a:schemeClr val="accent3"/>
          </a:solidFill>
          <a:ln/>
        </p:spPr>
      </p:sp>
      <p:pic>
        <p:nvPicPr>
          <p:cNvPr id="12" name="icon-ban" descr="preencoded.png">    </p:cNvPr>
          <p:cNvPicPr>
            <a:picLocks noChangeAspect="1"/>
          </p:cNvPicPr>
          <p:nvPr/>
        </p:nvPicPr>
        <p:blipFill>
          <a:blip r:embed="rId3"/>
          <a:stretch>
            <a:fillRect/>
          </a:stretch>
        </p:blipFill>
        <p:spPr>
          <a:xfrm>
            <a:off x="674370" y="3637026"/>
            <a:ext cx="251460" cy="251460"/>
          </a:xfrm>
          <a:prstGeom prst="rect">
            <a:avLst/>
          </a:prstGeom>
        </p:spPr>
      </p:pic>
      <p:sp>
        <p:nvSpPr>
          <p:cNvPr id="13" name="Text 8"/>
          <p:cNvSpPr txBox="1"/>
          <p:nvPr/>
        </p:nvSpPr>
        <p:spPr>
          <a:xfrm>
            <a:off x="1280160" y="3493008"/>
            <a:ext cx="4754880" cy="320040"/>
          </a:xfrm>
          <a:prstGeom prst="rect">
            <a:avLst/>
          </a:prstGeom>
          <a:noFill/>
          <a:ln/>
        </p:spPr>
        <p:txBody>
          <a:bodyPr wrap="square" lIns="0" tIns="0" rIns="0" bIns="0" rtlCol="0" anchor="t"/>
          <a:lstStyle/>
          <a:p>
            <a:pPr indent="0" marL="0">
              <a:buNone/>
            </a:pPr>
            <a:r>
              <a:rPr lang="en-US" sz="1800" b="1" dirty="0">
                <a:solidFill>
                  <a:schemeClr val="tx2"/>
                </a:solidFill>
                <a:latin typeface="Courier New" pitchFamily="34" charset="0"/>
                <a:ea typeface="Courier New" pitchFamily="34" charset="-122"/>
                <a:cs typeface="Courier New" pitchFamily="34" charset="-120"/>
              </a:rPr>
              <a:t>deal_stage</a:t>
            </a:r>
            <a:endParaRPr lang="en-US" sz="1800" dirty="0"/>
          </a:p>
        </p:txBody>
      </p:sp>
      <p:sp>
        <p:nvSpPr>
          <p:cNvPr id="14" name="Text 9"/>
          <p:cNvSpPr txBox="1"/>
          <p:nvPr/>
        </p:nvSpPr>
        <p:spPr>
          <a:xfrm>
            <a:off x="1280160" y="3858768"/>
            <a:ext cx="4754880" cy="365760"/>
          </a:xfrm>
          <a:prstGeom prst="rect">
            <a:avLst/>
          </a:prstGeom>
          <a:noFill/>
          <a:ln/>
        </p:spPr>
        <p:txBody>
          <a:bodyPr wrap="square" lIns="0" tIns="0" rIns="0" bIns="0" rtlCol="0" anchor="t"/>
          <a:lstStyle/>
          <a:p>
            <a:pPr indent="0" marL="0">
              <a:buNone/>
            </a:pPr>
            <a:r>
              <a:rPr lang="en-US" sz="1500" dirty="0">
                <a:solidFill>
                  <a:schemeClr val="accent4"/>
                </a:solidFill>
              </a:rPr>
              <a:t>this is the label itself</a:t>
            </a:r>
            <a:endParaRPr lang="en-US" sz="1500" dirty="0"/>
          </a:p>
        </p:txBody>
      </p:sp>
      <p:sp>
        <p:nvSpPr>
          <p:cNvPr id="15" name="icon-bg-ban"/>
          <p:cNvSpPr/>
          <p:nvPr/>
        </p:nvSpPr>
        <p:spPr>
          <a:xfrm>
            <a:off x="548640" y="4535424"/>
            <a:ext cx="502920" cy="502920"/>
          </a:xfrm>
          <a:prstGeom prst="ellipse">
            <a:avLst/>
          </a:prstGeom>
          <a:solidFill>
            <a:schemeClr val="accent3"/>
          </a:solidFill>
          <a:ln/>
        </p:spPr>
      </p:sp>
      <p:pic>
        <p:nvPicPr>
          <p:cNvPr id="16" name="icon-ban" descr="preencoded.png">    </p:cNvPr>
          <p:cNvPicPr>
            <a:picLocks noChangeAspect="1"/>
          </p:cNvPicPr>
          <p:nvPr/>
        </p:nvPicPr>
        <p:blipFill>
          <a:blip r:embed="rId4"/>
          <a:stretch>
            <a:fillRect/>
          </a:stretch>
        </p:blipFill>
        <p:spPr>
          <a:xfrm>
            <a:off x="674370" y="4661154"/>
            <a:ext cx="251460" cy="251460"/>
          </a:xfrm>
          <a:prstGeom prst="rect">
            <a:avLst/>
          </a:prstGeom>
        </p:spPr>
      </p:pic>
      <p:sp>
        <p:nvSpPr>
          <p:cNvPr id="17" name="Text 11"/>
          <p:cNvSpPr txBox="1"/>
          <p:nvPr/>
        </p:nvSpPr>
        <p:spPr>
          <a:xfrm>
            <a:off x="1280160" y="4517136"/>
            <a:ext cx="4754880" cy="320040"/>
          </a:xfrm>
          <a:prstGeom prst="rect">
            <a:avLst/>
          </a:prstGeom>
          <a:noFill/>
          <a:ln/>
        </p:spPr>
        <p:txBody>
          <a:bodyPr wrap="square" lIns="0" tIns="0" rIns="0" bIns="0" rtlCol="0" anchor="t"/>
          <a:lstStyle/>
          <a:p>
            <a:pPr indent="0" marL="0">
              <a:buNone/>
            </a:pPr>
            <a:r>
              <a:rPr lang="en-US" sz="1800" b="1" dirty="0">
                <a:solidFill>
                  <a:schemeClr val="tx2"/>
                </a:solidFill>
                <a:latin typeface="Courier New" pitchFamily="34" charset="0"/>
                <a:ea typeface="Courier New" pitchFamily="34" charset="-122"/>
                <a:cs typeface="Courier New" pitchFamily="34" charset="-120"/>
              </a:rPr>
              <a:t>opportunity_id</a:t>
            </a:r>
            <a:endParaRPr lang="en-US" sz="1800" dirty="0"/>
          </a:p>
        </p:txBody>
      </p:sp>
      <p:sp>
        <p:nvSpPr>
          <p:cNvPr id="18" name="Text 12"/>
          <p:cNvSpPr txBox="1"/>
          <p:nvPr/>
        </p:nvSpPr>
        <p:spPr>
          <a:xfrm>
            <a:off x="1280160" y="4882896"/>
            <a:ext cx="4754880" cy="365760"/>
          </a:xfrm>
          <a:prstGeom prst="rect">
            <a:avLst/>
          </a:prstGeom>
          <a:noFill/>
          <a:ln/>
        </p:spPr>
        <p:txBody>
          <a:bodyPr wrap="square" lIns="0" tIns="0" rIns="0" bIns="0" rtlCol="0" anchor="t"/>
          <a:lstStyle/>
          <a:p>
            <a:pPr indent="0" marL="0">
              <a:buNone/>
            </a:pPr>
            <a:r>
              <a:rPr lang="en-US" sz="1500" dirty="0">
                <a:solidFill>
                  <a:schemeClr val="accent4"/>
                </a:solidFill>
              </a:rPr>
              <a:t>an identifier, not a property of the deal</a:t>
            </a:r>
            <a:endParaRPr lang="en-US" sz="1500" dirty="0"/>
          </a:p>
        </p:txBody>
      </p:sp>
      <p:graphicFrame>
        <p:nvGraphicFramePr>
          <p:cNvPr id="19" name="leakage-chart" descr=""/>
          <p:cNvGraphicFramePr/>
          <p:nvPr/>
        </p:nvGraphicFramePr>
        <p:xfrm>
          <a:off x="6400800" y="1371600"/>
          <a:ext cx="5212080" cy="4206240"/>
        </p:xfrm>
        <a:graphic xmlns:a="http://schemas.openxmlformats.org/drawingml/2006/main">
          <a:graphicData uri="http://schemas.openxmlformats.org/drawingml/2006/chart">
            <c:chart xmlns:c="http://schemas.openxmlformats.org/drawingml/2006/chart" r:id="rId5"/>
          </a:graphicData>
        </a:graphic>
      </p:graphicFrame>
      <p:sp>
        <p:nvSpPr>
          <p:cNvPr id="20" name="Text 13"/>
          <p:cNvSpPr txBox="1"/>
          <p:nvPr/>
        </p:nvSpPr>
        <p:spPr>
          <a:xfrm>
            <a:off x="6400800" y="5623560"/>
            <a:ext cx="5212080" cy="548640"/>
          </a:xfrm>
          <a:prstGeom prst="rect">
            <a:avLst/>
          </a:prstGeom>
          <a:noFill/>
          <a:ln/>
        </p:spPr>
        <p:txBody>
          <a:bodyPr wrap="square" lIns="0" tIns="0" rIns="0" bIns="0" rtlCol="0" anchor="t"/>
          <a:lstStyle/>
          <a:p>
            <a:pPr indent="0" marL="0">
              <a:buNone/>
            </a:pPr>
            <a:r>
              <a:rPr lang="en-US" sz="1300" i="1" dirty="0">
                <a:solidFill>
                  <a:schemeClr val="accent4"/>
                </a:solidFill>
              </a:rPr>
              <a:t>A perfect score here is a warning sign, not a result. The leaky model is a control only.</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Time-based split: no peeking at the future</a:t>
            </a:r>
            <a:endParaRPr lang="en-US" sz="3400" dirty="0"/>
          </a:p>
        </p:txBody>
      </p:sp>
      <p:sp>
        <p:nvSpPr>
          <p:cNvPr id="3" name="split-Train"/>
          <p:cNvSpPr/>
          <p:nvPr/>
        </p:nvSpPr>
        <p:spPr>
          <a:xfrm>
            <a:off x="548640" y="1600200"/>
            <a:ext cx="6353526" cy="1005840"/>
          </a:xfrm>
          <a:prstGeom prst="roundRect">
            <a:avLst>
              <a:gd name="adj" fmla="val 7273"/>
            </a:avLst>
          </a:prstGeom>
          <a:solidFill>
            <a:schemeClr val="accent1"/>
          </a:solidFill>
          <a:ln/>
        </p:spPr>
      </p:sp>
      <p:sp>
        <p:nvSpPr>
          <p:cNvPr id="4" name="Text 2"/>
          <p:cNvSpPr txBox="1"/>
          <p:nvPr/>
        </p:nvSpPr>
        <p:spPr>
          <a:xfrm>
            <a:off x="731520" y="1691640"/>
            <a:ext cx="6079206" cy="822960"/>
          </a:xfrm>
          <a:prstGeom prst="rect">
            <a:avLst/>
          </a:prstGeom>
          <a:noFill/>
          <a:ln/>
        </p:spPr>
        <p:txBody>
          <a:bodyPr wrap="square" lIns="0" tIns="0" rIns="0" bIns="0" rtlCol="0" anchor="ctr"/>
          <a:lstStyle/>
          <a:p>
            <a:pPr indent="0" marL="0">
              <a:buNone/>
            </a:pPr>
            <a:r>
              <a:rPr lang="en-US" sz="1800" b="1" dirty="0">
                <a:solidFill>
                  <a:schemeClr val="bg1"/>
                </a:solidFill>
              </a:rPr>
              <a:t>Train</a:t>
            </a:r>
            <a:endParaRPr lang="en-US" sz="1800" dirty="0"/>
          </a:p>
          <a:p>
            <a:pPr indent="0" marL="0">
              <a:buNone/>
            </a:pPr>
            <a:r>
              <a:rPr lang="en-US" sz="1800" dirty="0">
                <a:solidFill>
                  <a:schemeClr val="bg1"/>
                </a:solidFill>
              </a:rPr>
              <a:t>2,975 deals</a:t>
            </a:r>
            <a:endParaRPr lang="en-US" sz="1800" dirty="0"/>
          </a:p>
        </p:txBody>
      </p:sp>
      <p:sp>
        <p:nvSpPr>
          <p:cNvPr id="5" name="Text 3"/>
          <p:cNvSpPr txBox="1"/>
          <p:nvPr/>
        </p:nvSpPr>
        <p:spPr>
          <a:xfrm>
            <a:off x="548640" y="2697480"/>
            <a:ext cx="6353526" cy="320040"/>
          </a:xfrm>
          <a:prstGeom prst="rect">
            <a:avLst/>
          </a:prstGeom>
          <a:noFill/>
          <a:ln/>
        </p:spPr>
        <p:txBody>
          <a:bodyPr wrap="square" lIns="0" tIns="0" rIns="0" bIns="0" rtlCol="0" anchor="t"/>
          <a:lstStyle/>
          <a:p>
            <a:pPr indent="0" marL="0">
              <a:buNone/>
            </a:pPr>
            <a:r>
              <a:rPr lang="en-US" sz="1300" dirty="0">
                <a:solidFill>
                  <a:schemeClr val="accent4"/>
                </a:solidFill>
              </a:rPr>
              <a:t>Engaged Oct 2016 – Jul 2017</a:t>
            </a:r>
            <a:endParaRPr lang="en-US" sz="1300" dirty="0"/>
          </a:p>
        </p:txBody>
      </p:sp>
      <p:sp>
        <p:nvSpPr>
          <p:cNvPr id="6" name="split-Validation"/>
          <p:cNvSpPr/>
          <p:nvPr/>
        </p:nvSpPr>
        <p:spPr>
          <a:xfrm>
            <a:off x="6993606" y="1600200"/>
            <a:ext cx="1426693" cy="1005840"/>
          </a:xfrm>
          <a:prstGeom prst="roundRect">
            <a:avLst>
              <a:gd name="adj" fmla="val 7273"/>
            </a:avLst>
          </a:prstGeom>
          <a:solidFill>
            <a:schemeClr val="accent2"/>
          </a:solidFill>
          <a:ln/>
        </p:spPr>
      </p:sp>
      <p:sp>
        <p:nvSpPr>
          <p:cNvPr id="7" name="Text 5"/>
          <p:cNvSpPr txBox="1"/>
          <p:nvPr/>
        </p:nvSpPr>
        <p:spPr>
          <a:xfrm>
            <a:off x="7176486" y="1691640"/>
            <a:ext cx="1152373" cy="822960"/>
          </a:xfrm>
          <a:prstGeom prst="rect">
            <a:avLst/>
          </a:prstGeom>
          <a:noFill/>
          <a:ln/>
        </p:spPr>
        <p:txBody>
          <a:bodyPr wrap="square" lIns="0" tIns="0" rIns="0" bIns="0" rtlCol="0" anchor="ctr"/>
          <a:lstStyle/>
          <a:p>
            <a:pPr indent="0" marL="0">
              <a:buNone/>
            </a:pPr>
            <a:r>
              <a:rPr lang="en-US" sz="1800" b="1" dirty="0">
                <a:solidFill>
                  <a:schemeClr val="bg1"/>
                </a:solidFill>
              </a:rPr>
              <a:t>Validation</a:t>
            </a:r>
            <a:endParaRPr lang="en-US" sz="1800" dirty="0"/>
          </a:p>
          <a:p>
            <a:pPr indent="0" marL="0">
              <a:buNone/>
            </a:pPr>
            <a:r>
              <a:rPr lang="en-US" sz="1800" dirty="0">
                <a:solidFill>
                  <a:schemeClr val="bg1"/>
                </a:solidFill>
              </a:rPr>
              <a:t>583 deals</a:t>
            </a:r>
            <a:endParaRPr lang="en-US" sz="1800" dirty="0"/>
          </a:p>
        </p:txBody>
      </p:sp>
      <p:sp>
        <p:nvSpPr>
          <p:cNvPr id="8" name="Text 6"/>
          <p:cNvSpPr txBox="1"/>
          <p:nvPr/>
        </p:nvSpPr>
        <p:spPr>
          <a:xfrm>
            <a:off x="6993606" y="2697480"/>
            <a:ext cx="1426693" cy="320040"/>
          </a:xfrm>
          <a:prstGeom prst="rect">
            <a:avLst/>
          </a:prstGeom>
          <a:noFill/>
          <a:ln/>
        </p:spPr>
        <p:txBody>
          <a:bodyPr wrap="square" lIns="0" tIns="0" rIns="0" bIns="0" rtlCol="0" anchor="t"/>
          <a:lstStyle/>
          <a:p>
            <a:pPr indent="0" marL="0">
              <a:buNone/>
            </a:pPr>
            <a:r>
              <a:rPr lang="en-US" sz="1300" dirty="0">
                <a:solidFill>
                  <a:schemeClr val="accent4"/>
                </a:solidFill>
              </a:rPr>
              <a:t>Jul – Sep 2017</a:t>
            </a:r>
            <a:endParaRPr lang="en-US" sz="1300" dirty="0"/>
          </a:p>
        </p:txBody>
      </p:sp>
      <p:sp>
        <p:nvSpPr>
          <p:cNvPr id="9" name="split-Test"/>
          <p:cNvSpPr/>
          <p:nvPr/>
        </p:nvSpPr>
        <p:spPr>
          <a:xfrm>
            <a:off x="8511739" y="1600200"/>
            <a:ext cx="2856997" cy="1005840"/>
          </a:xfrm>
          <a:prstGeom prst="roundRect">
            <a:avLst>
              <a:gd name="adj" fmla="val 7273"/>
            </a:avLst>
          </a:prstGeom>
          <a:solidFill>
            <a:schemeClr val="tx2"/>
          </a:solidFill>
          <a:ln/>
        </p:spPr>
      </p:sp>
      <p:sp>
        <p:nvSpPr>
          <p:cNvPr id="10" name="Text 8"/>
          <p:cNvSpPr txBox="1"/>
          <p:nvPr/>
        </p:nvSpPr>
        <p:spPr>
          <a:xfrm>
            <a:off x="8694619" y="1691640"/>
            <a:ext cx="2582677" cy="822960"/>
          </a:xfrm>
          <a:prstGeom prst="rect">
            <a:avLst/>
          </a:prstGeom>
          <a:noFill/>
          <a:ln/>
        </p:spPr>
        <p:txBody>
          <a:bodyPr wrap="square" lIns="0" tIns="0" rIns="0" bIns="0" rtlCol="0" anchor="ctr"/>
          <a:lstStyle/>
          <a:p>
            <a:pPr indent="0" marL="0">
              <a:buNone/>
            </a:pPr>
            <a:r>
              <a:rPr lang="en-US" sz="1800" b="1" dirty="0">
                <a:solidFill>
                  <a:schemeClr val="bg1"/>
                </a:solidFill>
              </a:rPr>
              <a:t>Test</a:t>
            </a:r>
            <a:endParaRPr lang="en-US" sz="1800" dirty="0"/>
          </a:p>
          <a:p>
            <a:pPr indent="0" marL="0">
              <a:buNone/>
            </a:pPr>
            <a:r>
              <a:rPr lang="en-US" sz="1800" dirty="0">
                <a:solidFill>
                  <a:schemeClr val="bg1"/>
                </a:solidFill>
              </a:rPr>
              <a:t>1,361 deals</a:t>
            </a:r>
            <a:endParaRPr lang="en-US" sz="1800" dirty="0"/>
          </a:p>
        </p:txBody>
      </p:sp>
      <p:sp>
        <p:nvSpPr>
          <p:cNvPr id="11" name="Text 9"/>
          <p:cNvSpPr txBox="1"/>
          <p:nvPr/>
        </p:nvSpPr>
        <p:spPr>
          <a:xfrm>
            <a:off x="8511739" y="2697480"/>
            <a:ext cx="2856997" cy="320040"/>
          </a:xfrm>
          <a:prstGeom prst="rect">
            <a:avLst/>
          </a:prstGeom>
          <a:noFill/>
          <a:ln/>
        </p:spPr>
        <p:txBody>
          <a:bodyPr wrap="square" lIns="0" tIns="0" rIns="0" bIns="0" rtlCol="0" anchor="t"/>
          <a:lstStyle/>
          <a:p>
            <a:pPr indent="0" marL="0">
              <a:buNone/>
            </a:pPr>
            <a:r>
              <a:rPr lang="en-US" sz="1300" dirty="0">
                <a:solidFill>
                  <a:schemeClr val="accent4"/>
                </a:solidFill>
              </a:rPr>
              <a:t>Engaged Sep – Dec 2017</a:t>
            </a:r>
            <a:endParaRPr lang="en-US" sz="1300" dirty="0"/>
          </a:p>
        </p:txBody>
      </p:sp>
      <p:sp>
        <p:nvSpPr>
          <p:cNvPr id="12" name="time-axis"/>
          <p:cNvSpPr/>
          <p:nvPr/>
        </p:nvSpPr>
        <p:spPr>
          <a:xfrm>
            <a:off x="548640" y="3154680"/>
            <a:ext cx="10911535" cy="0"/>
          </a:xfrm>
          <a:prstGeom prst="line">
            <a:avLst/>
          </a:prstGeom>
          <a:noFill/>
          <a:ln w="15875">
            <a:solidFill>
              <a:schemeClr val="accent4"/>
            </a:solidFill>
            <a:prstDash val="solid"/>
            <a:tailEnd type="triangle"/>
          </a:ln>
        </p:spPr>
      </p:sp>
      <p:sp>
        <p:nvSpPr>
          <p:cNvPr id="13" name="Text 11"/>
          <p:cNvSpPr txBox="1"/>
          <p:nvPr/>
        </p:nvSpPr>
        <p:spPr>
          <a:xfrm>
            <a:off x="9631375" y="3246120"/>
            <a:ext cx="2011680" cy="274320"/>
          </a:xfrm>
          <a:prstGeom prst="rect">
            <a:avLst/>
          </a:prstGeom>
          <a:noFill/>
          <a:ln/>
        </p:spPr>
        <p:txBody>
          <a:bodyPr wrap="square" lIns="0" tIns="0" rIns="0" bIns="0" rtlCol="0" anchor="t"/>
          <a:lstStyle/>
          <a:p>
            <a:pPr algn="r" indent="0" marL="0">
              <a:buNone/>
            </a:pPr>
            <a:r>
              <a:rPr lang="en-US" sz="1100" dirty="0">
                <a:solidFill>
                  <a:schemeClr val="accent4"/>
                </a:solidFill>
              </a:rPr>
              <a:t>time (engage date)</a:t>
            </a:r>
            <a:endParaRPr lang="en-US" sz="1100" dirty="0"/>
          </a:p>
        </p:txBody>
      </p:sp>
      <p:sp>
        <p:nvSpPr>
          <p:cNvPr id="14" name="Text 12"/>
          <p:cNvSpPr txBox="1"/>
          <p:nvPr/>
        </p:nvSpPr>
        <p:spPr>
          <a:xfrm>
            <a:off x="548640" y="3703320"/>
            <a:ext cx="3291840" cy="73152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1,792</a:t>
            </a:r>
            <a:endParaRPr lang="en-US" sz="4400" dirty="0"/>
          </a:p>
        </p:txBody>
      </p:sp>
      <p:sp>
        <p:nvSpPr>
          <p:cNvPr id="15" name="Text 13"/>
          <p:cNvSpPr txBox="1"/>
          <p:nvPr/>
        </p:nvSpPr>
        <p:spPr>
          <a:xfrm>
            <a:off x="548640" y="4480560"/>
            <a:ext cx="3291840" cy="548640"/>
          </a:xfrm>
          <a:prstGeom prst="rect">
            <a:avLst/>
          </a:prstGeom>
          <a:noFill/>
          <a:ln/>
        </p:spPr>
        <p:txBody>
          <a:bodyPr wrap="square" lIns="0" tIns="0" rIns="0" bIns="0" rtlCol="0" anchor="t"/>
          <a:lstStyle/>
          <a:p>
            <a:pPr indent="0" marL="0">
              <a:buNone/>
            </a:pPr>
            <a:r>
              <a:rPr lang="en-US" sz="1300" dirty="0">
                <a:solidFill>
                  <a:schemeClr val="accent4"/>
                </a:solidFill>
              </a:rPr>
              <a:t>closed deals purged: their outcome was not yet known at the cutoff</a:t>
            </a:r>
            <a:endParaRPr lang="en-US" sz="1300" dirty="0"/>
          </a:p>
        </p:txBody>
      </p:sp>
      <p:sp>
        <p:nvSpPr>
          <p:cNvPr id="16" name="Text 14"/>
          <p:cNvSpPr txBox="1"/>
          <p:nvPr/>
        </p:nvSpPr>
        <p:spPr>
          <a:xfrm>
            <a:off x="4480560" y="3886200"/>
            <a:ext cx="7132320"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Deals engaged on the same date always stay in the same period</a:t>
            </a:r>
            <a:endParaRPr lang="en-US" sz="1600" dirty="0"/>
          </a:p>
          <a:p>
            <a:pPr marL="203200" indent="-203200">
              <a:spcAft>
                <a:spcPts val="800"/>
              </a:spcAft>
              <a:buSzPct val="100000"/>
              <a:buChar char="•"/>
            </a:pPr>
            <a:r>
              <a:rPr lang="en-US" sz="1500" dirty="0">
                <a:solidFill>
                  <a:schemeClr val="tx1"/>
                </a:solidFill>
              </a:rPr>
              <a:t>Train and validation outcomes must be known before the next period starts</a:t>
            </a:r>
            <a:endParaRPr lang="en-US" sz="1600" dirty="0"/>
          </a:p>
          <a:p>
            <a:pPr marL="203200" indent="-203200">
              <a:spcAft>
                <a:spcPts val="800"/>
              </a:spcAft>
              <a:buSzPct val="100000"/>
              <a:buChar char="•"/>
            </a:pPr>
            <a:r>
              <a:rPr lang="en-US" sz="1500" dirty="0">
                <a:solidFill>
                  <a:schemeClr val="tx1"/>
                </a:solidFill>
              </a:rPr>
              <a:t>Imputation, encoding and scaling are fit on training rows only</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Five models, one shared pipeline</a:t>
            </a:r>
            <a:endParaRPr lang="en-US" sz="3400" dirty="0"/>
          </a:p>
        </p:txBody>
      </p:sp>
      <p:sp>
        <p:nvSpPr>
          <p:cNvPr id="3" name="model-0"/>
          <p:cNvSpPr/>
          <p:nvPr/>
        </p:nvSpPr>
        <p:spPr>
          <a:xfrm>
            <a:off x="548640" y="1463040"/>
            <a:ext cx="2057400" cy="1600200"/>
          </a:xfrm>
          <a:prstGeom prst="roundRect">
            <a:avLst>
              <a:gd name="adj" fmla="val 4571"/>
            </a:avLst>
          </a:prstGeom>
          <a:solidFill>
            <a:schemeClr val="bg2"/>
          </a:solidFill>
          <a:ln/>
        </p:spPr>
      </p:sp>
      <p:sp>
        <p:nvSpPr>
          <p:cNvPr id="4" name="Text 2"/>
          <p:cNvSpPr txBox="1"/>
          <p:nvPr/>
        </p:nvSpPr>
        <p:spPr>
          <a:xfrm>
            <a:off x="731520" y="1645920"/>
            <a:ext cx="1691640" cy="640080"/>
          </a:xfrm>
          <a:prstGeom prst="rect">
            <a:avLst/>
          </a:prstGeom>
          <a:noFill/>
          <a:ln/>
        </p:spPr>
        <p:txBody>
          <a:bodyPr wrap="square" lIns="0" tIns="0" rIns="0" bIns="0" rtlCol="0" anchor="t"/>
          <a:lstStyle/>
          <a:p>
            <a:pPr indent="0" marL="0">
              <a:buNone/>
            </a:pPr>
            <a:r>
              <a:rPr lang="en-US" sz="1800" b="1" dirty="0">
                <a:solidFill>
                  <a:schemeClr val="accent4"/>
                </a:solidFill>
              </a:rPr>
              <a:t>Dummy prior</a:t>
            </a:r>
            <a:endParaRPr lang="en-US" sz="1800" dirty="0"/>
          </a:p>
        </p:txBody>
      </p:sp>
      <p:sp>
        <p:nvSpPr>
          <p:cNvPr id="5" name="Text 3"/>
          <p:cNvSpPr txBox="1"/>
          <p:nvPr/>
        </p:nvSpPr>
        <p:spPr>
          <a:xfrm>
            <a:off x="731520" y="2331720"/>
            <a:ext cx="1691640" cy="777240"/>
          </a:xfrm>
          <a:prstGeom prst="rect">
            <a:avLst/>
          </a:prstGeom>
          <a:noFill/>
          <a:ln/>
        </p:spPr>
        <p:txBody>
          <a:bodyPr wrap="square" lIns="0" tIns="0" rIns="0" bIns="0" rtlCol="0" anchor="t"/>
          <a:lstStyle/>
          <a:p>
            <a:pPr indent="0" marL="0">
              <a:buNone/>
            </a:pPr>
            <a:r>
              <a:rPr lang="en-US" sz="1300" dirty="0">
                <a:solidFill>
                  <a:schemeClr val="tx1"/>
                </a:solidFill>
              </a:rPr>
              <a:t>Control: always predicts the training win rate</a:t>
            </a:r>
            <a:endParaRPr lang="en-US" sz="1300" dirty="0"/>
          </a:p>
        </p:txBody>
      </p:sp>
      <p:sp>
        <p:nvSpPr>
          <p:cNvPr id="6" name="model-1"/>
          <p:cNvSpPr/>
          <p:nvPr/>
        </p:nvSpPr>
        <p:spPr>
          <a:xfrm>
            <a:off x="2823210" y="1463040"/>
            <a:ext cx="2057400" cy="1600200"/>
          </a:xfrm>
          <a:prstGeom prst="roundRect">
            <a:avLst>
              <a:gd name="adj" fmla="val 4571"/>
            </a:avLst>
          </a:prstGeom>
          <a:solidFill>
            <a:schemeClr val="bg2"/>
          </a:solidFill>
          <a:ln/>
        </p:spPr>
      </p:sp>
      <p:sp>
        <p:nvSpPr>
          <p:cNvPr id="7" name="Text 5"/>
          <p:cNvSpPr txBox="1"/>
          <p:nvPr/>
        </p:nvSpPr>
        <p:spPr>
          <a:xfrm>
            <a:off x="3006090" y="1645920"/>
            <a:ext cx="1691640" cy="640080"/>
          </a:xfrm>
          <a:prstGeom prst="rect">
            <a:avLst/>
          </a:prstGeom>
          <a:noFill/>
          <a:ln/>
        </p:spPr>
        <p:txBody>
          <a:bodyPr wrap="square" lIns="0" tIns="0" rIns="0" bIns="0" rtlCol="0" anchor="t"/>
          <a:lstStyle/>
          <a:p>
            <a:pPr indent="0" marL="0">
              <a:buNone/>
            </a:pPr>
            <a:r>
              <a:rPr lang="en-US" sz="1800" b="1" dirty="0">
                <a:solidFill>
                  <a:schemeClr val="tx2"/>
                </a:solidFill>
              </a:rPr>
              <a:t>Logistic Regression</a:t>
            </a:r>
            <a:endParaRPr lang="en-US" sz="1800" dirty="0"/>
          </a:p>
        </p:txBody>
      </p:sp>
      <p:sp>
        <p:nvSpPr>
          <p:cNvPr id="8" name="Text 6"/>
          <p:cNvSpPr txBox="1"/>
          <p:nvPr/>
        </p:nvSpPr>
        <p:spPr>
          <a:xfrm>
            <a:off x="3006090" y="2331720"/>
            <a:ext cx="1691640" cy="777240"/>
          </a:xfrm>
          <a:prstGeom prst="rect">
            <a:avLst/>
          </a:prstGeom>
          <a:noFill/>
          <a:ln/>
        </p:spPr>
        <p:txBody>
          <a:bodyPr wrap="square" lIns="0" tIns="0" rIns="0" bIns="0" rtlCol="0" anchor="t"/>
          <a:lstStyle/>
          <a:p>
            <a:pPr indent="0" marL="0">
              <a:buNone/>
            </a:pPr>
            <a:r>
              <a:rPr lang="en-US" sz="1300" dirty="0">
                <a:solidFill>
                  <a:schemeClr val="tx1"/>
                </a:solidFill>
              </a:rPr>
              <a:t>Linear baseline</a:t>
            </a:r>
            <a:endParaRPr lang="en-US" sz="1300" dirty="0"/>
          </a:p>
        </p:txBody>
      </p:sp>
      <p:sp>
        <p:nvSpPr>
          <p:cNvPr id="9" name="model-2"/>
          <p:cNvSpPr/>
          <p:nvPr/>
        </p:nvSpPr>
        <p:spPr>
          <a:xfrm>
            <a:off x="5097780" y="1463040"/>
            <a:ext cx="2057400" cy="1600200"/>
          </a:xfrm>
          <a:prstGeom prst="roundRect">
            <a:avLst>
              <a:gd name="adj" fmla="val 4571"/>
            </a:avLst>
          </a:prstGeom>
          <a:solidFill>
            <a:schemeClr val="bg2"/>
          </a:solidFill>
          <a:ln/>
        </p:spPr>
      </p:sp>
      <p:sp>
        <p:nvSpPr>
          <p:cNvPr id="10" name="Text 8"/>
          <p:cNvSpPr txBox="1"/>
          <p:nvPr/>
        </p:nvSpPr>
        <p:spPr>
          <a:xfrm>
            <a:off x="5280660" y="1645920"/>
            <a:ext cx="1691640" cy="640080"/>
          </a:xfrm>
          <a:prstGeom prst="rect">
            <a:avLst/>
          </a:prstGeom>
          <a:noFill/>
          <a:ln/>
        </p:spPr>
        <p:txBody>
          <a:bodyPr wrap="square" lIns="0" tIns="0" rIns="0" bIns="0" rtlCol="0" anchor="t"/>
          <a:lstStyle/>
          <a:p>
            <a:pPr indent="0" marL="0">
              <a:buNone/>
            </a:pPr>
            <a:r>
              <a:rPr lang="en-US" sz="1800" b="1" dirty="0">
                <a:solidFill>
                  <a:schemeClr val="tx2"/>
                </a:solidFill>
              </a:rPr>
              <a:t>Random Forest</a:t>
            </a:r>
            <a:endParaRPr lang="en-US" sz="1800" dirty="0"/>
          </a:p>
        </p:txBody>
      </p:sp>
      <p:sp>
        <p:nvSpPr>
          <p:cNvPr id="11" name="Text 9"/>
          <p:cNvSpPr txBox="1"/>
          <p:nvPr/>
        </p:nvSpPr>
        <p:spPr>
          <a:xfrm>
            <a:off x="5280660" y="2331720"/>
            <a:ext cx="1691640" cy="777240"/>
          </a:xfrm>
          <a:prstGeom prst="rect">
            <a:avLst/>
          </a:prstGeom>
          <a:noFill/>
          <a:ln/>
        </p:spPr>
        <p:txBody>
          <a:bodyPr wrap="square" lIns="0" tIns="0" rIns="0" bIns="0" rtlCol="0" anchor="t"/>
          <a:lstStyle/>
          <a:p>
            <a:pPr indent="0" marL="0">
              <a:buNone/>
            </a:pPr>
            <a:r>
              <a:rPr lang="en-US" sz="1300" dirty="0">
                <a:solidFill>
                  <a:schemeClr val="tx1"/>
                </a:solidFill>
              </a:rPr>
              <a:t>300 trees, min leaf 5</a:t>
            </a:r>
            <a:endParaRPr lang="en-US" sz="1300" dirty="0"/>
          </a:p>
        </p:txBody>
      </p:sp>
      <p:sp>
        <p:nvSpPr>
          <p:cNvPr id="12" name="model-3"/>
          <p:cNvSpPr/>
          <p:nvPr/>
        </p:nvSpPr>
        <p:spPr>
          <a:xfrm>
            <a:off x="7372350" y="1463040"/>
            <a:ext cx="2057400" cy="1600200"/>
          </a:xfrm>
          <a:prstGeom prst="roundRect">
            <a:avLst>
              <a:gd name="adj" fmla="val 4571"/>
            </a:avLst>
          </a:prstGeom>
          <a:solidFill>
            <a:schemeClr val="bg2"/>
          </a:solidFill>
          <a:ln/>
        </p:spPr>
      </p:sp>
      <p:sp>
        <p:nvSpPr>
          <p:cNvPr id="13" name="Text 11"/>
          <p:cNvSpPr txBox="1"/>
          <p:nvPr/>
        </p:nvSpPr>
        <p:spPr>
          <a:xfrm>
            <a:off x="7555230" y="1645920"/>
            <a:ext cx="1691640" cy="640080"/>
          </a:xfrm>
          <a:prstGeom prst="rect">
            <a:avLst/>
          </a:prstGeom>
          <a:noFill/>
          <a:ln/>
        </p:spPr>
        <p:txBody>
          <a:bodyPr wrap="square" lIns="0" tIns="0" rIns="0" bIns="0" rtlCol="0" anchor="t"/>
          <a:lstStyle/>
          <a:p>
            <a:pPr indent="0" marL="0">
              <a:buNone/>
            </a:pPr>
            <a:r>
              <a:rPr lang="en-US" sz="1800" b="1" dirty="0">
                <a:solidFill>
                  <a:schemeClr val="tx2"/>
                </a:solidFill>
              </a:rPr>
              <a:t>MLP</a:t>
            </a:r>
            <a:endParaRPr lang="en-US" sz="1800" dirty="0"/>
          </a:p>
        </p:txBody>
      </p:sp>
      <p:sp>
        <p:nvSpPr>
          <p:cNvPr id="14" name="Text 12"/>
          <p:cNvSpPr txBox="1"/>
          <p:nvPr/>
        </p:nvSpPr>
        <p:spPr>
          <a:xfrm>
            <a:off x="7555230" y="2331720"/>
            <a:ext cx="1691640" cy="777240"/>
          </a:xfrm>
          <a:prstGeom prst="rect">
            <a:avLst/>
          </a:prstGeom>
          <a:noFill/>
          <a:ln/>
        </p:spPr>
        <p:txBody>
          <a:bodyPr wrap="square" lIns="0" tIns="0" rIns="0" bIns="0" rtlCol="0" anchor="t"/>
          <a:lstStyle/>
          <a:p>
            <a:pPr indent="0" marL="0">
              <a:buNone/>
            </a:pPr>
            <a:r>
              <a:rPr lang="en-US" sz="1300" dirty="0">
                <a:solidFill>
                  <a:schemeClr val="tx1"/>
                </a:solidFill>
              </a:rPr>
              <a:t>Hidden layers 64 → 32, early stopping</a:t>
            </a:r>
            <a:endParaRPr lang="en-US" sz="1300" dirty="0"/>
          </a:p>
        </p:txBody>
      </p:sp>
      <p:sp>
        <p:nvSpPr>
          <p:cNvPr id="15" name="model-4"/>
          <p:cNvSpPr/>
          <p:nvPr/>
        </p:nvSpPr>
        <p:spPr>
          <a:xfrm>
            <a:off x="9646920" y="1463040"/>
            <a:ext cx="2057400" cy="1600200"/>
          </a:xfrm>
          <a:prstGeom prst="roundRect">
            <a:avLst>
              <a:gd name="adj" fmla="val 4571"/>
            </a:avLst>
          </a:prstGeom>
          <a:solidFill>
            <a:schemeClr val="bg2"/>
          </a:solidFill>
          <a:ln/>
        </p:spPr>
      </p:sp>
      <p:sp>
        <p:nvSpPr>
          <p:cNvPr id="16" name="Text 14"/>
          <p:cNvSpPr txBox="1"/>
          <p:nvPr/>
        </p:nvSpPr>
        <p:spPr>
          <a:xfrm>
            <a:off x="9829800" y="1645920"/>
            <a:ext cx="1691640" cy="640080"/>
          </a:xfrm>
          <a:prstGeom prst="rect">
            <a:avLst/>
          </a:prstGeom>
          <a:noFill/>
          <a:ln/>
        </p:spPr>
        <p:txBody>
          <a:bodyPr wrap="square" lIns="0" tIns="0" rIns="0" bIns="0" rtlCol="0" anchor="t"/>
          <a:lstStyle/>
          <a:p>
            <a:pPr indent="0" marL="0">
              <a:buNone/>
            </a:pPr>
            <a:r>
              <a:rPr lang="en-US" sz="1800" b="1" dirty="0">
                <a:solidFill>
                  <a:schemeClr val="tx2"/>
                </a:solidFill>
              </a:rPr>
              <a:t>TabNet</a:t>
            </a:r>
            <a:endParaRPr lang="en-US" sz="1800" dirty="0"/>
          </a:p>
        </p:txBody>
      </p:sp>
      <p:sp>
        <p:nvSpPr>
          <p:cNvPr id="17" name="Text 15"/>
          <p:cNvSpPr txBox="1"/>
          <p:nvPr/>
        </p:nvSpPr>
        <p:spPr>
          <a:xfrm>
            <a:off x="9829800" y="2331720"/>
            <a:ext cx="1691640" cy="777240"/>
          </a:xfrm>
          <a:prstGeom prst="rect">
            <a:avLst/>
          </a:prstGeom>
          <a:noFill/>
          <a:ln/>
        </p:spPr>
        <p:txBody>
          <a:bodyPr wrap="square" lIns="0" tIns="0" rIns="0" bIns="0" rtlCol="0" anchor="t"/>
          <a:lstStyle/>
          <a:p>
            <a:pPr indent="0" marL="0">
              <a:buNone/>
            </a:pPr>
            <a:r>
              <a:rPr lang="en-US" sz="1300" dirty="0">
                <a:solidFill>
                  <a:schemeClr val="tx1"/>
                </a:solidFill>
              </a:rPr>
              <a:t>Attentive deep model for tabular data</a:t>
            </a:r>
            <a:endParaRPr lang="en-US" sz="1300" dirty="0"/>
          </a:p>
        </p:txBody>
      </p:sp>
      <p:sp>
        <p:nvSpPr>
          <p:cNvPr id="18" name="icon-bg-bullseye"/>
          <p:cNvSpPr/>
          <p:nvPr/>
        </p:nvSpPr>
        <p:spPr>
          <a:xfrm>
            <a:off x="548640" y="3886200"/>
            <a:ext cx="594360" cy="594360"/>
          </a:xfrm>
          <a:prstGeom prst="ellipse">
            <a:avLst/>
          </a:prstGeom>
          <a:solidFill>
            <a:schemeClr val="accent1"/>
          </a:solidFill>
          <a:ln/>
        </p:spPr>
      </p:sp>
      <p:pic>
        <p:nvPicPr>
          <p:cNvPr id="19" name="icon-bullseye" descr="preencoded.png">    </p:cNvPr>
          <p:cNvPicPr>
            <a:picLocks noChangeAspect="1"/>
          </p:cNvPicPr>
          <p:nvPr/>
        </p:nvPicPr>
        <p:blipFill>
          <a:blip r:embed="rId1"/>
          <a:stretch>
            <a:fillRect/>
          </a:stretch>
        </p:blipFill>
        <p:spPr>
          <a:xfrm>
            <a:off x="697230" y="4034790"/>
            <a:ext cx="297180" cy="297180"/>
          </a:xfrm>
          <a:prstGeom prst="rect">
            <a:avLst/>
          </a:prstGeom>
        </p:spPr>
      </p:pic>
      <p:sp>
        <p:nvSpPr>
          <p:cNvPr id="20" name="Text 17"/>
          <p:cNvSpPr txBox="1"/>
          <p:nvPr/>
        </p:nvSpPr>
        <p:spPr>
          <a:xfrm>
            <a:off x="1280160" y="3858768"/>
            <a:ext cx="1783080" cy="320040"/>
          </a:xfrm>
          <a:prstGeom prst="rect">
            <a:avLst/>
          </a:prstGeom>
          <a:noFill/>
          <a:ln/>
        </p:spPr>
        <p:txBody>
          <a:bodyPr wrap="square" lIns="0" tIns="0" rIns="0" bIns="0" rtlCol="0" anchor="t"/>
          <a:lstStyle/>
          <a:p>
            <a:pPr indent="0" marL="0">
              <a:buNone/>
            </a:pPr>
            <a:r>
              <a:rPr lang="en-US" sz="1700" b="1" dirty="0">
                <a:solidFill>
                  <a:schemeClr val="tx2"/>
                </a:solidFill>
              </a:rPr>
              <a:t>Select model</a:t>
            </a:r>
            <a:endParaRPr lang="en-US" sz="1700" dirty="0"/>
          </a:p>
        </p:txBody>
      </p:sp>
      <p:sp>
        <p:nvSpPr>
          <p:cNvPr id="21" name="Text 18"/>
          <p:cNvSpPr txBox="1"/>
          <p:nvPr/>
        </p:nvSpPr>
        <p:spPr>
          <a:xfrm>
            <a:off x="1280160" y="4206240"/>
            <a:ext cx="1783080" cy="640080"/>
          </a:xfrm>
          <a:prstGeom prst="rect">
            <a:avLst/>
          </a:prstGeom>
          <a:noFill/>
          <a:ln/>
        </p:spPr>
        <p:txBody>
          <a:bodyPr wrap="square" lIns="0" tIns="0" rIns="0" bIns="0" rtlCol="0" anchor="t"/>
          <a:lstStyle/>
          <a:p>
            <a:pPr indent="0" marL="0">
              <a:buNone/>
            </a:pPr>
            <a:r>
              <a:rPr lang="en-US" sz="1300" dirty="0">
                <a:solidFill>
                  <a:schemeClr val="accent4"/>
                </a:solidFill>
              </a:rPr>
              <a:t>by validation ROC-AUC</a:t>
            </a:r>
            <a:endParaRPr lang="en-US" sz="1300" dirty="0"/>
          </a:p>
        </p:txBody>
      </p:sp>
      <p:sp>
        <p:nvSpPr>
          <p:cNvPr id="22" name="icon-bg-sync"/>
          <p:cNvSpPr/>
          <p:nvPr/>
        </p:nvSpPr>
        <p:spPr>
          <a:xfrm>
            <a:off x="3408578" y="3886200"/>
            <a:ext cx="594360" cy="594360"/>
          </a:xfrm>
          <a:prstGeom prst="ellipse">
            <a:avLst/>
          </a:prstGeom>
          <a:solidFill>
            <a:schemeClr val="accent1"/>
          </a:solidFill>
          <a:ln/>
        </p:spPr>
      </p:sp>
      <p:pic>
        <p:nvPicPr>
          <p:cNvPr id="23" name="icon-sync" descr="preencoded.png">    </p:cNvPr>
          <p:cNvPicPr>
            <a:picLocks noChangeAspect="1"/>
          </p:cNvPicPr>
          <p:nvPr/>
        </p:nvPicPr>
        <p:blipFill>
          <a:blip r:embed="rId2"/>
          <a:stretch>
            <a:fillRect/>
          </a:stretch>
        </p:blipFill>
        <p:spPr>
          <a:xfrm>
            <a:off x="3557168" y="4034790"/>
            <a:ext cx="297180" cy="297180"/>
          </a:xfrm>
          <a:prstGeom prst="rect">
            <a:avLst/>
          </a:prstGeom>
        </p:spPr>
      </p:pic>
      <p:sp>
        <p:nvSpPr>
          <p:cNvPr id="24" name="Text 20"/>
          <p:cNvSpPr txBox="1"/>
          <p:nvPr/>
        </p:nvSpPr>
        <p:spPr>
          <a:xfrm>
            <a:off x="4140098" y="3858768"/>
            <a:ext cx="1783080" cy="320040"/>
          </a:xfrm>
          <a:prstGeom prst="rect">
            <a:avLst/>
          </a:prstGeom>
          <a:noFill/>
          <a:ln/>
        </p:spPr>
        <p:txBody>
          <a:bodyPr wrap="square" lIns="0" tIns="0" rIns="0" bIns="0" rtlCol="0" anchor="t"/>
          <a:lstStyle/>
          <a:p>
            <a:pPr indent="0" marL="0">
              <a:buNone/>
            </a:pPr>
            <a:r>
              <a:rPr lang="en-US" sz="1700" b="1" dirty="0">
                <a:solidFill>
                  <a:schemeClr val="tx2"/>
                </a:solidFill>
              </a:rPr>
              <a:t>Pick threshold</a:t>
            </a:r>
            <a:endParaRPr lang="en-US" sz="1700" dirty="0"/>
          </a:p>
        </p:txBody>
      </p:sp>
      <p:sp>
        <p:nvSpPr>
          <p:cNvPr id="25" name="Text 21"/>
          <p:cNvSpPr txBox="1"/>
          <p:nvPr/>
        </p:nvSpPr>
        <p:spPr>
          <a:xfrm>
            <a:off x="4140098" y="4206240"/>
            <a:ext cx="1783080" cy="640080"/>
          </a:xfrm>
          <a:prstGeom prst="rect">
            <a:avLst/>
          </a:prstGeom>
          <a:noFill/>
          <a:ln/>
        </p:spPr>
        <p:txBody>
          <a:bodyPr wrap="square" lIns="0" tIns="0" rIns="0" bIns="0" rtlCol="0" anchor="t"/>
          <a:lstStyle/>
          <a:p>
            <a:pPr indent="0" marL="0">
              <a:buNone/>
            </a:pPr>
            <a:r>
              <a:rPr lang="en-US" sz="1300" dirty="0">
                <a:solidFill>
                  <a:schemeClr val="accent4"/>
                </a:solidFill>
              </a:rPr>
              <a:t>maximise validation macro-F1</a:t>
            </a:r>
            <a:endParaRPr lang="en-US" sz="1300" dirty="0"/>
          </a:p>
        </p:txBody>
      </p:sp>
      <p:sp>
        <p:nvSpPr>
          <p:cNvPr id="26" name="icon-bg-layers"/>
          <p:cNvSpPr/>
          <p:nvPr/>
        </p:nvSpPr>
        <p:spPr>
          <a:xfrm>
            <a:off x="6268517" y="3886200"/>
            <a:ext cx="594360" cy="594360"/>
          </a:xfrm>
          <a:prstGeom prst="ellipse">
            <a:avLst/>
          </a:prstGeom>
          <a:solidFill>
            <a:schemeClr val="accent1"/>
          </a:solidFill>
          <a:ln/>
        </p:spPr>
      </p:sp>
      <p:pic>
        <p:nvPicPr>
          <p:cNvPr id="27" name="icon-layers" descr="preencoded.png">    </p:cNvPr>
          <p:cNvPicPr>
            <a:picLocks noChangeAspect="1"/>
          </p:cNvPicPr>
          <p:nvPr/>
        </p:nvPicPr>
        <p:blipFill>
          <a:blip r:embed="rId3"/>
          <a:stretch>
            <a:fillRect/>
          </a:stretch>
        </p:blipFill>
        <p:spPr>
          <a:xfrm>
            <a:off x="6417107" y="4034790"/>
            <a:ext cx="297180" cy="297180"/>
          </a:xfrm>
          <a:prstGeom prst="rect">
            <a:avLst/>
          </a:prstGeom>
        </p:spPr>
      </p:pic>
      <p:sp>
        <p:nvSpPr>
          <p:cNvPr id="28" name="Text 23"/>
          <p:cNvSpPr txBox="1"/>
          <p:nvPr/>
        </p:nvSpPr>
        <p:spPr>
          <a:xfrm>
            <a:off x="7000037" y="3858768"/>
            <a:ext cx="1783080" cy="320040"/>
          </a:xfrm>
          <a:prstGeom prst="rect">
            <a:avLst/>
          </a:prstGeom>
          <a:noFill/>
          <a:ln/>
        </p:spPr>
        <p:txBody>
          <a:bodyPr wrap="square" lIns="0" tIns="0" rIns="0" bIns="0" rtlCol="0" anchor="t"/>
          <a:lstStyle/>
          <a:p>
            <a:pPr indent="0" marL="0">
              <a:buNone/>
            </a:pPr>
            <a:r>
              <a:rPr lang="en-US" sz="1700" b="1" dirty="0">
                <a:solidFill>
                  <a:schemeClr val="tx2"/>
                </a:solidFill>
              </a:rPr>
              <a:t>Calibrate</a:t>
            </a:r>
            <a:endParaRPr lang="en-US" sz="1700" dirty="0"/>
          </a:p>
        </p:txBody>
      </p:sp>
      <p:sp>
        <p:nvSpPr>
          <p:cNvPr id="29" name="Text 24"/>
          <p:cNvSpPr txBox="1"/>
          <p:nvPr/>
        </p:nvSpPr>
        <p:spPr>
          <a:xfrm>
            <a:off x="7000037" y="4206240"/>
            <a:ext cx="1783080" cy="640080"/>
          </a:xfrm>
          <a:prstGeom prst="rect">
            <a:avLst/>
          </a:prstGeom>
          <a:noFill/>
          <a:ln/>
        </p:spPr>
        <p:txBody>
          <a:bodyPr wrap="square" lIns="0" tIns="0" rIns="0" bIns="0" rtlCol="0" anchor="t"/>
          <a:lstStyle/>
          <a:p>
            <a:pPr indent="0" marL="0">
              <a:buNone/>
            </a:pPr>
            <a:r>
              <a:rPr lang="en-US" sz="1300" dirty="0">
                <a:solidFill>
                  <a:schemeClr val="accent4"/>
                </a:solidFill>
              </a:rPr>
              <a:t>sigmoid on validation; base model frozen</a:t>
            </a:r>
            <a:endParaRPr lang="en-US" sz="1300" dirty="0"/>
          </a:p>
        </p:txBody>
      </p:sp>
      <p:sp>
        <p:nvSpPr>
          <p:cNvPr id="30" name="icon-bg-check"/>
          <p:cNvSpPr/>
          <p:nvPr/>
        </p:nvSpPr>
        <p:spPr>
          <a:xfrm>
            <a:off x="9128455" y="3886200"/>
            <a:ext cx="594360" cy="594360"/>
          </a:xfrm>
          <a:prstGeom prst="ellipse">
            <a:avLst/>
          </a:prstGeom>
          <a:solidFill>
            <a:schemeClr val="tx2"/>
          </a:solidFill>
          <a:ln/>
        </p:spPr>
      </p:sp>
      <p:pic>
        <p:nvPicPr>
          <p:cNvPr id="31" name="icon-check" descr="preencoded.png">    </p:cNvPr>
          <p:cNvPicPr>
            <a:picLocks noChangeAspect="1"/>
          </p:cNvPicPr>
          <p:nvPr/>
        </p:nvPicPr>
        <p:blipFill>
          <a:blip r:embed="rId4"/>
          <a:stretch>
            <a:fillRect/>
          </a:stretch>
        </p:blipFill>
        <p:spPr>
          <a:xfrm>
            <a:off x="9277045" y="4034790"/>
            <a:ext cx="297180" cy="297180"/>
          </a:xfrm>
          <a:prstGeom prst="rect">
            <a:avLst/>
          </a:prstGeom>
        </p:spPr>
      </p:pic>
      <p:sp>
        <p:nvSpPr>
          <p:cNvPr id="32" name="Text 26"/>
          <p:cNvSpPr txBox="1"/>
          <p:nvPr/>
        </p:nvSpPr>
        <p:spPr>
          <a:xfrm>
            <a:off x="9859975" y="3858768"/>
            <a:ext cx="1783080" cy="320040"/>
          </a:xfrm>
          <a:prstGeom prst="rect">
            <a:avLst/>
          </a:prstGeom>
          <a:noFill/>
          <a:ln/>
        </p:spPr>
        <p:txBody>
          <a:bodyPr wrap="square" lIns="0" tIns="0" rIns="0" bIns="0" rtlCol="0" anchor="t"/>
          <a:lstStyle/>
          <a:p>
            <a:pPr indent="0" marL="0">
              <a:buNone/>
            </a:pPr>
            <a:r>
              <a:rPr lang="en-US" sz="1700" b="1" dirty="0">
                <a:solidFill>
                  <a:schemeClr val="tx2"/>
                </a:solidFill>
              </a:rPr>
              <a:t>Test once</a:t>
            </a:r>
            <a:endParaRPr lang="en-US" sz="1700" dirty="0"/>
          </a:p>
        </p:txBody>
      </p:sp>
      <p:sp>
        <p:nvSpPr>
          <p:cNvPr id="33" name="Text 27"/>
          <p:cNvSpPr txBox="1"/>
          <p:nvPr/>
        </p:nvSpPr>
        <p:spPr>
          <a:xfrm>
            <a:off x="9859975" y="4206240"/>
            <a:ext cx="1783080" cy="640080"/>
          </a:xfrm>
          <a:prstGeom prst="rect">
            <a:avLst/>
          </a:prstGeom>
          <a:noFill/>
          <a:ln/>
        </p:spPr>
        <p:txBody>
          <a:bodyPr wrap="square" lIns="0" tIns="0" rIns="0" bIns="0" rtlCol="0" anchor="t"/>
          <a:lstStyle/>
          <a:p>
            <a:pPr indent="0" marL="0">
              <a:buNone/>
            </a:pPr>
            <a:r>
              <a:rPr lang="en-US" sz="1300" dirty="0">
                <a:solidFill>
                  <a:schemeClr val="accent4"/>
                </a:solidFill>
              </a:rPr>
              <a:t>exploratory holdout</a:t>
            </a:r>
            <a:endParaRPr lang="en-US" sz="1300" dirty="0"/>
          </a:p>
        </p:txBody>
      </p:sp>
      <p:sp>
        <p:nvSpPr>
          <p:cNvPr id="34" name="Text 28"/>
          <p:cNvSpPr txBox="1"/>
          <p:nvPr/>
        </p:nvSpPr>
        <p:spPr>
          <a:xfrm>
            <a:off x="548640" y="5394960"/>
            <a:ext cx="11094415" cy="365760"/>
          </a:xfrm>
          <a:prstGeom prst="rect">
            <a:avLst/>
          </a:prstGeom>
          <a:noFill/>
          <a:ln/>
        </p:spPr>
        <p:txBody>
          <a:bodyPr wrap="square" lIns="0" tIns="0" rIns="0" bIns="0" rtlCol="0" anchor="t"/>
          <a:lstStyle/>
          <a:p>
            <a:pPr indent="0" marL="0">
              <a:buNone/>
            </a:pPr>
            <a:r>
              <a:rPr lang="en-US" sz="1500" i="1" dirty="0">
                <a:solidFill>
                  <a:schemeClr val="accent4"/>
                </a:solidFill>
              </a:rPr>
              <a:t>Every model sees the same rows and the same preprocessing, trained on CPU with seed 42.</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Result A: no model beats chance</a:t>
            </a:r>
            <a:endParaRPr lang="en-US" sz="3400" dirty="0"/>
          </a:p>
        </p:txBody>
      </p:sp>
      <p:graphicFrame>
        <p:nvGraphicFramePr>
          <p:cNvPr id="3" name="auc-chart-a" descr=""/>
          <p:cNvGraphicFramePr/>
          <p:nvPr/>
        </p:nvGraphicFramePr>
        <p:xfrm>
          <a:off x="548640" y="132588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18120" y="1463040"/>
            <a:ext cx="3840480" cy="73152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0.524</a:t>
            </a:r>
            <a:endParaRPr lang="en-US" sz="4400" dirty="0"/>
          </a:p>
        </p:txBody>
      </p:sp>
      <p:sp>
        <p:nvSpPr>
          <p:cNvPr id="5" name="Text 2"/>
          <p:cNvSpPr txBox="1"/>
          <p:nvPr/>
        </p:nvSpPr>
        <p:spPr>
          <a:xfrm>
            <a:off x="7818120" y="2240280"/>
            <a:ext cx="3840480" cy="548640"/>
          </a:xfrm>
          <a:prstGeom prst="rect">
            <a:avLst/>
          </a:prstGeom>
          <a:noFill/>
          <a:ln/>
        </p:spPr>
        <p:txBody>
          <a:bodyPr wrap="square" lIns="0" tIns="0" rIns="0" bIns="0" rtlCol="0" anchor="t"/>
          <a:lstStyle/>
          <a:p>
            <a:pPr indent="0" marL="0">
              <a:buNone/>
            </a:pPr>
            <a:r>
              <a:rPr lang="en-US" sz="1300" dirty="0">
                <a:solidFill>
                  <a:schemeClr val="accent4"/>
                </a:solidFill>
              </a:rPr>
              <a:t>test ROC-AUC of the selected model (Logistic Regression)</a:t>
            </a:r>
            <a:endParaRPr lang="en-US" sz="1300" dirty="0"/>
          </a:p>
        </p:txBody>
      </p:sp>
      <p:sp>
        <p:nvSpPr>
          <p:cNvPr id="6" name="Text 3"/>
          <p:cNvSpPr txBox="1"/>
          <p:nvPr/>
        </p:nvSpPr>
        <p:spPr>
          <a:xfrm>
            <a:off x="7818120" y="3017520"/>
            <a:ext cx="3840480" cy="731520"/>
          </a:xfrm>
          <a:prstGeom prst="rect">
            <a:avLst/>
          </a:prstGeom>
          <a:noFill/>
          <a:ln/>
        </p:spPr>
        <p:txBody>
          <a:bodyPr wrap="square" lIns="0" tIns="0" rIns="0" bIns="0" rtlCol="0" anchor="b"/>
          <a:lstStyle/>
          <a:p>
            <a:pPr indent="0" marL="0">
              <a:buNone/>
            </a:pPr>
            <a:r>
              <a:rPr lang="en-US" sz="4400" b="1" dirty="0">
                <a:solidFill>
                  <a:schemeClr val="accent2"/>
                </a:solidFill>
                <a:latin typeface="Cambria" pitchFamily="34" charset="0"/>
                <a:ea typeface="Cambria" pitchFamily="34" charset="-122"/>
                <a:cs typeface="Cambria" pitchFamily="34" charset="-120"/>
              </a:rPr>
              <a:t>60%</a:t>
            </a:r>
            <a:endParaRPr lang="en-US" sz="4400" dirty="0"/>
          </a:p>
        </p:txBody>
      </p:sp>
      <p:sp>
        <p:nvSpPr>
          <p:cNvPr id="7" name="Text 4"/>
          <p:cNvSpPr txBox="1"/>
          <p:nvPr/>
        </p:nvSpPr>
        <p:spPr>
          <a:xfrm>
            <a:off x="7818120" y="3794760"/>
            <a:ext cx="3840480" cy="548640"/>
          </a:xfrm>
          <a:prstGeom prst="rect">
            <a:avLst/>
          </a:prstGeom>
          <a:noFill/>
          <a:ln/>
        </p:spPr>
        <p:txBody>
          <a:bodyPr wrap="square" lIns="0" tIns="0" rIns="0" bIns="0" rtlCol="0" anchor="t"/>
          <a:lstStyle/>
          <a:p>
            <a:pPr indent="0" marL="0">
              <a:buNone/>
            </a:pPr>
            <a:r>
              <a:rPr lang="en-US" sz="1300" dirty="0">
                <a:solidFill>
                  <a:schemeClr val="accent4"/>
                </a:solidFill>
              </a:rPr>
              <a:t>accuracy of the Dummy, just by always predicting Won</a:t>
            </a:r>
            <a:endParaRPr lang="en-US" sz="1300" dirty="0"/>
          </a:p>
        </p:txBody>
      </p:sp>
      <p:sp>
        <p:nvSpPr>
          <p:cNvPr id="8" name="Text 5"/>
          <p:cNvSpPr txBox="1"/>
          <p:nvPr/>
        </p:nvSpPr>
        <p:spPr>
          <a:xfrm>
            <a:off x="7818120" y="4617720"/>
            <a:ext cx="3840480" cy="1188720"/>
          </a:xfrm>
          <a:prstGeom prst="rect">
            <a:avLst/>
          </a:prstGeom>
          <a:noFill/>
          <a:ln/>
        </p:spPr>
        <p:txBody>
          <a:bodyPr wrap="square" lIns="0" tIns="0" rIns="0" bIns="0" rtlCol="0" anchor="t"/>
          <a:lstStyle/>
          <a:p>
            <a:pPr indent="0" marL="0">
              <a:buNone/>
            </a:pPr>
            <a:r>
              <a:rPr lang="en-US" sz="1500" dirty="0">
                <a:solidFill>
                  <a:schemeClr val="tx1"/>
                </a:solidFill>
              </a:rPr>
              <a:t>All four learned models land between 0.50 and 0.52. We did not add close_value to make these numbers look better.</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Full test metrics and calibration</a:t>
            </a:r>
            <a:endParaRPr lang="en-US" sz="3400" dirty="0"/>
          </a:p>
        </p:txBody>
      </p:sp>
      <p:graphicFrame>
        <p:nvGraphicFramePr>
          <p:cNvPr id="9" name="metrics-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044952"/>
                <a:gridCol w="1325880"/>
                <a:gridCol w="1325880"/>
                <a:gridCol w="1325880"/>
                <a:gridCol w="1325880"/>
                <a:gridCol w="1325880"/>
                <a:gridCol w="1417320"/>
              </a:tblGrid>
              <a:tr h="411480">
                <a:tc>
                  <a:txBody>
                    <a:bodyPr/>
                    <a:lstStyle/>
                    <a:p>
                      <a:pPr algn="l" indent="0" marL="0">
                        <a:buNone/>
                      </a:pPr>
                      <a:r>
                        <a:rPr lang="en-US" sz="1400" b="1" dirty="0">
                          <a:solidFill>
                            <a:schemeClr val="bg1"/>
                          </a:solidFill>
                        </a:rPr>
                        <a:t>Model</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Accuracy</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Precision</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Recall</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F1 (Won)</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ROC-AUC</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Brier</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tx2"/>
                    </a:solidFill>
                  </a:tcPr>
                </a:tc>
              </a:tr>
              <a:tr h="411480">
                <a:tc>
                  <a:txBody>
                    <a:bodyPr/>
                    <a:lstStyle/>
                    <a:p>
                      <a:pPr algn="l" indent="0" marL="0">
                        <a:buNone/>
                      </a:pPr>
                      <a:r>
                        <a:rPr lang="en-US" sz="1400" dirty="0">
                          <a:solidFill>
                            <a:schemeClr val="tx1"/>
                          </a:solidFill>
                        </a:rPr>
                        <a:t>Dummy prior</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0.600</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0.600</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1.000</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0.750</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0.500</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0.2421</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r>
              <a:tr h="411480">
                <a:tc>
                  <a:txBody>
                    <a:bodyPr/>
                    <a:lstStyle/>
                    <a:p>
                      <a:pPr algn="l" indent="0" marL="0">
                        <a:buNone/>
                      </a:pPr>
                      <a:r>
                        <a:rPr lang="en-US" sz="1400" b="1" dirty="0">
                          <a:solidFill>
                            <a:schemeClr val="tx1"/>
                          </a:solidFill>
                        </a:rPr>
                        <a:t>Logistic Regression (selected)</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0.437</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0.615</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0.166</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0.262</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0.524</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0.2794</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2"/>
                    </a:solidFill>
                  </a:tcPr>
                </a:tc>
              </a:tr>
              <a:tr h="411480">
                <a:tc>
                  <a:txBody>
                    <a:bodyPr/>
                    <a:lstStyle/>
                    <a:p>
                      <a:pPr algn="l" indent="0" marL="0">
                        <a:buNone/>
                      </a:pPr>
                      <a:r>
                        <a:rPr lang="en-US" sz="1400" dirty="0">
                          <a:solidFill>
                            <a:schemeClr val="tx1"/>
                          </a:solidFill>
                        </a:rPr>
                        <a:t>Random Forest</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0.590</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0.598</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0.966</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0.739</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0.519</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0.2508</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r>
              <a:tr h="411480">
                <a:tc>
                  <a:txBody>
                    <a:bodyPr/>
                    <a:lstStyle/>
                    <a:p>
                      <a:pPr algn="l" indent="0" marL="0">
                        <a:buNone/>
                      </a:pPr>
                      <a:r>
                        <a:rPr lang="en-US" sz="1400" dirty="0">
                          <a:solidFill>
                            <a:schemeClr val="tx1"/>
                          </a:solidFill>
                        </a:rPr>
                        <a:t>MLP</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0.485</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0.593</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0.453</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0.514</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0.495</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0.3314</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r>
              <a:tr h="411480">
                <a:tc>
                  <a:txBody>
                    <a:bodyPr/>
                    <a:lstStyle/>
                    <a:p>
                      <a:pPr algn="l" indent="0" marL="0">
                        <a:buNone/>
                      </a:pPr>
                      <a:r>
                        <a:rPr lang="en-US" sz="1400" dirty="0">
                          <a:solidFill>
                            <a:schemeClr val="tx1"/>
                          </a:solidFill>
                        </a:rPr>
                        <a:t>TabNet</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0.563</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0.613</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0.734</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0.669</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0.517</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0.2468</a:t>
                      </a:r>
                      <a:endParaRPr lang="en-US" sz="1400" dirty="0"/>
                    </a:p>
                  </a:txBody>
                  <a:tcPr marL="91440" marR="91440" marT="45720" marB="45720" anchor="ctr">
                    <a:lnL w="6350" cap="flat" cmpd="sng" algn="ctr">
                      <a:solidFill>
                        <a:srgbClr val="DCE5E3"/>
                      </a:solidFill>
                      <a:prstDash val="solid"/>
                      <a:round/>
                      <a:headEnd type="none" w="med" len="med"/>
                      <a:tailEnd type="none" w="med" len="med"/>
                    </a:lnL>
                    <a:lnR w="6350" cap="flat" cmpd="sng" algn="ctr">
                      <a:solidFill>
                        <a:srgbClr val="DCE5E3"/>
                      </a:solidFill>
                      <a:prstDash val="solid"/>
                      <a:round/>
                      <a:headEnd type="none" w="med" len="med"/>
                      <a:tailEnd type="none" w="med" len="med"/>
                    </a:lnR>
                    <a:lnT w="6350" cap="flat" cmpd="sng" algn="ctr">
                      <a:solidFill>
                        <a:srgbClr val="DCE5E3"/>
                      </a:solidFill>
                      <a:prstDash val="solid"/>
                      <a:round/>
                      <a:headEnd type="none" w="med" len="med"/>
                      <a:tailEnd type="none" w="med" len="med"/>
                    </a:lnT>
                    <a:lnB w="6350" cap="flat" cmpd="sng" algn="ctr">
                      <a:solidFill>
                        <a:srgbClr val="DCE5E3"/>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206240"/>
            <a:ext cx="2743200" cy="731520"/>
          </a:xfrm>
          <a:prstGeom prst="rect">
            <a:avLst/>
          </a:prstGeom>
          <a:noFill/>
          <a:ln/>
        </p:spPr>
        <p:txBody>
          <a:bodyPr wrap="square" lIns="0" tIns="0" rIns="0" bIns="0" rtlCol="0" anchor="b"/>
          <a:lstStyle/>
          <a:p>
            <a:pPr indent="0" marL="0">
              <a:buNone/>
            </a:pPr>
            <a:r>
              <a:rPr lang="en-US" sz="4000" b="1" dirty="0">
                <a:solidFill>
                  <a:schemeClr val="accent3"/>
                </a:solidFill>
                <a:latin typeface="Cambria" pitchFamily="34" charset="0"/>
                <a:ea typeface="Cambria" pitchFamily="34" charset="-122"/>
                <a:cs typeface="Cambria" pitchFamily="34" charset="-120"/>
              </a:rPr>
              <a:t>0.2794</a:t>
            </a:r>
            <a:endParaRPr lang="en-US" sz="4000" dirty="0"/>
          </a:p>
        </p:txBody>
      </p:sp>
      <p:sp>
        <p:nvSpPr>
          <p:cNvPr id="5" name="Text 2"/>
          <p:cNvSpPr txBox="1"/>
          <p:nvPr/>
        </p:nvSpPr>
        <p:spPr>
          <a:xfrm>
            <a:off x="548640" y="4983480"/>
            <a:ext cx="2743200" cy="548640"/>
          </a:xfrm>
          <a:prstGeom prst="rect">
            <a:avLst/>
          </a:prstGeom>
          <a:noFill/>
          <a:ln/>
        </p:spPr>
        <p:txBody>
          <a:bodyPr wrap="square" lIns="0" tIns="0" rIns="0" bIns="0" rtlCol="0" anchor="t"/>
          <a:lstStyle/>
          <a:p>
            <a:pPr indent="0" marL="0">
              <a:buNone/>
            </a:pPr>
            <a:r>
              <a:rPr lang="en-US" sz="1300" dirty="0">
                <a:solidFill>
                  <a:schemeClr val="accent4"/>
                </a:solidFill>
              </a:rPr>
              <a:t>LR Brier before calibration</a:t>
            </a:r>
            <a:endParaRPr lang="en-US" sz="1300" dirty="0"/>
          </a:p>
        </p:txBody>
      </p:sp>
      <p:sp>
        <p:nvSpPr>
          <p:cNvPr id="6" name="calib-arrow"/>
          <p:cNvSpPr/>
          <p:nvPr/>
        </p:nvSpPr>
        <p:spPr>
          <a:xfrm>
            <a:off x="3246120" y="4480560"/>
            <a:ext cx="457200" cy="365760"/>
          </a:xfrm>
          <a:prstGeom prst="rightArrow">
            <a:avLst/>
          </a:prstGeom>
          <a:solidFill>
            <a:schemeClr val="accent2"/>
          </a:solidFill>
          <a:ln/>
        </p:spPr>
      </p:sp>
      <p:sp>
        <p:nvSpPr>
          <p:cNvPr id="7" name="Text 4"/>
          <p:cNvSpPr txBox="1"/>
          <p:nvPr/>
        </p:nvSpPr>
        <p:spPr>
          <a:xfrm>
            <a:off x="3931920" y="4206240"/>
            <a:ext cx="2743200" cy="73152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0.2443</a:t>
            </a:r>
            <a:endParaRPr lang="en-US" sz="4000" dirty="0"/>
          </a:p>
        </p:txBody>
      </p:sp>
      <p:sp>
        <p:nvSpPr>
          <p:cNvPr id="8" name="Text 5"/>
          <p:cNvSpPr txBox="1"/>
          <p:nvPr/>
        </p:nvSpPr>
        <p:spPr>
          <a:xfrm>
            <a:off x="3931920" y="4983480"/>
            <a:ext cx="2743200" cy="548640"/>
          </a:xfrm>
          <a:prstGeom prst="rect">
            <a:avLst/>
          </a:prstGeom>
          <a:noFill/>
          <a:ln/>
        </p:spPr>
        <p:txBody>
          <a:bodyPr wrap="square" lIns="0" tIns="0" rIns="0" bIns="0" rtlCol="0" anchor="t"/>
          <a:lstStyle/>
          <a:p>
            <a:pPr indent="0" marL="0">
              <a:buNone/>
            </a:pPr>
            <a:r>
              <a:rPr lang="en-US" sz="1300" dirty="0">
                <a:solidFill>
                  <a:schemeClr val="accent4"/>
                </a:solidFill>
              </a:rPr>
              <a:t>after sigmoid calibration</a:t>
            </a:r>
            <a:endParaRPr lang="en-US" sz="1300" dirty="0"/>
          </a:p>
        </p:txBody>
      </p:sp>
      <p:sp>
        <p:nvSpPr>
          <p:cNvPr id="9" name="Text 6"/>
          <p:cNvSpPr txBox="1"/>
          <p:nvPr/>
        </p:nvSpPr>
        <p:spPr>
          <a:xfrm>
            <a:off x="7315200" y="4206240"/>
            <a:ext cx="4297680" cy="731520"/>
          </a:xfrm>
          <a:prstGeom prst="rect">
            <a:avLst/>
          </a:prstGeom>
          <a:noFill/>
          <a:ln/>
        </p:spPr>
        <p:txBody>
          <a:bodyPr wrap="square" lIns="0" tIns="0" rIns="0" bIns="0" rtlCol="0" anchor="b"/>
          <a:lstStyle/>
          <a:p>
            <a:pPr indent="0" marL="0">
              <a:buNone/>
            </a:pPr>
            <a:r>
              <a:rPr lang="en-US" sz="4000" b="1" dirty="0">
                <a:solidFill>
                  <a:schemeClr val="accent4"/>
                </a:solidFill>
                <a:latin typeface="Cambria" pitchFamily="34" charset="0"/>
                <a:ea typeface="Cambria" pitchFamily="34" charset="-122"/>
                <a:cs typeface="Cambria" pitchFamily="34" charset="-120"/>
              </a:rPr>
              <a:t>0.2421</a:t>
            </a:r>
            <a:endParaRPr lang="en-US" sz="4000" dirty="0"/>
          </a:p>
        </p:txBody>
      </p:sp>
      <p:sp>
        <p:nvSpPr>
          <p:cNvPr id="10" name="Text 7"/>
          <p:cNvSpPr txBox="1"/>
          <p:nvPr/>
        </p:nvSpPr>
        <p:spPr>
          <a:xfrm>
            <a:off x="7315200" y="4983480"/>
            <a:ext cx="4297680" cy="548640"/>
          </a:xfrm>
          <a:prstGeom prst="rect">
            <a:avLst/>
          </a:prstGeom>
          <a:noFill/>
          <a:ln/>
        </p:spPr>
        <p:txBody>
          <a:bodyPr wrap="square" lIns="0" tIns="0" rIns="0" bIns="0" rtlCol="0" anchor="t"/>
          <a:lstStyle/>
          <a:p>
            <a:pPr indent="0" marL="0">
              <a:buNone/>
            </a:pPr>
            <a:r>
              <a:rPr lang="en-US" sz="1300" dirty="0">
                <a:solidFill>
                  <a:schemeClr val="accent4"/>
                </a:solidFill>
              </a:rPr>
              <a:t>Dummy Brier: still slightly better (lower is better)</a:t>
            </a:r>
            <a:endParaRPr lang="en-US" sz="1300" dirty="0"/>
          </a:p>
        </p:txBody>
      </p:sp>
      <p:sp>
        <p:nvSpPr>
          <p:cNvPr id="11" name="Text 8"/>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300" i="1" dirty="0">
                <a:solidFill>
                  <a:schemeClr val="accent4"/>
                </a:solidFill>
              </a:rPr>
              <a:t>Calibration fixes probability scale, not ranking: ROC-AUC is unchanged.</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moves the score? Associations only</a:t>
            </a:r>
            <a:endParaRPr lang="en-US" sz="3400" dirty="0"/>
          </a:p>
        </p:txBody>
      </p:sp>
      <p:graphicFrame>
        <p:nvGraphicFramePr>
          <p:cNvPr id="3" name="perm-chart" descr=""/>
          <p:cNvGraphicFramePr/>
          <p:nvPr/>
        </p:nvGraphicFramePr>
        <p:xfrm>
          <a:off x="548640" y="132588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4" name="icon-bg-search"/>
          <p:cNvSpPr/>
          <p:nvPr/>
        </p:nvSpPr>
        <p:spPr>
          <a:xfrm>
            <a:off x="6995160" y="1463040"/>
            <a:ext cx="548640" cy="548640"/>
          </a:xfrm>
          <a:prstGeom prst="ellipse">
            <a:avLst/>
          </a:prstGeom>
          <a:solidFill>
            <a:schemeClr val="accent1"/>
          </a:solidFill>
          <a:ln/>
        </p:spPr>
      </p:sp>
      <p:pic>
        <p:nvPicPr>
          <p:cNvPr id="5" name="icon-search" descr="preencoded.png">    </p:cNvPr>
          <p:cNvPicPr>
            <a:picLocks noChangeAspect="1"/>
          </p:cNvPicPr>
          <p:nvPr/>
        </p:nvPicPr>
        <p:blipFill>
          <a:blip r:embed="rId2"/>
          <a:stretch>
            <a:fillRect/>
          </a:stretch>
        </p:blipFill>
        <p:spPr>
          <a:xfrm>
            <a:off x="7132320" y="1600200"/>
            <a:ext cx="274320" cy="274320"/>
          </a:xfrm>
          <a:prstGeom prst="rect">
            <a:avLst/>
          </a:prstGeom>
        </p:spPr>
      </p:pic>
      <p:sp>
        <p:nvSpPr>
          <p:cNvPr id="6" name="Text 2"/>
          <p:cNvSpPr txBox="1"/>
          <p:nvPr/>
        </p:nvSpPr>
        <p:spPr>
          <a:xfrm>
            <a:off x="7726680" y="1444752"/>
            <a:ext cx="3931920" cy="347472"/>
          </a:xfrm>
          <a:prstGeom prst="rect">
            <a:avLst/>
          </a:prstGeom>
          <a:noFill/>
          <a:ln/>
        </p:spPr>
        <p:txBody>
          <a:bodyPr wrap="square" lIns="0" tIns="0" rIns="0" bIns="0" rtlCol="0" anchor="t"/>
          <a:lstStyle/>
          <a:p>
            <a:pPr indent="0" marL="0">
              <a:buNone/>
            </a:pPr>
            <a:r>
              <a:rPr lang="en-US" sz="1700" b="1" dirty="0">
                <a:solidFill>
                  <a:schemeClr val="tx2"/>
                </a:solidFill>
              </a:rPr>
              <a:t>Per-deal factors</a:t>
            </a:r>
            <a:endParaRPr lang="en-US" sz="1700" dirty="0"/>
          </a:p>
        </p:txBody>
      </p:sp>
      <p:sp>
        <p:nvSpPr>
          <p:cNvPr id="7" name="Text 3"/>
          <p:cNvSpPr txBox="1"/>
          <p:nvPr/>
        </p:nvSpPr>
        <p:spPr>
          <a:xfrm>
            <a:off x="7726680" y="1810512"/>
            <a:ext cx="3931920" cy="1005840"/>
          </a:xfrm>
          <a:prstGeom prst="rect">
            <a:avLst/>
          </a:prstGeom>
          <a:noFill/>
          <a:ln/>
        </p:spPr>
        <p:txBody>
          <a:bodyPr wrap="square" lIns="0" tIns="0" rIns="0" bIns="0" rtlCol="0" anchor="t"/>
          <a:lstStyle/>
          <a:p>
            <a:pPr indent="0" marL="0">
              <a:buNone/>
            </a:pPr>
            <a:r>
              <a:rPr lang="en-US" sz="1400" dirty="0">
                <a:solidFill>
                  <a:schemeClr val="tx1"/>
                </a:solidFill>
              </a:rPr>
              <a:t>Swap one input to its training median or mode and measure the change in P(Won).</a:t>
            </a:r>
            <a:endParaRPr lang="en-US" sz="1400" dirty="0"/>
          </a:p>
        </p:txBody>
      </p:sp>
      <p:sp>
        <p:nvSpPr>
          <p:cNvPr id="8" name="icon-bg-layers"/>
          <p:cNvSpPr/>
          <p:nvPr/>
        </p:nvSpPr>
        <p:spPr>
          <a:xfrm>
            <a:off x="6995160" y="2971800"/>
            <a:ext cx="548640" cy="548640"/>
          </a:xfrm>
          <a:prstGeom prst="ellipse">
            <a:avLst/>
          </a:prstGeom>
          <a:solidFill>
            <a:schemeClr val="accent1"/>
          </a:solidFill>
          <a:ln/>
        </p:spPr>
      </p:sp>
      <p:pic>
        <p:nvPicPr>
          <p:cNvPr id="9" name="icon-layers" descr="preencoded.png">    </p:cNvPr>
          <p:cNvPicPr>
            <a:picLocks noChangeAspect="1"/>
          </p:cNvPicPr>
          <p:nvPr/>
        </p:nvPicPr>
        <p:blipFill>
          <a:blip r:embed="rId3"/>
          <a:stretch>
            <a:fillRect/>
          </a:stretch>
        </p:blipFill>
        <p:spPr>
          <a:xfrm>
            <a:off x="7132320" y="3108960"/>
            <a:ext cx="274320" cy="274320"/>
          </a:xfrm>
          <a:prstGeom prst="rect">
            <a:avLst/>
          </a:prstGeom>
        </p:spPr>
      </p:pic>
      <p:sp>
        <p:nvSpPr>
          <p:cNvPr id="10" name="Text 5"/>
          <p:cNvSpPr txBox="1"/>
          <p:nvPr/>
        </p:nvSpPr>
        <p:spPr>
          <a:xfrm>
            <a:off x="7726680" y="2953512"/>
            <a:ext cx="3931920" cy="347472"/>
          </a:xfrm>
          <a:prstGeom prst="rect">
            <a:avLst/>
          </a:prstGeom>
          <a:noFill/>
          <a:ln/>
        </p:spPr>
        <p:txBody>
          <a:bodyPr wrap="square" lIns="0" tIns="0" rIns="0" bIns="0" rtlCol="0" anchor="t"/>
          <a:lstStyle/>
          <a:p>
            <a:pPr indent="0" marL="0">
              <a:buNone/>
            </a:pPr>
            <a:r>
              <a:rPr lang="en-US" sz="1700" b="1" dirty="0">
                <a:solidFill>
                  <a:schemeClr val="tx2"/>
                </a:solidFill>
              </a:rPr>
              <a:t>Random Forest SHAP</a:t>
            </a:r>
            <a:endParaRPr lang="en-US" sz="1700" dirty="0"/>
          </a:p>
        </p:txBody>
      </p:sp>
      <p:sp>
        <p:nvSpPr>
          <p:cNvPr id="11" name="Text 6"/>
          <p:cNvSpPr txBox="1"/>
          <p:nvPr/>
        </p:nvSpPr>
        <p:spPr>
          <a:xfrm>
            <a:off x="7726680" y="3319272"/>
            <a:ext cx="3931920" cy="1005840"/>
          </a:xfrm>
          <a:prstGeom prst="rect">
            <a:avLst/>
          </a:prstGeom>
          <a:noFill/>
          <a:ln/>
        </p:spPr>
        <p:txBody>
          <a:bodyPr wrap="square" lIns="0" tIns="0" rIns="0" bIns="0" rtlCol="0" anchor="t"/>
          <a:lstStyle/>
          <a:p>
            <a:pPr indent="0" marL="0">
              <a:buNone/>
            </a:pPr>
            <a:r>
              <a:rPr lang="en-US" sz="1400" dirty="0">
                <a:solidFill>
                  <a:schemeClr val="tx1"/>
                </a:solidFill>
              </a:rPr>
              <a:t>Separate diagnostic. Top feature: engage_quarter. Additivity error 1.8e-12.</a:t>
            </a:r>
            <a:endParaRPr lang="en-US" sz="1400" dirty="0"/>
          </a:p>
        </p:txBody>
      </p:sp>
      <p:sp>
        <p:nvSpPr>
          <p:cNvPr id="12" name="icon-bg-warn"/>
          <p:cNvSpPr/>
          <p:nvPr/>
        </p:nvSpPr>
        <p:spPr>
          <a:xfrm>
            <a:off x="6995160" y="4480560"/>
            <a:ext cx="548640" cy="548640"/>
          </a:xfrm>
          <a:prstGeom prst="ellipse">
            <a:avLst/>
          </a:prstGeom>
          <a:solidFill>
            <a:schemeClr val="accent2"/>
          </a:solidFill>
          <a:ln/>
        </p:spPr>
      </p:sp>
      <p:pic>
        <p:nvPicPr>
          <p:cNvPr id="13" name="icon-warn" descr="preencoded.png">    </p:cNvPr>
          <p:cNvPicPr>
            <a:picLocks noChangeAspect="1"/>
          </p:cNvPicPr>
          <p:nvPr/>
        </p:nvPicPr>
        <p:blipFill>
          <a:blip r:embed="rId4"/>
          <a:stretch>
            <a:fillRect/>
          </a:stretch>
        </p:blipFill>
        <p:spPr>
          <a:xfrm>
            <a:off x="7132320" y="4617720"/>
            <a:ext cx="274320" cy="274320"/>
          </a:xfrm>
          <a:prstGeom prst="rect">
            <a:avLst/>
          </a:prstGeom>
        </p:spPr>
      </p:pic>
      <p:sp>
        <p:nvSpPr>
          <p:cNvPr id="14" name="Text 8"/>
          <p:cNvSpPr txBox="1"/>
          <p:nvPr/>
        </p:nvSpPr>
        <p:spPr>
          <a:xfrm>
            <a:off x="7726680" y="4462272"/>
            <a:ext cx="3931920" cy="347472"/>
          </a:xfrm>
          <a:prstGeom prst="rect">
            <a:avLst/>
          </a:prstGeom>
          <a:noFill/>
          <a:ln/>
        </p:spPr>
        <p:txBody>
          <a:bodyPr wrap="square" lIns="0" tIns="0" rIns="0" bIns="0" rtlCol="0" anchor="t"/>
          <a:lstStyle/>
          <a:p>
            <a:pPr indent="0" marL="0">
              <a:buNone/>
            </a:pPr>
            <a:r>
              <a:rPr lang="en-US" sz="1700" b="1" dirty="0">
                <a:solidFill>
                  <a:schemeClr val="tx2"/>
                </a:solidFill>
              </a:rPr>
              <a:t>Not causes</a:t>
            </a:r>
            <a:endParaRPr lang="en-US" sz="1700" dirty="0"/>
          </a:p>
        </p:txBody>
      </p:sp>
      <p:sp>
        <p:nvSpPr>
          <p:cNvPr id="15" name="Text 9"/>
          <p:cNvSpPr txBox="1"/>
          <p:nvPr/>
        </p:nvSpPr>
        <p:spPr>
          <a:xfrm>
            <a:off x="7726680" y="4828032"/>
            <a:ext cx="3931920" cy="1005840"/>
          </a:xfrm>
          <a:prstGeom prst="rect">
            <a:avLst/>
          </a:prstGeom>
          <a:noFill/>
          <a:ln/>
        </p:spPr>
        <p:txBody>
          <a:bodyPr wrap="square" lIns="0" tIns="0" rIns="0" bIns="0" rtlCol="0" anchor="t"/>
          <a:lstStyle/>
          <a:p>
            <a:pPr indent="0" marL="0">
              <a:buNone/>
            </a:pPr>
            <a:r>
              <a:rPr lang="en-US" sz="1400" dirty="0">
                <a:solidFill>
                  <a:schemeClr val="tx1"/>
                </a:solidFill>
              </a:rPr>
              <a:t>These describe model behaviour. Changing an input will not necessarily change a real deal.</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Scoring the open pipeline</a:t>
            </a:r>
            <a:endParaRPr lang="en-US" sz="3400" dirty="0"/>
          </a:p>
        </p:txBody>
      </p:sp>
      <p:sp>
        <p:nvSpPr>
          <p:cNvPr id="3" name="Text 1"/>
          <p:cNvSpPr txBox="1"/>
          <p:nvPr/>
        </p:nvSpPr>
        <p:spPr>
          <a:xfrm>
            <a:off x="548640" y="1371600"/>
            <a:ext cx="3108960" cy="73152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1,589</a:t>
            </a:r>
            <a:endParaRPr lang="en-US" sz="4400" dirty="0"/>
          </a:p>
        </p:txBody>
      </p:sp>
      <p:sp>
        <p:nvSpPr>
          <p:cNvPr id="4" name="Text 2"/>
          <p:cNvSpPr txBox="1"/>
          <p:nvPr/>
        </p:nvSpPr>
        <p:spPr>
          <a:xfrm>
            <a:off x="548640" y="2148840"/>
            <a:ext cx="3108960" cy="548640"/>
          </a:xfrm>
          <a:prstGeom prst="rect">
            <a:avLst/>
          </a:prstGeom>
          <a:noFill/>
          <a:ln/>
        </p:spPr>
        <p:txBody>
          <a:bodyPr wrap="square" lIns="0" tIns="0" rIns="0" bIns="0" rtlCol="0" anchor="t"/>
          <a:lstStyle/>
          <a:p>
            <a:pPr indent="0" marL="0">
              <a:buNone/>
            </a:pPr>
            <a:r>
              <a:rPr lang="en-US" sz="1300" dirty="0">
                <a:solidFill>
                  <a:schemeClr val="accent4"/>
                </a:solidFill>
              </a:rPr>
              <a:t>Engaging deals scored</a:t>
            </a:r>
            <a:endParaRPr lang="en-US" sz="1300" dirty="0"/>
          </a:p>
        </p:txBody>
      </p:sp>
      <p:sp>
        <p:nvSpPr>
          <p:cNvPr id="5" name="Text 3"/>
          <p:cNvSpPr txBox="1"/>
          <p:nvPr/>
        </p:nvSpPr>
        <p:spPr>
          <a:xfrm>
            <a:off x="548640" y="2788920"/>
            <a:ext cx="3108960" cy="73152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1,088</a:t>
            </a:r>
            <a:endParaRPr lang="en-US" sz="4400" dirty="0"/>
          </a:p>
        </p:txBody>
      </p:sp>
      <p:sp>
        <p:nvSpPr>
          <p:cNvPr id="6" name="Text 4"/>
          <p:cNvSpPr txBox="1"/>
          <p:nvPr/>
        </p:nvSpPr>
        <p:spPr>
          <a:xfrm>
            <a:off x="548640" y="3566160"/>
            <a:ext cx="3108960" cy="548640"/>
          </a:xfrm>
          <a:prstGeom prst="rect">
            <a:avLst/>
          </a:prstGeom>
          <a:noFill/>
          <a:ln/>
        </p:spPr>
        <p:txBody>
          <a:bodyPr wrap="square" lIns="0" tIns="0" rIns="0" bIns="0" rtlCol="0" anchor="t"/>
          <a:lstStyle/>
          <a:p>
            <a:pPr indent="0" marL="0">
              <a:buNone/>
            </a:pPr>
            <a:r>
              <a:rPr lang="en-US" sz="1300" dirty="0">
                <a:solidFill>
                  <a:schemeClr val="accent4"/>
                </a:solidFill>
              </a:rPr>
              <a:t>flagged: account missing, so the score is less reliable</a:t>
            </a:r>
            <a:endParaRPr lang="en-US" sz="1300" dirty="0"/>
          </a:p>
        </p:txBody>
      </p:sp>
      <p:sp>
        <p:nvSpPr>
          <p:cNvPr id="7" name="Text 5"/>
          <p:cNvSpPr txBox="1"/>
          <p:nvPr/>
        </p:nvSpPr>
        <p:spPr>
          <a:xfrm>
            <a:off x="548640" y="4206240"/>
            <a:ext cx="3291840" cy="73152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400 / 1,189 / 0</a:t>
            </a:r>
            <a:endParaRPr lang="en-US" sz="3600" dirty="0"/>
          </a:p>
        </p:txBody>
      </p:sp>
      <p:sp>
        <p:nvSpPr>
          <p:cNvPr id="8" name="Text 6"/>
          <p:cNvSpPr txBox="1"/>
          <p:nvPr/>
        </p:nvSpPr>
        <p:spPr>
          <a:xfrm>
            <a:off x="548640" y="4983480"/>
            <a:ext cx="3291840" cy="548640"/>
          </a:xfrm>
          <a:prstGeom prst="rect">
            <a:avLst/>
          </a:prstGeom>
          <a:noFill/>
          <a:ln/>
        </p:spPr>
        <p:txBody>
          <a:bodyPr wrap="square" lIns="0" tIns="0" rIns="0" bIns="0" rtlCol="0" anchor="t"/>
          <a:lstStyle/>
          <a:p>
            <a:pPr indent="0" marL="0">
              <a:buNone/>
            </a:pPr>
            <a:r>
              <a:rPr lang="en-US" sz="1300" dirty="0">
                <a:solidFill>
                  <a:schemeClr val="accent4"/>
                </a:solidFill>
              </a:rPr>
              <a:t>High / Medium / Low priority (heuristic bands 0.70 and 0.40)</a:t>
            </a:r>
            <a:endParaRPr lang="en-US" sz="1300" dirty="0"/>
          </a:p>
        </p:txBody>
      </p:sp>
      <p:sp>
        <p:nvSpPr>
          <p:cNvPr id="9" name="deal-card"/>
          <p:cNvSpPr/>
          <p:nvPr/>
        </p:nvSpPr>
        <p:spPr>
          <a:xfrm>
            <a:off x="4480560" y="1417320"/>
            <a:ext cx="7132320" cy="3566160"/>
          </a:xfrm>
          <a:prstGeom prst="roundRect">
            <a:avLst>
              <a:gd name="adj" fmla="val 2564"/>
            </a:avLst>
          </a:prstGeom>
          <a:solidFill>
            <a:schemeClr val="bg1"/>
          </a:solidFill>
          <a:ln w="12700">
            <a:solidFill>
              <a:srgbClr val="DCE5E3"/>
            </a:solidFill>
            <a:prstDash val="solid"/>
          </a:ln>
          <a:effectLst>
            <a:outerShdw sx="100000" sy="100000" kx="0" ky="0" algn="bl" rotWithShape="0" blurRad="101600" dist="25400" dir="5400000">
              <a:srgbClr val="16232E">
                <a:alpha val="12000"/>
              </a:srgbClr>
            </a:outerShdw>
          </a:effectLst>
        </p:spPr>
      </p:sp>
      <p:sp>
        <p:nvSpPr>
          <p:cNvPr id="10" name="icon-bg-tag"/>
          <p:cNvSpPr/>
          <p:nvPr/>
        </p:nvSpPr>
        <p:spPr>
          <a:xfrm>
            <a:off x="4800600" y="1737360"/>
            <a:ext cx="548640" cy="548640"/>
          </a:xfrm>
          <a:prstGeom prst="ellipse">
            <a:avLst/>
          </a:prstGeom>
          <a:solidFill>
            <a:schemeClr val="accent1"/>
          </a:solidFill>
          <a:ln/>
        </p:spPr>
      </p:sp>
      <p:pic>
        <p:nvPicPr>
          <p:cNvPr id="11" name="icon-tag" descr="preencoded.png">    </p:cNvPr>
          <p:cNvPicPr>
            <a:picLocks noChangeAspect="1"/>
          </p:cNvPicPr>
          <p:nvPr/>
        </p:nvPicPr>
        <p:blipFill>
          <a:blip r:embed="rId1"/>
          <a:stretch>
            <a:fillRect/>
          </a:stretch>
        </p:blipFill>
        <p:spPr>
          <a:xfrm>
            <a:off x="4937760" y="1874520"/>
            <a:ext cx="274320" cy="274320"/>
          </a:xfrm>
          <a:prstGeom prst="rect">
            <a:avLst/>
          </a:prstGeom>
        </p:spPr>
      </p:pic>
      <p:sp>
        <p:nvSpPr>
          <p:cNvPr id="12" name="Text 9"/>
          <p:cNvSpPr txBox="1"/>
          <p:nvPr/>
        </p:nvSpPr>
        <p:spPr>
          <a:xfrm>
            <a:off x="5532120" y="1709928"/>
            <a:ext cx="3840480" cy="365760"/>
          </a:xfrm>
          <a:prstGeom prst="rect">
            <a:avLst/>
          </a:prstGeom>
          <a:noFill/>
          <a:ln/>
        </p:spPr>
        <p:txBody>
          <a:bodyPr wrap="square" lIns="0" tIns="0" rIns="0" bIns="0" rtlCol="0" anchor="t"/>
          <a:lstStyle/>
          <a:p>
            <a:pPr indent="0" marL="0">
              <a:buNone/>
            </a:pPr>
            <a:r>
              <a:rPr lang="en-US" sz="2000" b="1" dirty="0">
                <a:solidFill>
                  <a:schemeClr val="tx2"/>
                </a:solidFill>
              </a:rPr>
              <a:t>Deal AI76U58A</a:t>
            </a:r>
            <a:endParaRPr lang="en-US" sz="2000" dirty="0"/>
          </a:p>
        </p:txBody>
      </p:sp>
      <p:sp>
        <p:nvSpPr>
          <p:cNvPr id="13" name="Text 10"/>
          <p:cNvSpPr txBox="1"/>
          <p:nvPr/>
        </p:nvSpPr>
        <p:spPr>
          <a:xfrm>
            <a:off x="5532120" y="2075688"/>
            <a:ext cx="4206240" cy="320040"/>
          </a:xfrm>
          <a:prstGeom prst="rect">
            <a:avLst/>
          </a:prstGeom>
          <a:noFill/>
          <a:ln/>
        </p:spPr>
        <p:txBody>
          <a:bodyPr wrap="square" lIns="0" tIns="0" rIns="0" bIns="0" rtlCol="0" anchor="t"/>
          <a:lstStyle/>
          <a:p>
            <a:pPr indent="0" marL="0">
              <a:buNone/>
            </a:pPr>
            <a:r>
              <a:rPr lang="en-US" sz="1300" dirty="0">
                <a:solidFill>
                  <a:schemeClr val="accent4"/>
                </a:solidFill>
              </a:rPr>
              <a:t>Treequote · GTX Basic · Maureen Marcano</a:t>
            </a:r>
            <a:endParaRPr lang="en-US" sz="1300" dirty="0"/>
          </a:p>
        </p:txBody>
      </p:sp>
      <p:sp>
        <p:nvSpPr>
          <p:cNvPr id="14" name="Text 11"/>
          <p:cNvSpPr txBox="1"/>
          <p:nvPr/>
        </p:nvSpPr>
        <p:spPr>
          <a:xfrm>
            <a:off x="9692640" y="1645920"/>
            <a:ext cx="1645920" cy="640080"/>
          </a:xfrm>
          <a:prstGeom prst="rect">
            <a:avLst/>
          </a:prstGeom>
          <a:noFill/>
          <a:ln/>
        </p:spPr>
        <p:txBody>
          <a:bodyPr wrap="square" lIns="0" tIns="0" rIns="0" bIns="0" rtlCol="0" anchor="t"/>
          <a:lstStyle/>
          <a:p>
            <a:pPr algn="r" indent="0" marL="0">
              <a:buNone/>
            </a:pPr>
            <a:r>
              <a:rPr lang="en-US" sz="4000" b="1" dirty="0">
                <a:solidFill>
                  <a:schemeClr val="accent1"/>
                </a:solidFill>
                <a:latin typeface="Cambria" pitchFamily="34" charset="0"/>
                <a:ea typeface="Cambria" pitchFamily="34" charset="-122"/>
                <a:cs typeface="Cambria" pitchFamily="34" charset="-120"/>
              </a:rPr>
              <a:t>88%</a:t>
            </a:r>
            <a:endParaRPr lang="en-US" sz="4000" dirty="0"/>
          </a:p>
        </p:txBody>
      </p:sp>
      <p:sp>
        <p:nvSpPr>
          <p:cNvPr id="15" name="Text 12"/>
          <p:cNvSpPr txBox="1"/>
          <p:nvPr/>
        </p:nvSpPr>
        <p:spPr>
          <a:xfrm>
            <a:off x="9235440" y="2286000"/>
            <a:ext cx="2103120" cy="274320"/>
          </a:xfrm>
          <a:prstGeom prst="rect">
            <a:avLst/>
          </a:prstGeom>
          <a:noFill/>
          <a:ln/>
        </p:spPr>
        <p:txBody>
          <a:bodyPr wrap="square" lIns="0" tIns="0" rIns="0" bIns="0" rtlCol="0" anchor="t"/>
          <a:lstStyle/>
          <a:p>
            <a:pPr algn="r" indent="0" marL="0">
              <a:buNone/>
            </a:pPr>
            <a:r>
              <a:rPr lang="en-US" sz="1200" dirty="0">
                <a:solidFill>
                  <a:schemeClr val="accent4"/>
                </a:solidFill>
              </a:rPr>
              <a:t>P(Won) · High priority</a:t>
            </a:r>
            <a:endParaRPr lang="en-US" sz="1200" dirty="0"/>
          </a:p>
        </p:txBody>
      </p:sp>
      <p:sp>
        <p:nvSpPr>
          <p:cNvPr id="16" name="Text 13"/>
          <p:cNvSpPr txBox="1"/>
          <p:nvPr/>
        </p:nvSpPr>
        <p:spPr>
          <a:xfrm>
            <a:off x="4800600" y="2880360"/>
            <a:ext cx="3108960" cy="320040"/>
          </a:xfrm>
          <a:prstGeom prst="rect">
            <a:avLst/>
          </a:prstGeom>
          <a:noFill/>
          <a:ln/>
        </p:spPr>
        <p:txBody>
          <a:bodyPr wrap="square" lIns="0" tIns="0" rIns="0" bIns="0" rtlCol="0" anchor="t"/>
          <a:lstStyle/>
          <a:p>
            <a:pPr indent="0" marL="0">
              <a:buNone/>
            </a:pPr>
            <a:r>
              <a:rPr lang="en-US" sz="1500" b="1" dirty="0">
                <a:solidFill>
                  <a:schemeClr val="accent1"/>
                </a:solidFill>
              </a:rPr>
              <a:t>Raises the score</a:t>
            </a:r>
            <a:endParaRPr lang="en-US" sz="1500" dirty="0"/>
          </a:p>
        </p:txBody>
      </p:sp>
      <p:sp>
        <p:nvSpPr>
          <p:cNvPr id="17" name="Text 14"/>
          <p:cNvSpPr txBox="1"/>
          <p:nvPr/>
        </p:nvSpPr>
        <p:spPr>
          <a:xfrm>
            <a:off x="4800600" y="3246120"/>
            <a:ext cx="3200400" cy="219456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chemeClr val="tx1"/>
                </a:solidFill>
              </a:rPr>
              <a:t>engage_year = 2016: +0.294</a:t>
            </a:r>
            <a:endParaRPr lang="en-US" sz="1500" dirty="0"/>
          </a:p>
          <a:p>
            <a:pPr marL="203200" indent="-203200">
              <a:spcAft>
                <a:spcPts val="800"/>
              </a:spcAft>
              <a:buSzPct val="100000"/>
              <a:buChar char="•"/>
            </a:pPr>
            <a:r>
              <a:rPr lang="en-US" sz="1300" dirty="0">
                <a:solidFill>
                  <a:schemeClr val="tx1"/>
                </a:solidFill>
              </a:rPr>
              <a:t>sales_agent = Maureen Marcano: +0.029</a:t>
            </a:r>
            <a:endParaRPr lang="en-US" sz="1500" dirty="0"/>
          </a:p>
          <a:p>
            <a:pPr marL="203200" indent="-203200">
              <a:spcAft>
                <a:spcPts val="800"/>
              </a:spcAft>
              <a:buSzPct val="100000"/>
              <a:buChar char="•"/>
            </a:pPr>
            <a:r>
              <a:rPr lang="en-US" sz="1300" dirty="0">
                <a:solidFill>
                  <a:schemeClr val="tx1"/>
                </a:solidFill>
              </a:rPr>
              <a:t>engage_month = 12: +0.020</a:t>
            </a:r>
            <a:endParaRPr lang="en-US" sz="1500" dirty="0"/>
          </a:p>
        </p:txBody>
      </p:sp>
      <p:sp>
        <p:nvSpPr>
          <p:cNvPr id="18" name="Text 15"/>
          <p:cNvSpPr txBox="1"/>
          <p:nvPr/>
        </p:nvSpPr>
        <p:spPr>
          <a:xfrm>
            <a:off x="8138160" y="2880360"/>
            <a:ext cx="3108960" cy="320040"/>
          </a:xfrm>
          <a:prstGeom prst="rect">
            <a:avLst/>
          </a:prstGeom>
          <a:noFill/>
          <a:ln/>
        </p:spPr>
        <p:txBody>
          <a:bodyPr wrap="square" lIns="0" tIns="0" rIns="0" bIns="0" rtlCol="0" anchor="t"/>
          <a:lstStyle/>
          <a:p>
            <a:pPr indent="0" marL="0">
              <a:buNone/>
            </a:pPr>
            <a:r>
              <a:rPr lang="en-US" sz="1500" b="1" dirty="0">
                <a:solidFill>
                  <a:schemeClr val="accent3"/>
                </a:solidFill>
              </a:rPr>
              <a:t>Lowers the score</a:t>
            </a:r>
            <a:endParaRPr lang="en-US" sz="1500" dirty="0"/>
          </a:p>
        </p:txBody>
      </p:sp>
      <p:sp>
        <p:nvSpPr>
          <p:cNvPr id="19" name="Text 16"/>
          <p:cNvSpPr txBox="1"/>
          <p:nvPr/>
        </p:nvSpPr>
        <p:spPr>
          <a:xfrm>
            <a:off x="8138160" y="3246120"/>
            <a:ext cx="3200400" cy="219456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chemeClr val="tx1"/>
                </a:solidFill>
              </a:rPr>
              <a:t>engage_quarter = 4: -0.064</a:t>
            </a:r>
            <a:endParaRPr lang="en-US" sz="1500" dirty="0"/>
          </a:p>
          <a:p>
            <a:pPr marL="203200" indent="-203200">
              <a:spcAft>
                <a:spcPts val="800"/>
              </a:spcAft>
              <a:buSzPct val="100000"/>
              <a:buChar char="•"/>
            </a:pPr>
            <a:r>
              <a:rPr lang="en-US" sz="1300" dirty="0">
                <a:solidFill>
                  <a:schemeClr val="tx1"/>
                </a:solidFill>
              </a:rPr>
              <a:t>sector = telecommunications: -0.012</a:t>
            </a:r>
            <a:endParaRPr lang="en-US" sz="1500" dirty="0"/>
          </a:p>
          <a:p>
            <a:pPr marL="203200" indent="-203200">
              <a:spcAft>
                <a:spcPts val="800"/>
              </a:spcAft>
              <a:buSzPct val="100000"/>
              <a:buChar char="•"/>
            </a:pPr>
            <a:r>
              <a:rPr lang="en-US" sz="1300" dirty="0">
                <a:solidFill>
                  <a:schemeClr val="tx1"/>
                </a:solidFill>
              </a:rPr>
              <a:t>regional_office = West: -0.002</a:t>
            </a:r>
            <a:endParaRPr lang="en-US" sz="1500" dirty="0"/>
          </a:p>
        </p:txBody>
      </p:sp>
      <p:sp>
        <p:nvSpPr>
          <p:cNvPr id="20" name="Text 17"/>
          <p:cNvSpPr txBox="1"/>
          <p:nvPr/>
        </p:nvSpPr>
        <p:spPr>
          <a:xfrm>
            <a:off x="4800600" y="4480560"/>
            <a:ext cx="6492240" cy="320040"/>
          </a:xfrm>
          <a:prstGeom prst="rect">
            <a:avLst/>
          </a:prstGeom>
          <a:noFill/>
          <a:ln/>
        </p:spPr>
        <p:txBody>
          <a:bodyPr wrap="square" lIns="0" tIns="0" rIns="0" bIns="0" rtlCol="0" anchor="t"/>
          <a:lstStyle/>
          <a:p>
            <a:pPr indent="0" marL="0">
              <a:buNone/>
            </a:pPr>
            <a:r>
              <a:rPr lang="en-US" sz="1100" i="1" dirty="0">
                <a:solidFill>
                  <a:schemeClr val="accent4"/>
                </a:solidFill>
              </a:rPr>
              <a:t>Values are changes in P(Won) when that input is reset to the training reference.</a:t>
            </a:r>
            <a:endParaRPr lang="en-US" sz="1100" dirty="0"/>
          </a:p>
        </p:txBody>
      </p:sp>
      <p:sp>
        <p:nvSpPr>
          <p:cNvPr id="21" name="icon-bg-warn"/>
          <p:cNvSpPr/>
          <p:nvPr/>
        </p:nvSpPr>
        <p:spPr>
          <a:xfrm>
            <a:off x="4480560" y="5257800"/>
            <a:ext cx="457200" cy="457200"/>
          </a:xfrm>
          <a:prstGeom prst="ellipse">
            <a:avLst/>
          </a:prstGeom>
          <a:solidFill>
            <a:schemeClr val="accent2"/>
          </a:solidFill>
          <a:ln/>
        </p:spPr>
      </p:sp>
      <p:pic>
        <p:nvPicPr>
          <p:cNvPr id="22" name="icon-warn" descr="preencoded.png">    </p:cNvPr>
          <p:cNvPicPr>
            <a:picLocks noChangeAspect="1"/>
          </p:cNvPicPr>
          <p:nvPr/>
        </p:nvPicPr>
        <p:blipFill>
          <a:blip r:embed="rId2"/>
          <a:stretch>
            <a:fillRect/>
          </a:stretch>
        </p:blipFill>
        <p:spPr>
          <a:xfrm>
            <a:off x="4594860" y="5372100"/>
            <a:ext cx="228600" cy="228600"/>
          </a:xfrm>
          <a:prstGeom prst="rect">
            <a:avLst/>
          </a:prstGeom>
        </p:spPr>
      </p:pic>
      <p:sp>
        <p:nvSpPr>
          <p:cNvPr id="23" name="Text 19"/>
          <p:cNvSpPr txBox="1"/>
          <p:nvPr/>
        </p:nvSpPr>
        <p:spPr>
          <a:xfrm>
            <a:off x="5120640" y="5193792"/>
            <a:ext cx="6492240" cy="640080"/>
          </a:xfrm>
          <a:prstGeom prst="rect">
            <a:avLst/>
          </a:prstGeom>
          <a:noFill/>
          <a:ln/>
        </p:spPr>
        <p:txBody>
          <a:bodyPr wrap="square" lIns="0" tIns="0" rIns="0" bIns="0" rtlCol="0" anchor="ctr"/>
          <a:lstStyle/>
          <a:p>
            <a:pPr indent="0" marL="0">
              <a:buNone/>
            </a:pPr>
            <a:r>
              <a:rPr lang="en-US" sz="1400" dirty="0">
                <a:solidFill>
                  <a:schemeClr val="tx1"/>
                </a:solidFill>
              </a:rPr>
              <a:t>Priority bands are a heuristic, not a validated sales policy. Scores come from a frozen model snapshot, not historical as-of predictions.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3-month expected revenue (illustrative)</a:t>
            </a:r>
            <a:endParaRPr lang="en-US" sz="3400" dirty="0"/>
          </a:p>
        </p:txBody>
      </p:sp>
      <p:sp>
        <p:nvSpPr>
          <p:cNvPr id="3" name="Text 1"/>
          <p:cNvSpPr txBox="1"/>
          <p:nvPr/>
        </p:nvSpPr>
        <p:spPr>
          <a:xfrm>
            <a:off x="548640" y="1371600"/>
            <a:ext cx="4206240" cy="73152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$2.50M</a:t>
            </a:r>
            <a:endParaRPr lang="en-US" sz="5400" dirty="0"/>
          </a:p>
        </p:txBody>
      </p:sp>
      <p:sp>
        <p:nvSpPr>
          <p:cNvPr id="4" name="Text 2"/>
          <p:cNvSpPr txBox="1"/>
          <p:nvPr/>
        </p:nvSpPr>
        <p:spPr>
          <a:xfrm>
            <a:off x="548640" y="2148840"/>
            <a:ext cx="4206240" cy="548640"/>
          </a:xfrm>
          <a:prstGeom prst="rect">
            <a:avLst/>
          </a:prstGeom>
          <a:noFill/>
          <a:ln/>
        </p:spPr>
        <p:txBody>
          <a:bodyPr wrap="square" lIns="0" tIns="0" rIns="0" bIns="0" rtlCol="0" anchor="t"/>
          <a:lstStyle/>
          <a:p>
            <a:pPr indent="0" marL="0">
              <a:buNone/>
            </a:pPr>
            <a:r>
              <a:rPr lang="en-US" sz="1300" dirty="0">
                <a:solidFill>
                  <a:schemeClr val="accent4"/>
                </a:solidFill>
              </a:rPr>
              <a:t>expected from 1,589 open deals: Σ P(Won) × list price</a:t>
            </a:r>
            <a:endParaRPr lang="en-US" sz="1300" dirty="0"/>
          </a:p>
        </p:txBody>
      </p:sp>
      <p:sp>
        <p:nvSpPr>
          <p:cNvPr id="5" name="Text 3"/>
          <p:cNvSpPr txBox="1"/>
          <p:nvPr/>
        </p:nvSpPr>
        <p:spPr>
          <a:xfrm>
            <a:off x="548640" y="2880360"/>
            <a:ext cx="4206240" cy="73152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$2.38M – $2.63M</a:t>
            </a:r>
            <a:endParaRPr lang="en-US" sz="3600" dirty="0"/>
          </a:p>
        </p:txBody>
      </p:sp>
      <p:sp>
        <p:nvSpPr>
          <p:cNvPr id="6" name="Text 4"/>
          <p:cNvSpPr txBox="1"/>
          <p:nvPr/>
        </p:nvSpPr>
        <p:spPr>
          <a:xfrm>
            <a:off x="548640" y="3657600"/>
            <a:ext cx="4206240" cy="548640"/>
          </a:xfrm>
          <a:prstGeom prst="rect">
            <a:avLst/>
          </a:prstGeom>
          <a:noFill/>
          <a:ln/>
        </p:spPr>
        <p:txBody>
          <a:bodyPr wrap="square" lIns="0" tIns="0" rIns="0" bIns="0" rtlCol="0" anchor="t"/>
          <a:lstStyle/>
          <a:p>
            <a:pPr indent="0" marL="0">
              <a:buNone/>
            </a:pPr>
            <a:r>
              <a:rPr lang="en-US" sz="1300" dirty="0">
                <a:solidFill>
                  <a:schemeClr val="accent4"/>
                </a:solidFill>
              </a:rPr>
              <a:t>5th–95th percentile of 10,000 simulated outcomes</a:t>
            </a:r>
            <a:endParaRPr lang="en-US" sz="1300" dirty="0"/>
          </a:p>
        </p:txBody>
      </p:sp>
      <p:sp>
        <p:nvSpPr>
          <p:cNvPr id="7" name="Text 5"/>
          <p:cNvSpPr txBox="1"/>
          <p:nvPr/>
        </p:nvSpPr>
        <p:spPr>
          <a:xfrm>
            <a:off x="548640" y="4343400"/>
            <a:ext cx="4206240" cy="731520"/>
          </a:xfrm>
          <a:prstGeom prst="rect">
            <a:avLst/>
          </a:prstGeom>
          <a:noFill/>
          <a:ln/>
        </p:spPr>
        <p:txBody>
          <a:bodyPr wrap="square" lIns="0" tIns="0" rIns="0" bIns="0" rtlCol="0" anchor="b"/>
          <a:lstStyle/>
          <a:p>
            <a:pPr indent="0" marL="0">
              <a:buNone/>
            </a:pPr>
            <a:r>
              <a:rPr lang="en-US" sz="3600" b="1" dirty="0">
                <a:solidFill>
                  <a:schemeClr val="accent4"/>
                </a:solidFill>
                <a:latin typeface="Cambria" pitchFamily="34" charset="0"/>
                <a:ea typeface="Cambria" pitchFamily="34" charset="-122"/>
                <a:cs typeface="Cambria" pitchFamily="34" charset="-120"/>
              </a:rPr>
              <a:t>$0.83M</a:t>
            </a:r>
            <a:endParaRPr lang="en-US" sz="3600" dirty="0"/>
          </a:p>
        </p:txBody>
      </p:sp>
      <p:sp>
        <p:nvSpPr>
          <p:cNvPr id="8" name="Text 6"/>
          <p:cNvSpPr txBox="1"/>
          <p:nvPr/>
        </p:nvSpPr>
        <p:spPr>
          <a:xfrm>
            <a:off x="548640" y="5120640"/>
            <a:ext cx="4206240" cy="548640"/>
          </a:xfrm>
          <a:prstGeom prst="rect">
            <a:avLst/>
          </a:prstGeom>
          <a:noFill/>
          <a:ln/>
        </p:spPr>
        <p:txBody>
          <a:bodyPr wrap="square" lIns="0" tIns="0" rIns="0" bIns="0" rtlCol="0" anchor="t"/>
          <a:lstStyle/>
          <a:p>
            <a:pPr indent="0" marL="0">
              <a:buNone/>
            </a:pPr>
            <a:r>
              <a:rPr lang="en-US" sz="1300" dirty="0">
                <a:solidFill>
                  <a:schemeClr val="accent4"/>
                </a:solidFill>
              </a:rPr>
              <a:t>deals with a known account only (501 deals)</a:t>
            </a:r>
            <a:endParaRPr lang="en-US" sz="1300" dirty="0"/>
          </a:p>
        </p:txBody>
      </p:sp>
      <p:graphicFrame>
        <p:nvGraphicFramePr>
          <p:cNvPr id="9" name="revenue-chart" descr=""/>
          <p:cNvGraphicFramePr/>
          <p:nvPr/>
        </p:nvGraphicFramePr>
        <p:xfrm>
          <a:off x="5212080" y="1325880"/>
          <a:ext cx="6400800" cy="3291840"/>
        </p:xfrm>
        <a:graphic xmlns:a="http://schemas.openxmlformats.org/drawingml/2006/main">
          <a:graphicData uri="http://schemas.openxmlformats.org/drawingml/2006/chart">
            <c:chart xmlns:c="http://schemas.openxmlformats.org/drawingml/2006/chart" r:id="rId1"/>
          </a:graphicData>
        </a:graphic>
      </p:graphicFrame>
      <p:sp>
        <p:nvSpPr>
          <p:cNvPr id="10" name="revenue-caveat"/>
          <p:cNvSpPr/>
          <p:nvPr/>
        </p:nvSpPr>
        <p:spPr>
          <a:xfrm>
            <a:off x="5212080" y="4846320"/>
            <a:ext cx="6400800" cy="1051560"/>
          </a:xfrm>
          <a:prstGeom prst="roundRect">
            <a:avLst>
              <a:gd name="adj" fmla="val 6957"/>
            </a:avLst>
          </a:prstGeom>
          <a:solidFill>
            <a:schemeClr val="bg2"/>
          </a:solidFill>
          <a:ln/>
        </p:spPr>
      </p:sp>
      <p:sp>
        <p:nvSpPr>
          <p:cNvPr id="11" name="Text 8"/>
          <p:cNvSpPr txBox="1"/>
          <p:nvPr/>
        </p:nvSpPr>
        <p:spPr>
          <a:xfrm>
            <a:off x="5440680" y="4956048"/>
            <a:ext cx="5943600" cy="868680"/>
          </a:xfrm>
          <a:prstGeom prst="rect">
            <a:avLst/>
          </a:prstGeom>
          <a:noFill/>
          <a:ln/>
        </p:spPr>
        <p:txBody>
          <a:bodyPr wrap="square" lIns="0" tIns="0" rIns="0" bIns="0" rtlCol="0" anchor="ctr"/>
          <a:lstStyle/>
          <a:p>
            <a:pPr indent="0" marL="0">
              <a:buNone/>
            </a:pPr>
            <a:r>
              <a:rPr lang="en-US" sz="1400" dirty="0">
                <a:solidFill>
                  <a:schemeClr val="tx1"/>
                </a:solidFill>
              </a:rPr>
              <a:t>Why only 3 months: deals close within 138 days (median 45). Caveats: model ROC-AUC ≈ 0.5, list price not close value, no new deals, range ignores model error.</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0515600" cy="12801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Scenario B: does the pipeline learn when signal exists?</a:t>
            </a:r>
            <a:endParaRPr lang="en-US" sz="4000" dirty="0"/>
          </a:p>
        </p:txBody>
      </p:sp>
      <p:sp>
        <p:nvSpPr>
          <p:cNvPr id="3" name="Text 0"/>
          <p:cNvSpPr/>
          <p:nvPr>
            <p:ph idx="101" type="body" hasCustomPrompt="1"/>
          </p:nvPr>
        </p:nvSpPr>
        <p:spPr>
          <a:xfrm>
            <a:off x="548640" y="3657600"/>
            <a:ext cx="10515600" cy="1097280"/>
          </a:xfrm>
          <a:prstGeom prst="rect">
            <a:avLst/>
          </a:prstGeom>
          <a:noFill/>
          <a:ln/>
        </p:spPr>
        <p:txBody>
          <a:bodyPr wrap="square" lIns="0" tIns="0" rIns="0" bIns="0" rtlCol="0" anchor="t"/>
          <a:lstStyle/>
          <a:p>
            <a:pPr indent="0" marL="0">
              <a:buNone/>
            </a:pPr>
            <a:r>
              <a:rPr lang="en-US" sz="2000" dirty="0">
                <a:solidFill>
                  <a:schemeClr val="accent5"/>
                </a:solidFill>
              </a:rPr>
              <a:t>Same loader, split, preprocessing, threshold rule and metrics on 100,000 simulated deals</a:t>
            </a: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How we simulated 100,000 deals</a:t>
            </a:r>
            <a:endParaRPr lang="en-US" sz="3400" dirty="0"/>
          </a:p>
        </p:txBody>
      </p:sp>
      <p:sp>
        <p:nvSpPr>
          <p:cNvPr id="3" name="sim-col-0"/>
          <p:cNvSpPr/>
          <p:nvPr/>
        </p:nvSpPr>
        <p:spPr>
          <a:xfrm>
            <a:off x="548640" y="1417320"/>
            <a:ext cx="3429000" cy="2743200"/>
          </a:xfrm>
          <a:prstGeom prst="roundRect">
            <a:avLst>
              <a:gd name="adj" fmla="val 2667"/>
            </a:avLst>
          </a:prstGeom>
          <a:solidFill>
            <a:schemeClr val="bg2"/>
          </a:solidFill>
          <a:ln/>
        </p:spPr>
      </p:sp>
      <p:sp>
        <p:nvSpPr>
          <p:cNvPr id="4" name="icon-bg-table"/>
          <p:cNvSpPr/>
          <p:nvPr/>
        </p:nvSpPr>
        <p:spPr>
          <a:xfrm>
            <a:off x="822960" y="1645920"/>
            <a:ext cx="594360" cy="594360"/>
          </a:xfrm>
          <a:prstGeom prst="ellipse">
            <a:avLst/>
          </a:prstGeom>
          <a:solidFill>
            <a:schemeClr val="accent1"/>
          </a:solidFill>
          <a:ln/>
        </p:spPr>
      </p:sp>
      <p:pic>
        <p:nvPicPr>
          <p:cNvPr id="5" name="icon-table" descr="preencoded.png">    </p:cNvPr>
          <p:cNvPicPr>
            <a:picLocks noChangeAspect="1"/>
          </p:cNvPicPr>
          <p:nvPr/>
        </p:nvPicPr>
        <p:blipFill>
          <a:blip r:embed="rId1"/>
          <a:stretch>
            <a:fillRect/>
          </a:stretch>
        </p:blipFill>
        <p:spPr>
          <a:xfrm>
            <a:off x="971550" y="1794510"/>
            <a:ext cx="297180" cy="297180"/>
          </a:xfrm>
          <a:prstGeom prst="rect">
            <a:avLst/>
          </a:prstGeom>
        </p:spPr>
      </p:pic>
      <p:sp>
        <p:nvSpPr>
          <p:cNvPr id="6" name="Text 3"/>
          <p:cNvSpPr txBox="1"/>
          <p:nvPr/>
        </p:nvSpPr>
        <p:spPr>
          <a:xfrm>
            <a:off x="1554480" y="1719072"/>
            <a:ext cx="2240280" cy="457200"/>
          </a:xfrm>
          <a:prstGeom prst="rect">
            <a:avLst/>
          </a:prstGeom>
          <a:noFill/>
          <a:ln/>
        </p:spPr>
        <p:txBody>
          <a:bodyPr wrap="square" lIns="0" tIns="0" rIns="0" bIns="0" rtlCol="0" anchor="ctr"/>
          <a:lstStyle/>
          <a:p>
            <a:pPr indent="0" marL="0">
              <a:buNone/>
            </a:pPr>
            <a:r>
              <a:rPr lang="en-US" sz="1800" b="1" dirty="0">
                <a:solidFill>
                  <a:schemeClr val="tx2"/>
                </a:solidFill>
              </a:rPr>
              <a:t>Reused from real data</a:t>
            </a:r>
            <a:endParaRPr lang="en-US" sz="1800" dirty="0"/>
          </a:p>
        </p:txBody>
      </p:sp>
      <p:sp>
        <p:nvSpPr>
          <p:cNvPr id="7" name="Text 4"/>
          <p:cNvSpPr txBox="1"/>
          <p:nvPr/>
        </p:nvSpPr>
        <p:spPr>
          <a:xfrm>
            <a:off x="822960" y="2468880"/>
            <a:ext cx="2880360" cy="16002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85 accounts, 30 agents, 7 products</a:t>
            </a:r>
            <a:endParaRPr lang="en-US" sz="1500" dirty="0"/>
          </a:p>
          <a:p>
            <a:pPr marL="203200" indent="-203200">
              <a:spcAft>
                <a:spcPts val="800"/>
              </a:spcAft>
              <a:buSzPct val="100000"/>
              <a:buChar char="•"/>
            </a:pPr>
            <a:r>
              <a:rPr lang="en-US" sz="1600" dirty="0">
                <a:solidFill>
                  <a:schemeClr val="tx1"/>
                </a:solidFill>
              </a:rPr>
              <a:t>Date range and 63% win rate</a:t>
            </a:r>
            <a:endParaRPr lang="en-US" sz="1500" dirty="0"/>
          </a:p>
          <a:p>
            <a:pPr marL="203200" indent="-203200">
              <a:spcAft>
                <a:spcPts val="800"/>
              </a:spcAft>
              <a:buSzPct val="100000"/>
              <a:buChar char="•"/>
            </a:pPr>
            <a:r>
              <a:rPr lang="en-US" sz="1600" dirty="0">
                <a:solidFill>
                  <a:schemeClr val="tx1"/>
                </a:solidFill>
              </a:rPr>
              <a:t>Share of open and Prospecting deals</a:t>
            </a:r>
            <a:endParaRPr lang="en-US" sz="1500" dirty="0"/>
          </a:p>
        </p:txBody>
      </p:sp>
      <p:sp>
        <p:nvSpPr>
          <p:cNvPr id="8" name="sim-col-1"/>
          <p:cNvSpPr/>
          <p:nvPr/>
        </p:nvSpPr>
        <p:spPr>
          <a:xfrm>
            <a:off x="4381348" y="1417320"/>
            <a:ext cx="3429000" cy="2743200"/>
          </a:xfrm>
          <a:prstGeom prst="roundRect">
            <a:avLst>
              <a:gd name="adj" fmla="val 2667"/>
            </a:avLst>
          </a:prstGeom>
          <a:solidFill>
            <a:schemeClr val="bg2"/>
          </a:solidFill>
          <a:ln/>
        </p:spPr>
      </p:sp>
      <p:sp>
        <p:nvSpPr>
          <p:cNvPr id="9" name="icon-bg-dice"/>
          <p:cNvSpPr/>
          <p:nvPr/>
        </p:nvSpPr>
        <p:spPr>
          <a:xfrm>
            <a:off x="4655668" y="1645920"/>
            <a:ext cx="594360" cy="594360"/>
          </a:xfrm>
          <a:prstGeom prst="ellipse">
            <a:avLst/>
          </a:prstGeom>
          <a:solidFill>
            <a:schemeClr val="accent2"/>
          </a:solidFill>
          <a:ln/>
        </p:spPr>
      </p:sp>
      <p:pic>
        <p:nvPicPr>
          <p:cNvPr id="10" name="icon-dice" descr="preencoded.png">    </p:cNvPr>
          <p:cNvPicPr>
            <a:picLocks noChangeAspect="1"/>
          </p:cNvPicPr>
          <p:nvPr/>
        </p:nvPicPr>
        <p:blipFill>
          <a:blip r:embed="rId2"/>
          <a:stretch>
            <a:fillRect/>
          </a:stretch>
        </p:blipFill>
        <p:spPr>
          <a:xfrm>
            <a:off x="4804258" y="1794510"/>
            <a:ext cx="297180" cy="297180"/>
          </a:xfrm>
          <a:prstGeom prst="rect">
            <a:avLst/>
          </a:prstGeom>
        </p:spPr>
      </p:pic>
      <p:sp>
        <p:nvSpPr>
          <p:cNvPr id="11" name="Text 7"/>
          <p:cNvSpPr txBox="1"/>
          <p:nvPr/>
        </p:nvSpPr>
        <p:spPr>
          <a:xfrm>
            <a:off x="5387188" y="1719072"/>
            <a:ext cx="2240280" cy="457200"/>
          </a:xfrm>
          <a:prstGeom prst="rect">
            <a:avLst/>
          </a:prstGeom>
          <a:noFill/>
          <a:ln/>
        </p:spPr>
        <p:txBody>
          <a:bodyPr wrap="square" lIns="0" tIns="0" rIns="0" bIns="0" rtlCol="0" anchor="ctr"/>
          <a:lstStyle/>
          <a:p>
            <a:pPr indent="0" marL="0">
              <a:buNone/>
            </a:pPr>
            <a:r>
              <a:rPr lang="en-US" sz="1800" b="1" dirty="0">
                <a:solidFill>
                  <a:schemeClr val="tx2"/>
                </a:solidFill>
              </a:rPr>
              <a:t>Added by the team</a:t>
            </a:r>
            <a:endParaRPr lang="en-US" sz="1800" dirty="0"/>
          </a:p>
        </p:txBody>
      </p:sp>
      <p:sp>
        <p:nvSpPr>
          <p:cNvPr id="12" name="Text 8"/>
          <p:cNvSpPr txBox="1"/>
          <p:nvPr/>
        </p:nvSpPr>
        <p:spPr>
          <a:xfrm>
            <a:off x="4655668" y="2468880"/>
            <a:ext cx="2880360" cy="16002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9 new products, new GTS series</a:t>
            </a:r>
            <a:endParaRPr lang="en-US" sz="1500" dirty="0"/>
          </a:p>
          <a:p>
            <a:pPr marL="203200" indent="-203200">
              <a:spcAft>
                <a:spcPts val="800"/>
              </a:spcAft>
              <a:buSzPct val="100000"/>
              <a:buChar char="•"/>
            </a:pPr>
            <a:r>
              <a:rPr lang="en-US" sz="1600" dirty="0">
                <a:solidFill>
                  <a:schemeClr val="tx1"/>
                </a:solidFill>
              </a:rPr>
              <a:t>Competitor products</a:t>
            </a:r>
            <a:endParaRPr lang="en-US" sz="1500" dirty="0"/>
          </a:p>
          <a:p>
            <a:pPr marL="203200" indent="-203200">
              <a:spcAft>
                <a:spcPts val="800"/>
              </a:spcAft>
              <a:buSzPct val="100000"/>
              <a:buChar char="•"/>
            </a:pPr>
            <a:r>
              <a:rPr lang="en-US" sz="1600" dirty="0">
                <a:solidFill>
                  <a:schemeClr val="tx1"/>
                </a:solidFill>
              </a:rPr>
              <a:t>5-year industry trends</a:t>
            </a:r>
            <a:endParaRPr lang="en-US" sz="1500" dirty="0"/>
          </a:p>
        </p:txBody>
      </p:sp>
      <p:sp>
        <p:nvSpPr>
          <p:cNvPr id="13" name="sim-col-2"/>
          <p:cNvSpPr/>
          <p:nvPr/>
        </p:nvSpPr>
        <p:spPr>
          <a:xfrm>
            <a:off x="8214055" y="1417320"/>
            <a:ext cx="3429000" cy="2743200"/>
          </a:xfrm>
          <a:prstGeom prst="roundRect">
            <a:avLst>
              <a:gd name="adj" fmla="val 2667"/>
            </a:avLst>
          </a:prstGeom>
          <a:solidFill>
            <a:schemeClr val="bg2"/>
          </a:solidFill>
          <a:ln/>
        </p:spPr>
      </p:sp>
      <p:sp>
        <p:nvSpPr>
          <p:cNvPr id="14" name="icon-bg-flask"/>
          <p:cNvSpPr/>
          <p:nvPr/>
        </p:nvSpPr>
        <p:spPr>
          <a:xfrm>
            <a:off x="8488375" y="1645920"/>
            <a:ext cx="594360" cy="594360"/>
          </a:xfrm>
          <a:prstGeom prst="ellipse">
            <a:avLst/>
          </a:prstGeom>
          <a:solidFill>
            <a:schemeClr val="tx2"/>
          </a:solidFill>
          <a:ln/>
        </p:spPr>
      </p:sp>
      <p:pic>
        <p:nvPicPr>
          <p:cNvPr id="15" name="icon-flask" descr="preencoded.png">    </p:cNvPr>
          <p:cNvPicPr>
            <a:picLocks noChangeAspect="1"/>
          </p:cNvPicPr>
          <p:nvPr/>
        </p:nvPicPr>
        <p:blipFill>
          <a:blip r:embed="rId3"/>
          <a:stretch>
            <a:fillRect/>
          </a:stretch>
        </p:blipFill>
        <p:spPr>
          <a:xfrm>
            <a:off x="8636965" y="1794510"/>
            <a:ext cx="297180" cy="297180"/>
          </a:xfrm>
          <a:prstGeom prst="rect">
            <a:avLst/>
          </a:prstGeom>
        </p:spPr>
      </p:pic>
      <p:sp>
        <p:nvSpPr>
          <p:cNvPr id="16" name="Text 11"/>
          <p:cNvSpPr txBox="1"/>
          <p:nvPr/>
        </p:nvSpPr>
        <p:spPr>
          <a:xfrm>
            <a:off x="9219895" y="1719072"/>
            <a:ext cx="2240280" cy="457200"/>
          </a:xfrm>
          <a:prstGeom prst="rect">
            <a:avLst/>
          </a:prstGeom>
          <a:noFill/>
          <a:ln/>
        </p:spPr>
        <p:txBody>
          <a:bodyPr wrap="square" lIns="0" tIns="0" rIns="0" bIns="0" rtlCol="0" anchor="ctr"/>
          <a:lstStyle/>
          <a:p>
            <a:pPr indent="0" marL="0">
              <a:buNone/>
            </a:pPr>
            <a:r>
              <a:rPr lang="en-US" sz="1800" b="1" dirty="0">
                <a:solidFill>
                  <a:schemeClr val="tx2"/>
                </a:solidFill>
              </a:rPr>
              <a:t>Planted win formula</a:t>
            </a:r>
            <a:endParaRPr lang="en-US" sz="1800" dirty="0"/>
          </a:p>
        </p:txBody>
      </p:sp>
      <p:sp>
        <p:nvSpPr>
          <p:cNvPr id="17" name="Text 12"/>
          <p:cNvSpPr txBox="1"/>
          <p:nvPr/>
        </p:nvSpPr>
        <p:spPr>
          <a:xfrm>
            <a:off x="8488375" y="2468880"/>
            <a:ext cx="2880360" cy="16002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Known logistic model</a:t>
            </a:r>
            <a:endParaRPr lang="en-US" sz="1500" dirty="0"/>
          </a:p>
          <a:p>
            <a:pPr marL="203200" indent="-203200">
              <a:spcAft>
                <a:spcPts val="800"/>
              </a:spcAft>
              <a:buSzPct val="100000"/>
              <a:buChar char="•"/>
            </a:pPr>
            <a:r>
              <a:rPr lang="en-US" sz="1600" dirty="0">
                <a:solidFill>
                  <a:schemeClr val="tx1"/>
                </a:solidFill>
              </a:rPr>
              <a:t>3 interactions, e.g. expensive product × small account</a:t>
            </a:r>
            <a:endParaRPr lang="en-US" sz="1500" dirty="0"/>
          </a:p>
          <a:p>
            <a:pPr marL="203200" indent="-203200">
              <a:spcAft>
                <a:spcPts val="800"/>
              </a:spcAft>
              <a:buSzPct val="100000"/>
              <a:buChar char="•"/>
            </a:pPr>
            <a:r>
              <a:rPr lang="en-US" sz="1600" dirty="0">
                <a:solidFill>
                  <a:schemeClr val="tx1"/>
                </a:solidFill>
              </a:rPr>
              <a:t>Strength k = 3</a:t>
            </a:r>
            <a:endParaRPr lang="en-US" sz="1500" dirty="0"/>
          </a:p>
        </p:txBody>
      </p:sp>
      <p:sp>
        <p:nvSpPr>
          <p:cNvPr id="18" name="oracle-frame"/>
          <p:cNvSpPr/>
          <p:nvPr/>
        </p:nvSpPr>
        <p:spPr>
          <a:xfrm>
            <a:off x="548640" y="4526280"/>
            <a:ext cx="11094415" cy="1280160"/>
          </a:xfrm>
          <a:prstGeom prst="roundRect">
            <a:avLst>
              <a:gd name="adj" fmla="val 5714"/>
            </a:avLst>
          </a:prstGeom>
          <a:solidFill>
            <a:schemeClr val="bg1"/>
          </a:solidFill>
          <a:ln/>
        </p:spPr>
      </p:sp>
      <p:sp>
        <p:nvSpPr>
          <p:cNvPr id="19" name="icon-bg-bullseye"/>
          <p:cNvSpPr/>
          <p:nvPr/>
        </p:nvSpPr>
        <p:spPr>
          <a:xfrm>
            <a:off x="548640" y="4846320"/>
            <a:ext cx="594360" cy="594360"/>
          </a:xfrm>
          <a:prstGeom prst="ellipse">
            <a:avLst/>
          </a:prstGeom>
          <a:solidFill>
            <a:schemeClr val="accent3"/>
          </a:solidFill>
          <a:ln/>
        </p:spPr>
      </p:sp>
      <p:pic>
        <p:nvPicPr>
          <p:cNvPr id="20" name="icon-bullseye" descr="preencoded.png">    </p:cNvPr>
          <p:cNvPicPr>
            <a:picLocks noChangeAspect="1"/>
          </p:cNvPicPr>
          <p:nvPr/>
        </p:nvPicPr>
        <p:blipFill>
          <a:blip r:embed="rId4"/>
          <a:stretch>
            <a:fillRect/>
          </a:stretch>
        </p:blipFill>
        <p:spPr>
          <a:xfrm>
            <a:off x="697230" y="4994910"/>
            <a:ext cx="297180" cy="297180"/>
          </a:xfrm>
          <a:prstGeom prst="rect">
            <a:avLst/>
          </a:prstGeom>
        </p:spPr>
      </p:pic>
      <p:sp>
        <p:nvSpPr>
          <p:cNvPr id="21" name="Text 15"/>
          <p:cNvSpPr txBox="1"/>
          <p:nvPr/>
        </p:nvSpPr>
        <p:spPr>
          <a:xfrm>
            <a:off x="1325880" y="4773168"/>
            <a:ext cx="10317175" cy="731520"/>
          </a:xfrm>
          <a:prstGeom prst="rect">
            <a:avLst/>
          </a:prstGeom>
          <a:noFill/>
          <a:ln/>
        </p:spPr>
        <p:txBody>
          <a:bodyPr wrap="square" lIns="0" tIns="0" rIns="0" bIns="0" rtlCol="0" anchor="ctr"/>
          <a:lstStyle/>
          <a:p>
            <a:pPr indent="0" marL="0">
              <a:buNone/>
            </a:pPr>
            <a:r>
              <a:rPr lang="en-US" sz="1700" b="1" dirty="0">
                <a:solidFill>
                  <a:schemeClr val="tx2"/>
                </a:solidFill>
              </a:rPr>
              <a:t>We know every deal's true win probability. </a:t>
            </a:r>
            <a:pPr indent="0" marL="0">
              <a:buNone/>
            </a:pPr>
            <a:r>
              <a:rPr lang="en-US" sz="1700" dirty="0">
                <a:solidFill>
                  <a:schemeClr val="tx1"/>
                </a:solidFill>
              </a:rPr>
              <a:t>Scoring with it gives the oracle: the best ROC-AUC any model can reach. It is never used as a feature.</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Result B: nonlinear models near the oracle</a:t>
            </a:r>
            <a:endParaRPr lang="en-US" sz="3400" dirty="0"/>
          </a:p>
        </p:txBody>
      </p:sp>
      <p:graphicFrame>
        <p:nvGraphicFramePr>
          <p:cNvPr id="3" name="auc-chart-b" descr=""/>
          <p:cNvGraphicFramePr/>
          <p:nvPr/>
        </p:nvGraphicFramePr>
        <p:xfrm>
          <a:off x="548640" y="132588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09560" y="1417320"/>
            <a:ext cx="3749040" cy="73152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0.867</a:t>
            </a:r>
            <a:endParaRPr lang="en-US" sz="4400" dirty="0"/>
          </a:p>
        </p:txBody>
      </p:sp>
      <p:sp>
        <p:nvSpPr>
          <p:cNvPr id="5" name="Text 2"/>
          <p:cNvSpPr txBox="1"/>
          <p:nvPr/>
        </p:nvSpPr>
        <p:spPr>
          <a:xfrm>
            <a:off x="7909560" y="2194560"/>
            <a:ext cx="3749040" cy="548640"/>
          </a:xfrm>
          <a:prstGeom prst="rect">
            <a:avLst/>
          </a:prstGeom>
          <a:noFill/>
          <a:ln/>
        </p:spPr>
        <p:txBody>
          <a:bodyPr wrap="square" lIns="0" tIns="0" rIns="0" bIns="0" rtlCol="0" anchor="t"/>
          <a:lstStyle/>
          <a:p>
            <a:pPr indent="0" marL="0">
              <a:buNone/>
            </a:pPr>
            <a:r>
              <a:rPr lang="en-US" sz="1300" dirty="0">
                <a:solidFill>
                  <a:schemeClr val="accent4"/>
                </a:solidFill>
              </a:rPr>
              <a:t>TabNet with extended features, vs oracle 0.878</a:t>
            </a:r>
            <a:endParaRPr lang="en-US" sz="1300" dirty="0"/>
          </a:p>
        </p:txBody>
      </p:sp>
      <p:sp>
        <p:nvSpPr>
          <p:cNvPr id="6" name="Text 3"/>
          <p:cNvSpPr txBox="1"/>
          <p:nvPr/>
        </p:nvSpPr>
        <p:spPr>
          <a:xfrm>
            <a:off x="7909560" y="2880360"/>
            <a:ext cx="3749040" cy="822960"/>
          </a:xfrm>
          <a:prstGeom prst="rect">
            <a:avLst/>
          </a:prstGeom>
          <a:noFill/>
          <a:ln/>
        </p:spPr>
        <p:txBody>
          <a:bodyPr wrap="square" lIns="0" tIns="0" rIns="0" bIns="0" rtlCol="0" anchor="t"/>
          <a:lstStyle/>
          <a:p>
            <a:pPr indent="0" marL="0">
              <a:buNone/>
            </a:pPr>
            <a:r>
              <a:rPr lang="en-US" sz="1500" dirty="0">
                <a:solidFill>
                  <a:schemeClr val="tx1"/>
                </a:solidFill>
              </a:rPr>
              <a:t>Logistic Regression trails because it cannot represent the planted interactions.</a:t>
            </a:r>
            <a:endParaRPr lang="en-US" sz="1500" dirty="0"/>
          </a:p>
        </p:txBody>
      </p:sp>
      <p:sp>
        <p:nvSpPr>
          <p:cNvPr id="7" name="seed-card"/>
          <p:cNvSpPr/>
          <p:nvPr/>
        </p:nvSpPr>
        <p:spPr>
          <a:xfrm>
            <a:off x="7909560" y="3840480"/>
            <a:ext cx="3749040" cy="2011680"/>
          </a:xfrm>
          <a:prstGeom prst="roundRect">
            <a:avLst>
              <a:gd name="adj" fmla="val 3636"/>
            </a:avLst>
          </a:prstGeom>
          <a:solidFill>
            <a:schemeClr val="bg2"/>
          </a:solidFill>
          <a:ln/>
        </p:spPr>
      </p:sp>
      <p:sp>
        <p:nvSpPr>
          <p:cNvPr id="8" name="Text 5"/>
          <p:cNvSpPr txBox="1"/>
          <p:nvPr/>
        </p:nvSpPr>
        <p:spPr>
          <a:xfrm>
            <a:off x="8092440" y="3959352"/>
            <a:ext cx="3474720" cy="320040"/>
          </a:xfrm>
          <a:prstGeom prst="rect">
            <a:avLst/>
          </a:prstGeom>
          <a:noFill/>
          <a:ln/>
        </p:spPr>
        <p:txBody>
          <a:bodyPr wrap="square" lIns="0" tIns="0" rIns="0" bIns="0" rtlCol="0" anchor="t"/>
          <a:lstStyle/>
          <a:p>
            <a:pPr indent="0" marL="0">
              <a:buNone/>
            </a:pPr>
            <a:r>
              <a:rPr lang="en-US" sz="1300" b="1" dirty="0">
                <a:solidFill>
                  <a:schemeClr val="tx2"/>
                </a:solidFill>
              </a:rPr>
              <a:t>Five regenerated datasets (k = 3, extended)</a:t>
            </a:r>
            <a:endParaRPr lang="en-US" sz="1300" dirty="0"/>
          </a:p>
        </p:txBody>
      </p:sp>
      <p:sp>
        <p:nvSpPr>
          <p:cNvPr id="9" name="Text 6"/>
          <p:cNvSpPr txBox="1"/>
          <p:nvPr/>
        </p:nvSpPr>
        <p:spPr>
          <a:xfrm>
            <a:off x="8092440" y="4343400"/>
            <a:ext cx="3474720" cy="1645920"/>
          </a:xfrm>
          <a:prstGeom prst="rect">
            <a:avLst/>
          </a:prstGeom>
          <a:noFill/>
          <a:ln/>
        </p:spPr>
        <p:txBody>
          <a:bodyPr wrap="square" lIns="0" tIns="0" rIns="0" bIns="0" rtlCol="0" anchor="t"/>
          <a:lstStyle/>
          <a:p>
            <a:pPr indent="0" marL="0">
              <a:spcAft>
                <a:spcPts val="300"/>
              </a:spcAft>
              <a:buNone/>
            </a:pPr>
            <a:r>
              <a:rPr lang="en-US" sz="1300" dirty="0">
                <a:solidFill>
                  <a:schemeClr val="tx1"/>
                </a:solidFill>
              </a:rPr>
              <a:t>TabNet: 0.875 ± 0.008</a:t>
            </a:r>
            <a:endParaRPr lang="en-US" sz="1500" dirty="0"/>
          </a:p>
          <a:p>
            <a:pPr indent="0" marL="0">
              <a:spcAft>
                <a:spcPts val="300"/>
              </a:spcAft>
              <a:buNone/>
            </a:pPr>
            <a:r>
              <a:rPr lang="en-US" sz="1300" dirty="0">
                <a:solidFill>
                  <a:schemeClr val="tx1"/>
                </a:solidFill>
              </a:rPr>
              <a:t>MLP: 0.873 ± 0.008</a:t>
            </a:r>
            <a:endParaRPr lang="en-US" sz="1500" dirty="0"/>
          </a:p>
          <a:p>
            <a:pPr indent="0" marL="0">
              <a:spcAft>
                <a:spcPts val="300"/>
              </a:spcAft>
              <a:buNone/>
            </a:pPr>
            <a:r>
              <a:rPr lang="en-US" sz="1300" dirty="0">
                <a:solidFill>
                  <a:schemeClr val="tx1"/>
                </a:solidFill>
              </a:rPr>
              <a:t>Random Forest: 0.872 ± 0.007</a:t>
            </a:r>
            <a:endParaRPr lang="en-US" sz="1500" dirty="0"/>
          </a:p>
          <a:p>
            <a:pPr indent="0" marL="0">
              <a:spcAft>
                <a:spcPts val="300"/>
              </a:spcAft>
              <a:buNone/>
            </a:pPr>
            <a:r>
              <a:rPr lang="en-US" sz="1300" dirty="0">
                <a:solidFill>
                  <a:schemeClr val="tx1"/>
                </a:solidFill>
              </a:rPr>
              <a:t>Logistic Regression: 0.827 ± 0.008</a:t>
            </a:r>
            <a:endParaRPr lang="en-US" sz="1500" dirty="0"/>
          </a:p>
          <a:p>
            <a:pPr indent="0" marL="0">
              <a:spcAft>
                <a:spcPts val="300"/>
              </a:spcAft>
              <a:buNone/>
            </a:pPr>
            <a:r>
              <a:rPr lang="en-US" sz="1300" dirty="0">
                <a:solidFill>
                  <a:schemeClr val="tx1"/>
                </a:solidFill>
              </a:rPr>
              <a:t>Oracle: 0.886 ± 0.007</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Same pipeline, two datasets</a:t>
            </a:r>
            <a:endParaRPr lang="en-US" sz="3400" dirty="0"/>
          </a:p>
        </p:txBody>
      </p:sp>
      <p:sp>
        <p:nvSpPr>
          <p:cNvPr id="3" name="compare-0"/>
          <p:cNvSpPr/>
          <p:nvPr/>
        </p:nvSpPr>
        <p:spPr>
          <a:xfrm>
            <a:off x="548640" y="1417320"/>
            <a:ext cx="5364328" cy="3566160"/>
          </a:xfrm>
          <a:prstGeom prst="roundRect">
            <a:avLst>
              <a:gd name="adj" fmla="val 2051"/>
            </a:avLst>
          </a:prstGeom>
          <a:solidFill>
            <a:schemeClr val="bg2"/>
          </a:solidFill>
          <a:ln/>
        </p:spPr>
      </p:sp>
      <p:sp>
        <p:nvSpPr>
          <p:cNvPr id="4" name="Text 2"/>
          <p:cNvSpPr txBox="1"/>
          <p:nvPr/>
        </p:nvSpPr>
        <p:spPr>
          <a:xfrm>
            <a:off x="914400" y="1645920"/>
            <a:ext cx="4632808" cy="411480"/>
          </a:xfrm>
          <a:prstGeom prst="rect">
            <a:avLst/>
          </a:prstGeom>
          <a:noFill/>
          <a:ln/>
        </p:spPr>
        <p:txBody>
          <a:bodyPr wrap="square" lIns="0" tIns="0" rIns="0" bIns="0" rtlCol="0" anchor="t"/>
          <a:lstStyle/>
          <a:p>
            <a:pPr indent="0" marL="0">
              <a:buNone/>
            </a:pPr>
            <a:r>
              <a:rPr lang="en-US" sz="2000" b="1" dirty="0">
                <a:solidFill>
                  <a:schemeClr val="tx2"/>
                </a:solidFill>
              </a:rPr>
              <a:t>A · Original CRM data</a:t>
            </a:r>
            <a:endParaRPr lang="en-US" sz="2000" dirty="0"/>
          </a:p>
        </p:txBody>
      </p:sp>
      <p:sp>
        <p:nvSpPr>
          <p:cNvPr id="5" name="Text 3"/>
          <p:cNvSpPr txBox="1"/>
          <p:nvPr/>
        </p:nvSpPr>
        <p:spPr>
          <a:xfrm>
            <a:off x="914400" y="2148840"/>
            <a:ext cx="4632808"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0.524</a:t>
            </a:r>
            <a:endParaRPr lang="en-US" sz="7200" dirty="0"/>
          </a:p>
        </p:txBody>
      </p:sp>
      <p:sp>
        <p:nvSpPr>
          <p:cNvPr id="6" name="Text 4"/>
          <p:cNvSpPr txBox="1"/>
          <p:nvPr/>
        </p:nvSpPr>
        <p:spPr>
          <a:xfrm>
            <a:off x="914400" y="3291840"/>
            <a:ext cx="4632808" cy="320040"/>
          </a:xfrm>
          <a:prstGeom prst="rect">
            <a:avLst/>
          </a:prstGeom>
          <a:noFill/>
          <a:ln/>
        </p:spPr>
        <p:txBody>
          <a:bodyPr wrap="square" lIns="0" tIns="0" rIns="0" bIns="0" rtlCol="0" anchor="t"/>
          <a:lstStyle/>
          <a:p>
            <a:pPr indent="0" marL="0">
              <a:buNone/>
            </a:pPr>
            <a:r>
              <a:rPr lang="en-US" sz="1400" dirty="0">
                <a:solidFill>
                  <a:schemeClr val="accent4"/>
                </a:solidFill>
              </a:rPr>
              <a:t>best test ROC-AUC: about the same as random</a:t>
            </a:r>
            <a:endParaRPr lang="en-US" sz="1400" dirty="0"/>
          </a:p>
        </p:txBody>
      </p:sp>
      <p:sp>
        <p:nvSpPr>
          <p:cNvPr id="7" name="Text 5"/>
          <p:cNvSpPr txBox="1"/>
          <p:nvPr/>
        </p:nvSpPr>
        <p:spPr>
          <a:xfrm>
            <a:off x="914400" y="3794760"/>
            <a:ext cx="4632808" cy="822960"/>
          </a:xfrm>
          <a:prstGeom prst="rect">
            <a:avLst/>
          </a:prstGeom>
          <a:noFill/>
          <a:ln/>
        </p:spPr>
        <p:txBody>
          <a:bodyPr wrap="square" lIns="0" tIns="0" rIns="0" bIns="0" rtlCol="0" anchor="t"/>
          <a:lstStyle/>
          <a:p>
            <a:pPr indent="0" marL="0">
              <a:buNone/>
            </a:pPr>
            <a:r>
              <a:rPr lang="en-US" sz="1600" dirty="0">
                <a:solidFill>
                  <a:schemeClr val="tx1"/>
                </a:solidFill>
              </a:rPr>
              <a:t>The available features carry almost no signal about Won or Lost.</a:t>
            </a:r>
            <a:endParaRPr lang="en-US" sz="1600" dirty="0"/>
          </a:p>
        </p:txBody>
      </p:sp>
      <p:sp>
        <p:nvSpPr>
          <p:cNvPr id="8" name="compare-1"/>
          <p:cNvSpPr/>
          <p:nvPr/>
        </p:nvSpPr>
        <p:spPr>
          <a:xfrm>
            <a:off x="6278728" y="1417320"/>
            <a:ext cx="5364328" cy="3566160"/>
          </a:xfrm>
          <a:prstGeom prst="roundRect">
            <a:avLst>
              <a:gd name="adj" fmla="val 2051"/>
            </a:avLst>
          </a:prstGeom>
          <a:solidFill>
            <a:schemeClr val="bg2"/>
          </a:solidFill>
          <a:ln/>
        </p:spPr>
      </p:sp>
      <p:sp>
        <p:nvSpPr>
          <p:cNvPr id="9" name="Text 7"/>
          <p:cNvSpPr txBox="1"/>
          <p:nvPr/>
        </p:nvSpPr>
        <p:spPr>
          <a:xfrm>
            <a:off x="6644488" y="1645920"/>
            <a:ext cx="4632808" cy="411480"/>
          </a:xfrm>
          <a:prstGeom prst="rect">
            <a:avLst/>
          </a:prstGeom>
          <a:noFill/>
          <a:ln/>
        </p:spPr>
        <p:txBody>
          <a:bodyPr wrap="square" lIns="0" tIns="0" rIns="0" bIns="0" rtlCol="0" anchor="t"/>
          <a:lstStyle/>
          <a:p>
            <a:pPr indent="0" marL="0">
              <a:buNone/>
            </a:pPr>
            <a:r>
              <a:rPr lang="en-US" sz="2000" b="1" dirty="0">
                <a:solidFill>
                  <a:schemeClr val="tx2"/>
                </a:solidFill>
              </a:rPr>
              <a:t>B · Simulated data</a:t>
            </a:r>
            <a:endParaRPr lang="en-US" sz="2000" dirty="0"/>
          </a:p>
        </p:txBody>
      </p:sp>
      <p:sp>
        <p:nvSpPr>
          <p:cNvPr id="10" name="Text 8"/>
          <p:cNvSpPr txBox="1"/>
          <p:nvPr/>
        </p:nvSpPr>
        <p:spPr>
          <a:xfrm>
            <a:off x="6644488" y="2148840"/>
            <a:ext cx="4632808" cy="1097280"/>
          </a:xfrm>
          <a:prstGeom prst="rect">
            <a:avLst/>
          </a:prstGeom>
          <a:noFill/>
          <a:ln/>
        </p:spPr>
        <p:txBody>
          <a:bodyPr wrap="square" lIns="0" tIns="0" rIns="0" bIns="0" rtlCol="0" anchor="ctr"/>
          <a:lstStyle/>
          <a:p>
            <a:pPr indent="0" marL="0">
              <a:buNone/>
            </a:pPr>
            <a:r>
              <a:rPr lang="en-US" sz="7200" b="1" dirty="0">
                <a:solidFill>
                  <a:schemeClr val="accent1"/>
                </a:solidFill>
                <a:latin typeface="Cambria" pitchFamily="34" charset="0"/>
                <a:ea typeface="Cambria" pitchFamily="34" charset="-122"/>
                <a:cs typeface="Cambria" pitchFamily="34" charset="-120"/>
              </a:rPr>
              <a:t>0.867</a:t>
            </a:r>
            <a:endParaRPr lang="en-US" sz="7200" dirty="0"/>
          </a:p>
        </p:txBody>
      </p:sp>
      <p:sp>
        <p:nvSpPr>
          <p:cNvPr id="11" name="Text 9"/>
          <p:cNvSpPr txBox="1"/>
          <p:nvPr/>
        </p:nvSpPr>
        <p:spPr>
          <a:xfrm>
            <a:off x="6644488" y="3291840"/>
            <a:ext cx="4632808" cy="320040"/>
          </a:xfrm>
          <a:prstGeom prst="rect">
            <a:avLst/>
          </a:prstGeom>
          <a:noFill/>
          <a:ln/>
        </p:spPr>
        <p:txBody>
          <a:bodyPr wrap="square" lIns="0" tIns="0" rIns="0" bIns="0" rtlCol="0" anchor="t"/>
          <a:lstStyle/>
          <a:p>
            <a:pPr indent="0" marL="0">
              <a:buNone/>
            </a:pPr>
            <a:r>
              <a:rPr lang="en-US" sz="1400" dirty="0">
                <a:solidFill>
                  <a:schemeClr val="accent4"/>
                </a:solidFill>
              </a:rPr>
              <a:t>best test ROC-AUC (oracle 0.878)</a:t>
            </a:r>
            <a:endParaRPr lang="en-US" sz="1400" dirty="0"/>
          </a:p>
        </p:txBody>
      </p:sp>
      <p:sp>
        <p:nvSpPr>
          <p:cNvPr id="12" name="Text 10"/>
          <p:cNvSpPr txBox="1"/>
          <p:nvPr/>
        </p:nvSpPr>
        <p:spPr>
          <a:xfrm>
            <a:off x="6644488" y="3794760"/>
            <a:ext cx="4632808" cy="822960"/>
          </a:xfrm>
          <a:prstGeom prst="rect">
            <a:avLst/>
          </a:prstGeom>
          <a:noFill/>
          <a:ln/>
        </p:spPr>
        <p:txBody>
          <a:bodyPr wrap="square" lIns="0" tIns="0" rIns="0" bIns="0" rtlCol="0" anchor="t"/>
          <a:lstStyle/>
          <a:p>
            <a:pPr indent="0" marL="0">
              <a:buNone/>
            </a:pPr>
            <a:r>
              <a:rPr lang="en-US" sz="1600" dirty="0">
                <a:solidFill>
                  <a:schemeClr val="tx1"/>
                </a:solidFill>
              </a:rPr>
              <a:t>The same pipeline and models do learn when structure exists.</a:t>
            </a:r>
            <a:endParaRPr lang="en-US" sz="1600" dirty="0"/>
          </a:p>
        </p:txBody>
      </p:sp>
      <p:sp>
        <p:nvSpPr>
          <p:cNvPr id="13" name="icon-bg-check"/>
          <p:cNvSpPr/>
          <p:nvPr/>
        </p:nvSpPr>
        <p:spPr>
          <a:xfrm>
            <a:off x="548640" y="5303520"/>
            <a:ext cx="548640" cy="548640"/>
          </a:xfrm>
          <a:prstGeom prst="ellipse">
            <a:avLst/>
          </a:prstGeom>
          <a:solidFill>
            <a:schemeClr val="accent1"/>
          </a:solidFill>
          <a:ln/>
        </p:spPr>
      </p:sp>
      <p:pic>
        <p:nvPicPr>
          <p:cNvPr id="14" name="icon-check" descr="preencoded.png">    </p:cNvPr>
          <p:cNvPicPr>
            <a:picLocks noChangeAspect="1"/>
          </p:cNvPicPr>
          <p:nvPr/>
        </p:nvPicPr>
        <p:blipFill>
          <a:blip r:embed="rId1"/>
          <a:stretch>
            <a:fillRect/>
          </a:stretch>
        </p:blipFill>
        <p:spPr>
          <a:xfrm>
            <a:off x="685800" y="5440680"/>
            <a:ext cx="274320" cy="274320"/>
          </a:xfrm>
          <a:prstGeom prst="rect">
            <a:avLst/>
          </a:prstGeom>
        </p:spPr>
      </p:pic>
      <p:sp>
        <p:nvSpPr>
          <p:cNvPr id="15" name="Text 12"/>
          <p:cNvSpPr txBox="1"/>
          <p:nvPr/>
        </p:nvSpPr>
        <p:spPr>
          <a:xfrm>
            <a:off x="1280160" y="5230368"/>
            <a:ext cx="10362895" cy="731520"/>
          </a:xfrm>
          <a:prstGeom prst="rect">
            <a:avLst/>
          </a:prstGeom>
          <a:noFill/>
          <a:ln/>
        </p:spPr>
        <p:txBody>
          <a:bodyPr wrap="square" lIns="0" tIns="0" rIns="0" bIns="0" rtlCol="0" anchor="ctr"/>
          <a:lstStyle/>
          <a:p>
            <a:pPr indent="0" marL="0">
              <a:buNone/>
            </a:pPr>
            <a:r>
              <a:rPr lang="en-US" sz="1600" b="1" dirty="0">
                <a:solidFill>
                  <a:schemeClr val="tx2"/>
                </a:solidFill>
              </a:rPr>
              <a:t>The low scores come from the data, not from the pipeline. </a:t>
            </a:r>
            <a:pPr indent="0" marL="0">
              <a:buNone/>
            </a:pPr>
            <a:r>
              <a:rPr lang="en-US" sz="1600" dirty="0">
                <a:solidFill>
                  <a:schemeClr val="tx1"/>
                </a:solidFill>
              </a:rPr>
              <a:t>Simulated scores are never real-world performance and are kept out of the reported results.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our project adds</a:t>
            </a:r>
            <a:endParaRPr lang="en-US" sz="3400" dirty="0"/>
          </a:p>
        </p:txBody>
      </p:sp>
      <p:sp>
        <p:nvSpPr>
          <p:cNvPr id="3" name="novelty-0"/>
          <p:cNvSpPr/>
          <p:nvPr/>
        </p:nvSpPr>
        <p:spPr>
          <a:xfrm>
            <a:off x="548640" y="1417320"/>
            <a:ext cx="3429000" cy="2011680"/>
          </a:xfrm>
          <a:prstGeom prst="roundRect">
            <a:avLst>
              <a:gd name="adj" fmla="val 3636"/>
            </a:avLst>
          </a:prstGeom>
          <a:solidFill>
            <a:schemeClr val="bg2"/>
          </a:solidFill>
          <a:ln/>
        </p:spPr>
      </p:sp>
      <p:sp>
        <p:nvSpPr>
          <p:cNvPr id="4" name="icon-bg-eye"/>
          <p:cNvSpPr/>
          <p:nvPr/>
        </p:nvSpPr>
        <p:spPr>
          <a:xfrm>
            <a:off x="822960" y="1691640"/>
            <a:ext cx="548640" cy="548640"/>
          </a:xfrm>
          <a:prstGeom prst="ellipse">
            <a:avLst/>
          </a:prstGeom>
          <a:solidFill>
            <a:schemeClr val="accent1"/>
          </a:solidFill>
          <a:ln/>
        </p:spPr>
      </p:sp>
      <p:pic>
        <p:nvPicPr>
          <p:cNvPr id="5" name="icon-eye" descr="preencoded.png">    </p:cNvPr>
          <p:cNvPicPr>
            <a:picLocks noChangeAspect="1"/>
          </p:cNvPicPr>
          <p:nvPr/>
        </p:nvPicPr>
        <p:blipFill>
          <a:blip r:embed="rId1"/>
          <a:stretch>
            <a:fillRect/>
          </a:stretch>
        </p:blipFill>
        <p:spPr>
          <a:xfrm>
            <a:off x="960120" y="1828800"/>
            <a:ext cx="274320" cy="274320"/>
          </a:xfrm>
          <a:prstGeom prst="rect">
            <a:avLst/>
          </a:prstGeom>
        </p:spPr>
      </p:pic>
      <p:sp>
        <p:nvSpPr>
          <p:cNvPr id="6" name="Text 3"/>
          <p:cNvSpPr txBox="1"/>
          <p:nvPr/>
        </p:nvSpPr>
        <p:spPr>
          <a:xfrm>
            <a:off x="1508760" y="1691640"/>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Prediction plus explanation</a:t>
            </a:r>
            <a:endParaRPr lang="en-US" sz="1700" dirty="0"/>
          </a:p>
        </p:txBody>
      </p:sp>
      <p:sp>
        <p:nvSpPr>
          <p:cNvPr id="7" name="Text 4"/>
          <p:cNvSpPr txBox="1"/>
          <p:nvPr/>
        </p:nvSpPr>
        <p:spPr>
          <a:xfrm>
            <a:off x="822960" y="2423160"/>
            <a:ext cx="2880360" cy="868680"/>
          </a:xfrm>
          <a:prstGeom prst="rect">
            <a:avLst/>
          </a:prstGeom>
          <a:noFill/>
          <a:ln/>
        </p:spPr>
        <p:txBody>
          <a:bodyPr wrap="square" lIns="0" tIns="0" rIns="0" bIns="0" rtlCol="0" anchor="t"/>
          <a:lstStyle/>
          <a:p>
            <a:pPr indent="0" marL="0">
              <a:buNone/>
            </a:pPr>
            <a:r>
              <a:rPr lang="en-US" sz="1400" dirty="0">
                <a:solidFill>
                  <a:schemeClr val="tx1"/>
                </a:solidFill>
              </a:rPr>
              <a:t>Each open deal gets P(Won) and the factors that raise or lower it</a:t>
            </a:r>
            <a:endParaRPr lang="en-US" sz="1400" dirty="0"/>
          </a:p>
        </p:txBody>
      </p:sp>
      <p:sp>
        <p:nvSpPr>
          <p:cNvPr id="8" name="novelty-1"/>
          <p:cNvSpPr/>
          <p:nvPr/>
        </p:nvSpPr>
        <p:spPr>
          <a:xfrm>
            <a:off x="4381348" y="1417320"/>
            <a:ext cx="3429000" cy="2011680"/>
          </a:xfrm>
          <a:prstGeom prst="roundRect">
            <a:avLst>
              <a:gd name="adj" fmla="val 3636"/>
            </a:avLst>
          </a:prstGeom>
          <a:solidFill>
            <a:schemeClr val="bg2"/>
          </a:solidFill>
          <a:ln/>
        </p:spPr>
      </p:sp>
      <p:sp>
        <p:nvSpPr>
          <p:cNvPr id="9" name="icon-bg-lock"/>
          <p:cNvSpPr/>
          <p:nvPr/>
        </p:nvSpPr>
        <p:spPr>
          <a:xfrm>
            <a:off x="4655668" y="1691640"/>
            <a:ext cx="548640" cy="548640"/>
          </a:xfrm>
          <a:prstGeom prst="ellipse">
            <a:avLst/>
          </a:prstGeom>
          <a:solidFill>
            <a:schemeClr val="accent1"/>
          </a:solidFill>
          <a:ln/>
        </p:spPr>
      </p:sp>
      <p:pic>
        <p:nvPicPr>
          <p:cNvPr id="10" name="icon-lock" descr="preencoded.png">    </p:cNvPr>
          <p:cNvPicPr>
            <a:picLocks noChangeAspect="1"/>
          </p:cNvPicPr>
          <p:nvPr/>
        </p:nvPicPr>
        <p:blipFill>
          <a:blip r:embed="rId2"/>
          <a:stretch>
            <a:fillRect/>
          </a:stretch>
        </p:blipFill>
        <p:spPr>
          <a:xfrm>
            <a:off x="4792828" y="1828800"/>
            <a:ext cx="274320" cy="274320"/>
          </a:xfrm>
          <a:prstGeom prst="rect">
            <a:avLst/>
          </a:prstGeom>
        </p:spPr>
      </p:pic>
      <p:sp>
        <p:nvSpPr>
          <p:cNvPr id="11" name="Text 7"/>
          <p:cNvSpPr txBox="1"/>
          <p:nvPr/>
        </p:nvSpPr>
        <p:spPr>
          <a:xfrm>
            <a:off x="5341468" y="1691640"/>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Leakage audit</a:t>
            </a:r>
            <a:endParaRPr lang="en-US" sz="1700" dirty="0"/>
          </a:p>
        </p:txBody>
      </p:sp>
      <p:sp>
        <p:nvSpPr>
          <p:cNvPr id="12" name="Text 8"/>
          <p:cNvSpPr txBox="1"/>
          <p:nvPr/>
        </p:nvSpPr>
        <p:spPr>
          <a:xfrm>
            <a:off x="4655668" y="2423160"/>
            <a:ext cx="2880360" cy="868680"/>
          </a:xfrm>
          <a:prstGeom prst="rect">
            <a:avLst/>
          </a:prstGeom>
          <a:noFill/>
          <a:ln/>
        </p:spPr>
        <p:txBody>
          <a:bodyPr wrap="square" lIns="0" tIns="0" rIns="0" bIns="0" rtlCol="0" anchor="t"/>
          <a:lstStyle/>
          <a:p>
            <a:pPr indent="0" marL="0">
              <a:buNone/>
            </a:pPr>
            <a:r>
              <a:rPr lang="en-US" sz="1400" dirty="0">
                <a:solidFill>
                  <a:schemeClr val="tx1"/>
                </a:solidFill>
              </a:rPr>
              <a:t>Outcome columns excluded, with a leaky control to prove why</a:t>
            </a:r>
            <a:endParaRPr lang="en-US" sz="1400" dirty="0"/>
          </a:p>
        </p:txBody>
      </p:sp>
      <p:sp>
        <p:nvSpPr>
          <p:cNvPr id="13" name="novelty-2"/>
          <p:cNvSpPr/>
          <p:nvPr/>
        </p:nvSpPr>
        <p:spPr>
          <a:xfrm>
            <a:off x="8214055" y="1417320"/>
            <a:ext cx="3429000" cy="2011680"/>
          </a:xfrm>
          <a:prstGeom prst="roundRect">
            <a:avLst>
              <a:gd name="adj" fmla="val 3636"/>
            </a:avLst>
          </a:prstGeom>
          <a:solidFill>
            <a:schemeClr val="bg2"/>
          </a:solidFill>
          <a:ln/>
        </p:spPr>
      </p:sp>
      <p:sp>
        <p:nvSpPr>
          <p:cNvPr id="14" name="icon-bg-clock"/>
          <p:cNvSpPr/>
          <p:nvPr/>
        </p:nvSpPr>
        <p:spPr>
          <a:xfrm>
            <a:off x="8488375" y="1691640"/>
            <a:ext cx="548640" cy="548640"/>
          </a:xfrm>
          <a:prstGeom prst="ellipse">
            <a:avLst/>
          </a:prstGeom>
          <a:solidFill>
            <a:schemeClr val="accent1"/>
          </a:solidFill>
          <a:ln/>
        </p:spPr>
      </p:sp>
      <p:pic>
        <p:nvPicPr>
          <p:cNvPr id="15" name="icon-clock" descr="preencoded.png">    </p:cNvPr>
          <p:cNvPicPr>
            <a:picLocks noChangeAspect="1"/>
          </p:cNvPicPr>
          <p:nvPr/>
        </p:nvPicPr>
        <p:blipFill>
          <a:blip r:embed="rId3"/>
          <a:stretch>
            <a:fillRect/>
          </a:stretch>
        </p:blipFill>
        <p:spPr>
          <a:xfrm>
            <a:off x="8625535" y="1828800"/>
            <a:ext cx="274320" cy="274320"/>
          </a:xfrm>
          <a:prstGeom prst="rect">
            <a:avLst/>
          </a:prstGeom>
        </p:spPr>
      </p:pic>
      <p:sp>
        <p:nvSpPr>
          <p:cNvPr id="16" name="Text 11"/>
          <p:cNvSpPr txBox="1"/>
          <p:nvPr/>
        </p:nvSpPr>
        <p:spPr>
          <a:xfrm>
            <a:off x="9174175" y="1691640"/>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Label-availability split</a:t>
            </a:r>
            <a:endParaRPr lang="en-US" sz="1700" dirty="0"/>
          </a:p>
        </p:txBody>
      </p:sp>
      <p:sp>
        <p:nvSpPr>
          <p:cNvPr id="17" name="Text 12"/>
          <p:cNvSpPr txBox="1"/>
          <p:nvPr/>
        </p:nvSpPr>
        <p:spPr>
          <a:xfrm>
            <a:off x="8488375" y="2423160"/>
            <a:ext cx="2880360" cy="868680"/>
          </a:xfrm>
          <a:prstGeom prst="rect">
            <a:avLst/>
          </a:prstGeom>
          <a:noFill/>
          <a:ln/>
        </p:spPr>
        <p:txBody>
          <a:bodyPr wrap="square" lIns="0" tIns="0" rIns="0" bIns="0" rtlCol="0" anchor="t"/>
          <a:lstStyle/>
          <a:p>
            <a:pPr indent="0" marL="0">
              <a:buNone/>
            </a:pPr>
            <a:r>
              <a:rPr lang="en-US" sz="1400" dirty="0">
                <a:solidFill>
                  <a:schemeClr val="tx1"/>
                </a:solidFill>
              </a:rPr>
              <a:t>Train only on outcomes known before the cutoff</a:t>
            </a:r>
            <a:endParaRPr lang="en-US" sz="1400" dirty="0"/>
          </a:p>
        </p:txBody>
      </p:sp>
      <p:sp>
        <p:nvSpPr>
          <p:cNvPr id="18" name="novelty-3"/>
          <p:cNvSpPr/>
          <p:nvPr/>
        </p:nvSpPr>
        <p:spPr>
          <a:xfrm>
            <a:off x="548640" y="3703320"/>
            <a:ext cx="3429000" cy="2011680"/>
          </a:xfrm>
          <a:prstGeom prst="roundRect">
            <a:avLst>
              <a:gd name="adj" fmla="val 3636"/>
            </a:avLst>
          </a:prstGeom>
          <a:solidFill>
            <a:schemeClr val="bg2"/>
          </a:solidFill>
          <a:ln/>
        </p:spPr>
      </p:sp>
      <p:sp>
        <p:nvSpPr>
          <p:cNvPr id="19" name="icon-bg-warn"/>
          <p:cNvSpPr/>
          <p:nvPr/>
        </p:nvSpPr>
        <p:spPr>
          <a:xfrm>
            <a:off x="822960" y="3977640"/>
            <a:ext cx="548640" cy="548640"/>
          </a:xfrm>
          <a:prstGeom prst="ellipse">
            <a:avLst/>
          </a:prstGeom>
          <a:solidFill>
            <a:schemeClr val="accent1"/>
          </a:solidFill>
          <a:ln/>
        </p:spPr>
      </p:sp>
      <p:pic>
        <p:nvPicPr>
          <p:cNvPr id="20" name="icon-warn" descr="preencoded.png">    </p:cNvPr>
          <p:cNvPicPr>
            <a:picLocks noChangeAspect="1"/>
          </p:cNvPicPr>
          <p:nvPr/>
        </p:nvPicPr>
        <p:blipFill>
          <a:blip r:embed="rId4"/>
          <a:stretch>
            <a:fillRect/>
          </a:stretch>
        </p:blipFill>
        <p:spPr>
          <a:xfrm>
            <a:off x="960120" y="4114800"/>
            <a:ext cx="274320" cy="274320"/>
          </a:xfrm>
          <a:prstGeom prst="rect">
            <a:avLst/>
          </a:prstGeom>
        </p:spPr>
      </p:pic>
      <p:sp>
        <p:nvSpPr>
          <p:cNvPr id="21" name="Text 15"/>
          <p:cNvSpPr txBox="1"/>
          <p:nvPr/>
        </p:nvSpPr>
        <p:spPr>
          <a:xfrm>
            <a:off x="1508760" y="3977640"/>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Input warnings</a:t>
            </a:r>
            <a:endParaRPr lang="en-US" sz="1700" dirty="0"/>
          </a:p>
        </p:txBody>
      </p:sp>
      <p:sp>
        <p:nvSpPr>
          <p:cNvPr id="22" name="Text 16"/>
          <p:cNvSpPr txBox="1"/>
          <p:nvPr/>
        </p:nvSpPr>
        <p:spPr>
          <a:xfrm>
            <a:off x="822960" y="4709160"/>
            <a:ext cx="2880360" cy="868680"/>
          </a:xfrm>
          <a:prstGeom prst="rect">
            <a:avLst/>
          </a:prstGeom>
          <a:noFill/>
          <a:ln/>
        </p:spPr>
        <p:txBody>
          <a:bodyPr wrap="square" lIns="0" tIns="0" rIns="0" bIns="0" rtlCol="0" anchor="t"/>
          <a:lstStyle/>
          <a:p>
            <a:pPr indent="0" marL="0">
              <a:buNone/>
            </a:pPr>
            <a:r>
              <a:rPr lang="en-US" sz="1400" dirty="0">
                <a:solidFill>
                  <a:schemeClr val="tx1"/>
                </a:solidFill>
              </a:rPr>
              <a:t>Missing accounts are flagged, not silently imputed</a:t>
            </a:r>
            <a:endParaRPr lang="en-US" sz="1400" dirty="0"/>
          </a:p>
        </p:txBody>
      </p:sp>
      <p:sp>
        <p:nvSpPr>
          <p:cNvPr id="23" name="novelty-4"/>
          <p:cNvSpPr/>
          <p:nvPr/>
        </p:nvSpPr>
        <p:spPr>
          <a:xfrm>
            <a:off x="4381348" y="3703320"/>
            <a:ext cx="3429000" cy="2011680"/>
          </a:xfrm>
          <a:prstGeom prst="roundRect">
            <a:avLst>
              <a:gd name="adj" fmla="val 3636"/>
            </a:avLst>
          </a:prstGeom>
          <a:solidFill>
            <a:schemeClr val="bg2"/>
          </a:solidFill>
          <a:ln/>
        </p:spPr>
      </p:sp>
      <p:sp>
        <p:nvSpPr>
          <p:cNvPr id="24" name="icon-bg-flask"/>
          <p:cNvSpPr/>
          <p:nvPr/>
        </p:nvSpPr>
        <p:spPr>
          <a:xfrm>
            <a:off x="4655668" y="3977640"/>
            <a:ext cx="548640" cy="548640"/>
          </a:xfrm>
          <a:prstGeom prst="ellipse">
            <a:avLst/>
          </a:prstGeom>
          <a:solidFill>
            <a:schemeClr val="accent1"/>
          </a:solidFill>
          <a:ln/>
        </p:spPr>
      </p:sp>
      <p:pic>
        <p:nvPicPr>
          <p:cNvPr id="25" name="icon-flask" descr="preencoded.png">    </p:cNvPr>
          <p:cNvPicPr>
            <a:picLocks noChangeAspect="1"/>
          </p:cNvPicPr>
          <p:nvPr/>
        </p:nvPicPr>
        <p:blipFill>
          <a:blip r:embed="rId5"/>
          <a:stretch>
            <a:fillRect/>
          </a:stretch>
        </p:blipFill>
        <p:spPr>
          <a:xfrm>
            <a:off x="4792828" y="4114800"/>
            <a:ext cx="274320" cy="274320"/>
          </a:xfrm>
          <a:prstGeom prst="rect">
            <a:avLst/>
          </a:prstGeom>
        </p:spPr>
      </p:pic>
      <p:sp>
        <p:nvSpPr>
          <p:cNvPr id="26" name="Text 19"/>
          <p:cNvSpPr txBox="1"/>
          <p:nvPr/>
        </p:nvSpPr>
        <p:spPr>
          <a:xfrm>
            <a:off x="5341468" y="3977640"/>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Known-truth simulation</a:t>
            </a:r>
            <a:endParaRPr lang="en-US" sz="1700" dirty="0"/>
          </a:p>
        </p:txBody>
      </p:sp>
      <p:sp>
        <p:nvSpPr>
          <p:cNvPr id="27" name="Text 20"/>
          <p:cNvSpPr txBox="1"/>
          <p:nvPr/>
        </p:nvSpPr>
        <p:spPr>
          <a:xfrm>
            <a:off x="4655668" y="4709160"/>
            <a:ext cx="2880360" cy="868680"/>
          </a:xfrm>
          <a:prstGeom prst="rect">
            <a:avLst/>
          </a:prstGeom>
          <a:noFill/>
          <a:ln/>
        </p:spPr>
        <p:txBody>
          <a:bodyPr wrap="square" lIns="0" tIns="0" rIns="0" bIns="0" rtlCol="0" anchor="t"/>
          <a:lstStyle/>
          <a:p>
            <a:pPr indent="0" marL="0">
              <a:buNone/>
            </a:pPr>
            <a:r>
              <a:rPr lang="en-US" sz="1400" dirty="0">
                <a:solidFill>
                  <a:schemeClr val="tx1"/>
                </a:solidFill>
              </a:rPr>
              <a:t>An oracle shows how close each model can get</a:t>
            </a:r>
            <a:endParaRPr lang="en-US" sz="1400" dirty="0"/>
          </a:p>
        </p:txBody>
      </p:sp>
      <p:sp>
        <p:nvSpPr>
          <p:cNvPr id="28" name="novelty-5"/>
          <p:cNvSpPr/>
          <p:nvPr/>
        </p:nvSpPr>
        <p:spPr>
          <a:xfrm>
            <a:off x="8214055" y="3703320"/>
            <a:ext cx="3429000" cy="2011680"/>
          </a:xfrm>
          <a:prstGeom prst="roundRect">
            <a:avLst>
              <a:gd name="adj" fmla="val 3636"/>
            </a:avLst>
          </a:prstGeom>
          <a:solidFill>
            <a:schemeClr val="bg2"/>
          </a:solidFill>
          <a:ln/>
        </p:spPr>
      </p:sp>
      <p:sp>
        <p:nvSpPr>
          <p:cNvPr id="29" name="icon-bg-cogs"/>
          <p:cNvSpPr/>
          <p:nvPr/>
        </p:nvSpPr>
        <p:spPr>
          <a:xfrm>
            <a:off x="8488375" y="3977640"/>
            <a:ext cx="548640" cy="548640"/>
          </a:xfrm>
          <a:prstGeom prst="ellipse">
            <a:avLst/>
          </a:prstGeom>
          <a:solidFill>
            <a:schemeClr val="accent1"/>
          </a:solidFill>
          <a:ln/>
        </p:spPr>
      </p:sp>
      <p:pic>
        <p:nvPicPr>
          <p:cNvPr id="30" name="icon-cogs" descr="preencoded.png">    </p:cNvPr>
          <p:cNvPicPr>
            <a:picLocks noChangeAspect="1"/>
          </p:cNvPicPr>
          <p:nvPr/>
        </p:nvPicPr>
        <p:blipFill>
          <a:blip r:embed="rId6"/>
          <a:stretch>
            <a:fillRect/>
          </a:stretch>
        </p:blipFill>
        <p:spPr>
          <a:xfrm>
            <a:off x="8625535" y="4114800"/>
            <a:ext cx="274320" cy="274320"/>
          </a:xfrm>
          <a:prstGeom prst="rect">
            <a:avLst/>
          </a:prstGeom>
        </p:spPr>
      </p:pic>
      <p:sp>
        <p:nvSpPr>
          <p:cNvPr id="31" name="Text 23"/>
          <p:cNvSpPr txBox="1"/>
          <p:nvPr/>
        </p:nvSpPr>
        <p:spPr>
          <a:xfrm>
            <a:off x="9174175" y="3977640"/>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One-command reproducibility</a:t>
            </a:r>
            <a:endParaRPr lang="en-US" sz="1700" dirty="0"/>
          </a:p>
        </p:txBody>
      </p:sp>
      <p:sp>
        <p:nvSpPr>
          <p:cNvPr id="32" name="Text 24"/>
          <p:cNvSpPr txBox="1"/>
          <p:nvPr/>
        </p:nvSpPr>
        <p:spPr>
          <a:xfrm>
            <a:off x="8488375" y="4709160"/>
            <a:ext cx="2880360" cy="868680"/>
          </a:xfrm>
          <a:prstGeom prst="rect">
            <a:avLst/>
          </a:prstGeom>
          <a:noFill/>
          <a:ln/>
        </p:spPr>
        <p:txBody>
          <a:bodyPr wrap="square" lIns="0" tIns="0" rIns="0" bIns="0" rtlCol="0" anchor="t"/>
          <a:lstStyle/>
          <a:p>
            <a:pPr indent="0" marL="0">
              <a:buNone/>
            </a:pPr>
            <a:r>
              <a:rPr lang="en-US" sz="1400" dirty="0">
                <a:solidFill>
                  <a:schemeClr val="tx1"/>
                </a:solidFill>
              </a:rPr>
              <a:t>CPU only; same runner from CLI, tests and Colab notebook</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Limitations and future work</a:t>
            </a:r>
            <a:endParaRPr lang="en-US" sz="3400" dirty="0"/>
          </a:p>
        </p:txBody>
      </p:sp>
      <p:sp>
        <p:nvSpPr>
          <p:cNvPr id="3" name="icon-bg-warn"/>
          <p:cNvSpPr/>
          <p:nvPr/>
        </p:nvSpPr>
        <p:spPr>
          <a:xfrm>
            <a:off x="548640" y="1417320"/>
            <a:ext cx="548640" cy="548640"/>
          </a:xfrm>
          <a:prstGeom prst="ellipse">
            <a:avLst/>
          </a:prstGeom>
          <a:solidFill>
            <a:schemeClr val="accent3"/>
          </a:solidFill>
          <a:ln/>
        </p:spPr>
      </p:sp>
      <p:pic>
        <p:nvPicPr>
          <p:cNvPr id="4" name="icon-warn" descr="preencoded.png">    </p:cNvPr>
          <p:cNvPicPr>
            <a:picLocks noChangeAspect="1"/>
          </p:cNvPicPr>
          <p:nvPr/>
        </p:nvPicPr>
        <p:blipFill>
          <a:blip r:embed="rId1"/>
          <a:stretch>
            <a:fillRect/>
          </a:stretch>
        </p:blipFill>
        <p:spPr>
          <a:xfrm>
            <a:off x="685800" y="1554480"/>
            <a:ext cx="274320" cy="274320"/>
          </a:xfrm>
          <a:prstGeom prst="rect">
            <a:avLst/>
          </a:prstGeom>
        </p:spPr>
      </p:pic>
      <p:sp>
        <p:nvSpPr>
          <p:cNvPr id="5" name="Text 2"/>
          <p:cNvSpPr txBox="1"/>
          <p:nvPr/>
        </p:nvSpPr>
        <p:spPr>
          <a:xfrm>
            <a:off x="1280160" y="1463040"/>
            <a:ext cx="4587088" cy="457200"/>
          </a:xfrm>
          <a:prstGeom prst="rect">
            <a:avLst/>
          </a:prstGeom>
          <a:noFill/>
          <a:ln/>
        </p:spPr>
        <p:txBody>
          <a:bodyPr wrap="square" lIns="0" tIns="0" rIns="0" bIns="0" rtlCol="0" anchor="ctr"/>
          <a:lstStyle/>
          <a:p>
            <a:pPr indent="0" marL="0">
              <a:buNone/>
            </a:pPr>
            <a:r>
              <a:rPr lang="en-US" sz="2000" b="1" dirty="0">
                <a:solidFill>
                  <a:schemeClr val="tx2"/>
                </a:solidFill>
              </a:rPr>
              <a:t>Limitations</a:t>
            </a:r>
            <a:endParaRPr lang="en-US" sz="2000" dirty="0"/>
          </a:p>
        </p:txBody>
      </p:sp>
      <p:sp>
        <p:nvSpPr>
          <p:cNvPr id="6" name="Text 3"/>
          <p:cNvSpPr txBox="1"/>
          <p:nvPr/>
        </p:nvSpPr>
        <p:spPr>
          <a:xfrm>
            <a:off x="548640" y="2240280"/>
            <a:ext cx="5318608"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Trained on closed deals only: selection bias</a:t>
            </a:r>
            <a:endParaRPr lang="en-US" sz="1500" dirty="0"/>
          </a:p>
          <a:p>
            <a:pPr marL="203200" indent="-203200">
              <a:spcAft>
                <a:spcPts val="800"/>
              </a:spcAft>
              <a:buSzPct val="100000"/>
              <a:buChar char="•"/>
            </a:pPr>
            <a:r>
              <a:rPr lang="en-US" sz="1500" dirty="0">
                <a:solidFill>
                  <a:schemeClr val="tx1"/>
                </a:solidFill>
              </a:rPr>
              <a:t>Validation reused for model, threshold and calibration</a:t>
            </a:r>
            <a:endParaRPr lang="en-US" sz="1500" dirty="0"/>
          </a:p>
          <a:p>
            <a:pPr marL="203200" indent="-203200">
              <a:spcAft>
                <a:spcPts val="800"/>
              </a:spcAft>
              <a:buSzPct val="100000"/>
              <a:buChar char="•"/>
            </a:pPr>
            <a:r>
              <a:rPr lang="en-US" sz="1500" dirty="0">
                <a:solidFill>
                  <a:schemeClr val="tx1"/>
                </a:solidFill>
              </a:rPr>
              <a:t>Account, team and product tables are static snapshots</a:t>
            </a:r>
            <a:endParaRPr lang="en-US" sz="1500" dirty="0"/>
          </a:p>
          <a:p>
            <a:pPr marL="203200" indent="-203200">
              <a:spcAft>
                <a:spcPts val="800"/>
              </a:spcAft>
              <a:buSzPct val="100000"/>
              <a:buChar char="•"/>
            </a:pPr>
            <a:r>
              <a:rPr lang="en-US" sz="1500" dirty="0">
                <a:solidFill>
                  <a:schemeClr val="tx1"/>
                </a:solidFill>
              </a:rPr>
              <a:t>Accounts repeat across periods</a:t>
            </a:r>
            <a:endParaRPr lang="en-US" sz="1500" dirty="0"/>
          </a:p>
          <a:p>
            <a:pPr marL="203200" indent="-203200">
              <a:spcAft>
                <a:spcPts val="800"/>
              </a:spcAft>
              <a:buSzPct val="100000"/>
              <a:buChar char="•"/>
            </a:pPr>
            <a:r>
              <a:rPr lang="en-US" sz="1500" dirty="0">
                <a:solidFill>
                  <a:schemeClr val="tx1"/>
                </a:solidFill>
              </a:rPr>
              <a:t>Data was examined earlier, so the test set is not pristine</a:t>
            </a:r>
            <a:endParaRPr lang="en-US" sz="1500" dirty="0"/>
          </a:p>
          <a:p>
            <a:pPr marL="203200" indent="-203200">
              <a:spcAft>
                <a:spcPts val="800"/>
              </a:spcAft>
              <a:buSzPct val="100000"/>
              <a:buChar char="•"/>
            </a:pPr>
            <a:r>
              <a:rPr lang="en-US" sz="1500" dirty="0">
                <a:solidFill>
                  <a:schemeClr val="tx1"/>
                </a:solidFill>
              </a:rPr>
              <a:t>Simulated win rule is invented: says nothing about real sales</a:t>
            </a:r>
            <a:endParaRPr lang="en-US" sz="1500" dirty="0"/>
          </a:p>
        </p:txBody>
      </p:sp>
      <p:sp>
        <p:nvSpPr>
          <p:cNvPr id="7" name="icon-bg-search"/>
          <p:cNvSpPr/>
          <p:nvPr/>
        </p:nvSpPr>
        <p:spPr>
          <a:xfrm>
            <a:off x="6324448" y="1417320"/>
            <a:ext cx="548640" cy="548640"/>
          </a:xfrm>
          <a:prstGeom prst="ellipse">
            <a:avLst/>
          </a:prstGeom>
          <a:solidFill>
            <a:schemeClr val="accent1"/>
          </a:solidFill>
          <a:ln/>
        </p:spPr>
      </p:sp>
      <p:pic>
        <p:nvPicPr>
          <p:cNvPr id="8" name="icon-search" descr="preencoded.png">    </p:cNvPr>
          <p:cNvPicPr>
            <a:picLocks noChangeAspect="1"/>
          </p:cNvPicPr>
          <p:nvPr/>
        </p:nvPicPr>
        <p:blipFill>
          <a:blip r:embed="rId2"/>
          <a:stretch>
            <a:fillRect/>
          </a:stretch>
        </p:blipFill>
        <p:spPr>
          <a:xfrm>
            <a:off x="6461608" y="1554480"/>
            <a:ext cx="274320" cy="274320"/>
          </a:xfrm>
          <a:prstGeom prst="rect">
            <a:avLst/>
          </a:prstGeom>
        </p:spPr>
      </p:pic>
      <p:sp>
        <p:nvSpPr>
          <p:cNvPr id="9" name="Text 5"/>
          <p:cNvSpPr txBox="1"/>
          <p:nvPr/>
        </p:nvSpPr>
        <p:spPr>
          <a:xfrm>
            <a:off x="7055968" y="1463040"/>
            <a:ext cx="4587088" cy="457200"/>
          </a:xfrm>
          <a:prstGeom prst="rect">
            <a:avLst/>
          </a:prstGeom>
          <a:noFill/>
          <a:ln/>
        </p:spPr>
        <p:txBody>
          <a:bodyPr wrap="square" lIns="0" tIns="0" rIns="0" bIns="0" rtlCol="0" anchor="ctr"/>
          <a:lstStyle/>
          <a:p>
            <a:pPr indent="0" marL="0">
              <a:buNone/>
            </a:pPr>
            <a:r>
              <a:rPr lang="en-US" sz="2000" b="1" dirty="0">
                <a:solidFill>
                  <a:schemeClr val="tx2"/>
                </a:solidFill>
              </a:rPr>
              <a:t>Future work</a:t>
            </a:r>
            <a:endParaRPr lang="en-US" sz="2000" dirty="0"/>
          </a:p>
        </p:txBody>
      </p:sp>
      <p:sp>
        <p:nvSpPr>
          <p:cNvPr id="10" name="Text 6"/>
          <p:cNvSpPr txBox="1"/>
          <p:nvPr/>
        </p:nvSpPr>
        <p:spPr>
          <a:xfrm>
            <a:off x="6324448" y="2240280"/>
            <a:ext cx="5318608"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Collect engagement signals: calls, emails, response time, budget</a:t>
            </a:r>
            <a:endParaRPr lang="en-US" sz="1500" dirty="0"/>
          </a:p>
          <a:p>
            <a:pPr marL="203200" indent="-203200">
              <a:spcAft>
                <a:spcPts val="800"/>
              </a:spcAft>
              <a:buSzPct val="100000"/>
              <a:buChar char="•"/>
            </a:pPr>
            <a:r>
              <a:rPr lang="en-US" sz="1500" dirty="0">
                <a:solidFill>
                  <a:schemeClr val="tx1"/>
                </a:solidFill>
              </a:rPr>
              <a:t>Score deals as of each historical date</a:t>
            </a:r>
            <a:endParaRPr lang="en-US" sz="1500" dirty="0"/>
          </a:p>
          <a:p>
            <a:pPr marL="203200" indent="-203200">
              <a:spcAft>
                <a:spcPts val="800"/>
              </a:spcAft>
              <a:buSzPct val="100000"/>
              <a:buChar char="•"/>
            </a:pPr>
            <a:r>
              <a:rPr lang="en-US" sz="1500" dirty="0">
                <a:solidFill>
                  <a:schemeClr val="tx1"/>
                </a:solidFill>
              </a:rPr>
              <a:t>Test on accounts never seen in training</a:t>
            </a:r>
            <a:endParaRPr lang="en-US" sz="1500" dirty="0"/>
          </a:p>
          <a:p>
            <a:pPr marL="203200" indent="-203200">
              <a:spcAft>
                <a:spcPts val="800"/>
              </a:spcAft>
              <a:buSzPct val="100000"/>
              <a:buChar char="•"/>
            </a:pPr>
            <a:r>
              <a:rPr lang="en-US" sz="1500" dirty="0">
                <a:solidFill>
                  <a:schemeClr val="tx1"/>
                </a:solidFill>
              </a:rPr>
              <a:t>Validate priority bands with the sales team</a:t>
            </a:r>
            <a:endParaRPr lang="en-US" sz="1500" dirty="0"/>
          </a:p>
          <a:p>
            <a:pPr marL="203200" indent="-203200">
              <a:spcAft>
                <a:spcPts val="800"/>
              </a:spcAft>
              <a:buSzPct val="100000"/>
              <a:buChar char="•"/>
            </a:pPr>
            <a:r>
              <a:rPr lang="en-US" sz="1500" dirty="0">
                <a:solidFill>
                  <a:schemeClr val="tx1"/>
                </a:solidFill>
              </a:rPr>
              <a:t>Train-on-synthetic, test-on-real check with a data-driven generator</a:t>
            </a:r>
            <a:endParaRPr lang="en-US" sz="1500" dirty="0"/>
          </a:p>
        </p:txBody>
      </p:sp>
      <p:sp>
        <p:nvSpPr>
          <p:cNvPr id="11" name="takeaway"/>
          <p:cNvSpPr/>
          <p:nvPr/>
        </p:nvSpPr>
        <p:spPr>
          <a:xfrm>
            <a:off x="548640" y="5074920"/>
            <a:ext cx="11094415" cy="914400"/>
          </a:xfrm>
          <a:prstGeom prst="roundRect">
            <a:avLst>
              <a:gd name="adj" fmla="val 8000"/>
            </a:avLst>
          </a:prstGeom>
          <a:solidFill>
            <a:schemeClr val="bg2"/>
          </a:solidFill>
          <a:ln/>
        </p:spPr>
      </p:sp>
      <p:sp>
        <p:nvSpPr>
          <p:cNvPr id="12" name="icon-bg-check"/>
          <p:cNvSpPr/>
          <p:nvPr/>
        </p:nvSpPr>
        <p:spPr>
          <a:xfrm>
            <a:off x="777240" y="5257800"/>
            <a:ext cx="548640" cy="548640"/>
          </a:xfrm>
          <a:prstGeom prst="ellipse">
            <a:avLst/>
          </a:prstGeom>
          <a:solidFill>
            <a:schemeClr val="accent1"/>
          </a:solidFill>
          <a:ln/>
        </p:spPr>
      </p:sp>
      <p:pic>
        <p:nvPicPr>
          <p:cNvPr id="13" name="icon-check" descr="preencoded.png">    </p:cNvPr>
          <p:cNvPicPr>
            <a:picLocks noChangeAspect="1"/>
          </p:cNvPicPr>
          <p:nvPr/>
        </p:nvPicPr>
        <p:blipFill>
          <a:blip r:embed="rId3"/>
          <a:stretch>
            <a:fillRect/>
          </a:stretch>
        </p:blipFill>
        <p:spPr>
          <a:xfrm>
            <a:off x="914400" y="5394960"/>
            <a:ext cx="274320" cy="274320"/>
          </a:xfrm>
          <a:prstGeom prst="rect">
            <a:avLst/>
          </a:prstGeom>
        </p:spPr>
      </p:pic>
      <p:sp>
        <p:nvSpPr>
          <p:cNvPr id="14" name="Text 9"/>
          <p:cNvSpPr txBox="1"/>
          <p:nvPr/>
        </p:nvSpPr>
        <p:spPr>
          <a:xfrm>
            <a:off x="1508760" y="5120640"/>
            <a:ext cx="9905695" cy="822960"/>
          </a:xfrm>
          <a:prstGeom prst="rect">
            <a:avLst/>
          </a:prstGeom>
          <a:noFill/>
          <a:ln/>
        </p:spPr>
        <p:txBody>
          <a:bodyPr wrap="square" lIns="0" tIns="0" rIns="0" bIns="0" rtlCol="0" anchor="ctr"/>
          <a:lstStyle/>
          <a:p>
            <a:pPr indent="0" marL="0">
              <a:buNone/>
            </a:pPr>
            <a:r>
              <a:rPr lang="en-US" sz="1700" b="1" dirty="0">
                <a:solidFill>
                  <a:schemeClr val="tx2"/>
                </a:solidFill>
              </a:rPr>
              <a:t>Takeaway: </a:t>
            </a:r>
            <a:pPr indent="0" marL="0">
              <a:buNone/>
            </a:pPr>
            <a:r>
              <a:rPr lang="en-US" sz="1700" dirty="0">
                <a:solidFill>
                  <a:schemeClr val="tx1"/>
                </a:solidFill>
              </a:rPr>
              <a:t>a rigorous, leakage-free pipeline that works; the current CRM fields are not enough to rank deals.</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9601200" cy="1737360"/>
          </a:xfrm>
          <a:prstGeom prst="rect">
            <a:avLst/>
          </a:prstGeom>
          <a:noFill/>
          <a:ln/>
        </p:spPr>
        <p:txBody>
          <a:bodyPr wrap="square" lIns="0" tIns="0" rIns="0" bIns="0" rtlCol="0" anchor="b"/>
          <a:lstStyle/>
          <a:p>
            <a:pPr algn="l" indent="0" marL="0">
              <a:buNone/>
            </a:pPr>
            <a:r>
              <a:rPr lang="en-US" sz="4200" b="1" dirty="0">
                <a:solidFill>
                  <a:schemeClr val="bg1"/>
                </a:solidFill>
                <a:latin typeface="Cambria" pitchFamily="34" charset="0"/>
                <a:ea typeface="Cambria" pitchFamily="34" charset="-122"/>
                <a:cs typeface="Cambria" pitchFamily="34" charset="-120"/>
              </a:rPr>
              <a:t>Thank you — questions?</a:t>
            </a:r>
            <a:endParaRPr lang="en-US" sz="4200" dirty="0"/>
          </a:p>
        </p:txBody>
      </p:sp>
      <p:sp>
        <p:nvSpPr>
          <p:cNvPr id="3" name="Text 0"/>
          <p:cNvSpPr/>
          <p:nvPr>
            <p:ph idx="101" type="body" hasCustomPrompt="1"/>
          </p:nvPr>
        </p:nvSpPr>
        <p:spPr>
          <a:xfrm>
            <a:off x="548640" y="3794760"/>
            <a:ext cx="9601200" cy="1463040"/>
          </a:xfrm>
          <a:prstGeom prst="rect">
            <a:avLst/>
          </a:prstGeom>
          <a:noFill/>
          <a:ln/>
        </p:spPr>
        <p:txBody>
          <a:bodyPr wrap="square" lIns="0" tIns="0" rIns="0" bIns="0" rtlCol="0" anchor="t"/>
          <a:lstStyle/>
          <a:p>
            <a:pPr indent="0" marL="0">
              <a:buNone/>
            </a:pPr>
            <a:r>
              <a:rPr lang="en-US" sz="1800" dirty="0">
                <a:solidFill>
                  <a:schemeClr val="bg1"/>
                </a:solidFill>
              </a:rPr>
              <a:t>Hong Thai Phan · Nguyen Khanh An Tran · Hoang Thien Bao Bui</a:t>
            </a:r>
            <a:endParaRPr lang="en-US" sz="1800" dirty="0"/>
          </a:p>
          <a:p>
            <a:pPr indent="0" marL="0">
              <a:buNone/>
            </a:pPr>
            <a:r>
              <a:rPr lang="en-US" sz="1200" dirty="0">
                <a:solidFill>
                  <a:schemeClr val="accent5"/>
                </a:solidFill>
              </a:rPr>
              <a:t>References: J. Yan et al., Sales Pipeline Win Propensity Prediction, IFIP/IEEE IM 2015 · A. Rezazadeh, A Generalized Flow for B2B Sales Predictive Modeling, Forecasting 2020 · S. O. Arik and T. Pfister, TabNet, AAAI 2021</a:t>
            </a:r>
            <a:endParaRPr lang="en-US" sz="1800" dirty="0"/>
          </a:p>
        </p:txBody>
      </p:sp>
    </p:spTree>
  </p:cSld>
  <p:clrMapOvr>
    <a:masterClrMapping/>
  </p:clrMapOvr>
</p:sld>
</file>

<file path=ppt/theme/theme1.xml><?xml version="1.0" encoding="utf-8"?>
<a:theme xmlns:a="http://schemas.openxmlformats.org/drawingml/2006/main" name="CRM Pipeline">
  <a:themeElements>
    <a:clrScheme name="CRM Pipeline">
      <a:dk1>
        <a:srgbClr val="16232E"/>
      </a:dk1>
      <a:lt1>
        <a:srgbClr val="FFFFFF"/>
      </a:lt1>
      <a:dk2>
        <a:srgbClr val="0E3B43"/>
      </a:dk2>
      <a:lt2>
        <a:srgbClr val="EEF4F3"/>
      </a:lt2>
      <a:accent1>
        <a:srgbClr val="0F7A6C"/>
      </a:accent1>
      <a:accent2>
        <a:srgbClr val="E39B2E"/>
      </a:accent2>
      <a:accent3>
        <a:srgbClr val="D2554E"/>
      </a:accent3>
      <a:accent4>
        <a:srgbClr val="5B7083"/>
      </a:accent4>
      <a:accent5>
        <a:srgbClr val="9CC5BB"/>
      </a:accent5>
      <a:accent6>
        <a:srgbClr val="2F4858"/>
      </a:accent6>
      <a:hlink>
        <a:srgbClr val="0F7A6C"/>
      </a:hlink>
      <a:folHlink>
        <a:srgbClr val="5B7083"/>
      </a:folHlink>
    </a:clrScheme>
    <a:fontScheme name="CRM Pip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CS 582 Group 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CRM Sales Opportunities Using Machine Learning</dc:title>
  <dc:subject>PptxGenJS Presentation</dc:subject>
  <dc:creator>CS 582 Group 2</dc:creator>
  <cp:lastModifiedBy>CS 582 Group 2</cp:lastModifiedBy>
  <cp:revision>1</cp:revision>
  <dcterms:created xsi:type="dcterms:W3CDTF">2026-10-10T01:24:04Z</dcterms:created>
  <dcterms:modified xsi:type="dcterms:W3CDTF">2026-10-10T01:24:04Z</dcterms:modified>
</cp:coreProperties>
</file>