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6"/>
    <p:sldId id="261" r:id="rId7"/>
    <p:sldId id="275" r:id="rId26"/>
    <p:sldId id="276" r:id="rId27"/>
    <p:sldId id="267" r:id="rId13"/>
    <p:sldId id="268" r:id="rId14"/>
    <p:sldId id="277" r:id="rId28"/>
    <p:sldId id="263" r:id="rId9"/>
    <p:sldId id="265" r:id="rId11"/>
    <p:sldId id="269" r:id="rId15"/>
    <p:sldId id="274" r:id="rId2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a960240-e348-6fb5-4431-30c03be043be}">
          <p14:sldIdLst>
            <p14:sldId id="256"/>
            <p14:sldId id="257"/>
          </p14:sldIdLst>
        </p14:section>
        <p14:section name="Scenario A: original data" id="{a27f2ef0-0e70-fff2-48f3-b7d3a864b71d}">
          <p14:sldIdLst>
            <p14:sldId id="258"/>
            <p14:sldId id="259"/>
            <p14:sldId id="260"/>
            <p14:sldId id="261"/>
            <p14:sldId id="262"/>
            <p14:sldId id="263"/>
            <p14:sldId id="264"/>
            <p14:sldId id="265"/>
            <p14:sldId id="266"/>
          </p14:sldIdLst>
        </p14:section>
        <p14:section name="Scenario B: simulated data" id="{543797b1-51cb-0dff-4a40-e5f6e881e2b2}">
          <p14:sldIdLst>
            <p14:sldId id="267"/>
            <p14:sldId id="268"/>
            <p14:sldId id="269"/>
            <p14:sldId id="270"/>
          </p14:sldIdLst>
        </p14:section>
        <p14:section name="Conclusion" id="{68cb6e84-4f43-2850-4527-6d43a96d3a5a}">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9" Type="http://schemas.openxmlformats.org/officeDocument/2006/relationships/slide" Target="slides/slide11.xml"/><Relationship Id="rId11" Type="http://schemas.openxmlformats.org/officeDocument/2006/relationships/slide" Target="slides/slide12.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4.xml"/><Relationship Id="rId26" Type="http://schemas.openxmlformats.org/officeDocument/2006/relationships/slide" Target="slides/slide6.xml"/><Relationship Id="rId27" Type="http://schemas.openxmlformats.org/officeDocument/2006/relationships/slide" Target="slides/slide7.xml"/><Relationship Id="rId28"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Deal stage of all 8,800 opportunities</a:t>
            </a:r>
          </a:p>
        </c:rich>
      </c:tx>
      <c:layout/>
      <c:overlay val="0"/>
    </c:title>
    <c:autoTitleDeleted val="0"/>
    <c:plotArea>
      <c:layout/>
      <c:doughnutChart>
        <c:varyColors val="1"/>
        <c:ser>
          <c:idx val="0"/>
          <c:order val="0"/>
          <c:tx>
            <c:strRef>
              <c:f>Sheet1!$B$1</c:f>
              <c:strCache>
                <c:ptCount val="1"/>
                <c:pt idx="0">
                  <c:v>Deal stage</c:v>
                </c:pt>
              </c:strCache>
            </c:strRef>
          </c:tx>
          <c:spPr>
            <a:solidFill>
              <a:schemeClr val="accent1"/>
            </a:solidFill>
            <a:ln w="9525" cap="flat">
              <a:solidFill>
                <a:srgbClr val="F9F9F9"/>
              </a:solidFill>
              <a:prstDash val="solid"/>
              <a:round/>
            </a:ln>
            <a:effectLst/>
          </c:spPr>
          <c:dPt>
            <c:idx val="0"/>
            <c:bubble3D val="0"/>
            <c:spPr>
              <a:solidFill>
                <a:srgbClr val="0F7A6C"/>
              </a:solidFill>
              <a:effectLst/>
            </c:spPr>
          </c:dPt>
          <c:dPt>
            <c:idx val="1"/>
            <c:bubble3D val="0"/>
            <c:spPr>
              <a:solidFill>
                <a:srgbClr val="D2554E"/>
              </a:solidFill>
              <a:effectLst/>
            </c:spPr>
          </c:dPt>
          <c:dPt>
            <c:idx val="2"/>
            <c:bubble3D val="0"/>
            <c:spPr>
              <a:solidFill>
                <a:srgbClr val="E39B2E"/>
              </a:solidFill>
              <a:effectLst/>
            </c:spPr>
          </c:dPt>
          <c:dPt>
            <c:idx val="3"/>
            <c:bubble3D val="0"/>
            <c:spPr>
              <a:solidFill>
                <a:srgbClr val="9CC5BB"/>
              </a:solidFill>
              <a:effectLst/>
            </c:spPr>
          </c:dPt>
          <c:dLbls>
            <c:dLbl>
              <c:idx val="0"/>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Won</c:v>
                </c:pt>
                <c:pt idx="1">
                  <c:v>Lost</c:v>
                </c:pt>
                <c:pt idx="2">
                  <c:v>Engaging (open)</c:v>
                </c:pt>
                <c:pt idx="3">
                  <c:v>Prospecting (open)</c:v>
                </c:pt>
              </c:strCache>
            </c:strRef>
          </c:cat>
          <c:val>
            <c:numRef>
              <c:f>Sheet1!$B$2:$B$5</c:f>
              <c:numCache>
                <c:ptCount val="4"/>
                <c:pt idx="0">
                  <c:v>4238</c:v>
                </c:pt>
                <c:pt idx="1">
                  <c:v>2473</c:v>
                </c:pt>
                <c:pt idx="2">
                  <c:v>1589</c:v>
                </c:pt>
                <c:pt idx="3">
                  <c:v>500</c:v>
                </c:pt>
              </c:numCache>
            </c:numRef>
          </c:val>
        </c:ser>
        <c:firstSliceAng val="0"/>
        <c:holeSize val="55"/>
      </c:doughnutChart>
      <c:spPr>
        <a:noFill/>
        <a:ln>
          <a:noFill/>
        </a:ln>
        <a:effectLst/>
      </c:spPr>
    </c:plotArea>
    <c:legend>
      <c:legendPos val="r"/>
      <c:overlay val="0"/>
      <c:txPr>
        <a:bodyPr/>
        <a:lstStyle/>
        <a:p>
          <a:pPr>
            <a:defRPr sz="1300">
              <a:solidFill>
                <a:srgbClr val="1623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Test ROC-AUC on simulated data (Dummy 0.500)</a:t>
            </a:r>
          </a:p>
        </c:rich>
      </c:tx>
      <c:layout/>
      <c:overlay val="0"/>
    </c:title>
    <c:autoTitleDeleted val="0"/>
    <c:plotArea>
      <c:layout/>
      <c:barChart>
        <c:barDir val="col"/>
        <c:grouping val="clustered"/>
        <c:varyColors val="0"/>
        <c:ser>
          <c:idx val="0"/>
          <c:order val="0"/>
          <c:tx>
            <c:strRef>
              <c:f>Sheet1!$B$1</c:f>
              <c:strCache>
                <c:ptCount val="1"/>
                <c:pt idx="0">
                  <c:v>Test ROC-AUC</c:v>
                </c:pt>
              </c:strCache>
            </c:strRef>
          </c:tx>
          <c:spPr>
            <a:solidFill>
              <a:srgbClr val="0F7A6C"/>
            </a:solidFill>
            <a:effectLst/>
          </c:spPr>
          <c:invertIfNegative val="0"/>
          <c:dPt>
            <c:idx val="4"/>
            <c:spPr>
              <a:solidFill>
                <a:srgbClr val="9AA5A3"/>
              </a:solidFill>
            </c:spPr>
          </c:dPt>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strRef>
              <c:f>Sheet1!$A$2:$A$6</c:f>
              <c:strCache>
                <c:ptCount val="5"/>
                <c:pt idx="0">
                  <c:v>Logistic Regression</c:v>
                </c:pt>
                <c:pt idx="1">
                  <c:v>Random Forest</c:v>
                </c:pt>
                <c:pt idx="2">
                  <c:v>MLP</c:v>
                </c:pt>
                <c:pt idx="3">
                  <c:v>TabNet</c:v>
                </c:pt>
                <c:pt idx="4">
                  <c:v>Oracle</c:v>
                </c:pt>
              </c:strCache>
            </c:strRef>
          </c:cat>
          <c:val>
            <c:numRef>
              <c:f>Sheet1!$B$2:$B$6</c:f>
              <c:numCache>
                <c:formatCode>General</c:formatCode>
                <c:ptCount val="5"/>
                <c:pt idx="0">
                  <c:v>0.809</c:v>
                </c:pt>
                <c:pt idx="1">
                  <c:v>0.864</c:v>
                </c:pt>
                <c:pt idx="2">
                  <c:v>0.866</c:v>
                </c:pt>
                <c:pt idx="3">
                  <c:v>0.869</c:v>
                </c:pt>
                <c:pt idx="4">
                  <c:v>0.878</c:v>
                </c:pt>
              </c:numCache>
            </c:numRef>
          </c:val>
        </c:ser>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max val="0.9"/>
          <c:min val="0.5"/>
        </c:scaling>
        <c:delete val="0"/>
        <c:axPos val="l"/>
        <c:majorGridlines>
          <c:spPr>
            <a:ln w="9525" cap="flat">
              <a:solidFill>
                <a:srgbClr val="DCE5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Hello everyone. We are Group 2. Our project is Predicting CRM Sales Opportunities Using Machine Learning. We predict whether a sales opportunity will be Won or Lost, and we show which factors influence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input is four CRM tables: pipeline, accounts, products and sales teams. We train five models, including a Dummy control. The output is a win probability for each open deal, plus the factors that move the score. We show two scenarios. Scenario A uses the original Maven CRM data and gives our reported results. Scenario B runs the same models on simulated data, to check that the pipeline finds signal when signal exists.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is the Maven Analytics CRM dataset: a fictitious company that sells computer hardware to businesses. It has 8,800 opportunities, 85 accounts, 7 products and 35 sales agents. We join the four tables and fix two spelling problems in the raw data. We train only on the 6,711 closed deals: 4,238 Won and 2,473 Lost. Open deals are scored, never treated as Lost.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short live demo. We run the three notebooks for the original data in order: 1_train fits the five models and selects one on validation, 2_evaluate computes the test metrics and figures from the saved models, and 3_predict scores the open deals and shows the factors behind one score. If time allows, we show the same three steps on the simulated data. After the demo we go through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split by time, not at random. Train has 2,975 deals, validation 583 and test 1,361. Deals from the same date stay together. We purged 1,792 rows whose outcomes were not known at the cutoff, so the model never learns from the future. Preprocessing is fit on the training set only. We also checked whether this matters: a random split gives at most 0.04 higher AUC, and every protocol is still near chance. So the split is a safeguard, not the reason our scores are low.</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trained a Dummy control, Logistic Regression, Random Forest, MLP and TabNet on the same rows and the same preprocessing. The model, the threshold and the calibration are all chosen on validation. Logistic Regression had the best validation ROC-AUC, 0.563, so it was selected before we looked at test. The threshold maximises macro-F1 on validation instead of using 0.5.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data has almost no signal. The win rate is nearly the same for every product, sector and agent, and the file has no deal-level information such as discounts or contacts. The simulated data keeps the same format but adds a signal we wrote ourselves, so we know the true answer and the best possible score. It only tests the pipeline; it says nothing about real sales.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is the main result on the original data. Test ROC-AUC is between 0.495 and 0.524 for all models, and 0.5 means random ranking. The selected Logistic Regression has 0.524. Its recall is low because its threshold, chosen on validation, is strict. The Dummy gets 60 percent accuracy only because about 60 percent of deals are Won and it always predicts Won, so accuracy alone is misleading. Calibration improved the Brier score of Logistic Regression from 0.2794 to 0.2443, but that is still slightly worse than the Dummy, and it does not change the ranking.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scored 1,589 Engaging deals. Win and loss probabilities sum to one. 1,088 have a missing account and are flagged. Each deal gets a priority band and the factors that raise or lower its score: we reset one input at a time to its training median or mode and measure the change in win probability. This example is the highest-scored deal. We checked that these factors describe the model: on the Random Forest they agree with TreeSHAP, with a median Spearman correlation of 0.76, and resetting a deal's top three factors moves the score 3.1 times more than resetting three random ones. They show what the model reacts to, not causes, and the priority bands are a heuristic that has not been validated.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comparing results, here is how the two deep models differ. An MLP is a stack of fully connected layers. Every neuron looks at every input, and the network learns interactions inside its weighted sums. Ours has two hidden layers, 64 and 32 units. It has no built-in idea of which inputs matter, so we explain it with methods like permutation importance or SHAP. TabNet was designed for tabular data. It works in several steps. At each step, an attention module chooses a small set of inputs for that particular deal, using a sparse mask. Only those inputs are processed in that step, and the results of all steps are added together. This makes TabNet behave a bit like a sequence of decision-tree splits, and the masks show which inputs it used for each deal. The cost is more hyperparameters and slower training.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Low scores could mean the data has no signal, or that our pipeline is broken. To tell these apart, we ran the same pipeline on simulated data where we know the signal exists.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simulated data reuses the real accounts, agents and products, and matches the real date range and win rate. We added new products, competitor products and industry trends. Each deal's win probability comes from a formula we wrote, including interaction effects such as an expensive product sold to a small account. Because we wrote the formula, we know the true probability, which gives us the oracle: the best possible score. It is never used as a feature.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simulated data, test ROC-AUC is 0.809 for Logistic Regression, 0.864 for Random Forest, 0.866 for MLP and 0.869 for TabNet. The best possible is 0.878. So the nonlinear models recover nearly all the planted signal. Over five newly generated datasets the result holds, with standard deviations under 0.01. Nonlinear models win partly because we built the data with interactions.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Putting the two scenarios together: on the original data every model is near 0.52, and on simulated data with real signal the same pipeline reaches about 0.87. So the low scores come from the original data, not from the pipeline. The simulated scores are not real-world performance, and we never mix them into our reported results.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contribution is not a new algorithm. It is a careful workflow where each part has evidence. The explanations move the score three times more than random factors. A random split changes AUC by at most 0.04, so our split is a safeguard, not a trick. Missing accounts are flagged. And the simulation shows the pipeline learns when signal exists. Everything runs on a CPU, either with one command or step by step in notebooks.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results do not yet show the model helps sales prioritisation. Limitations: closed-only bias, validation reuse, static snapshots, repeated accounts, and the data was examined in earlier attempts, so the test set is not pristine. The simulated win rule is invented, so it says nothing about real sales. The most useful next step is richer engagement data, such as calls, emails and response times.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We are happy to take questions. Likely questions: Why are the scores so low? The available features carry little signal. Why does the Dummy have high accuracy? About 60 percent of closed deals are Won. Is simulated data cheating? No: it only checks the pipeline, and our reported results use the original data.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MLP and TabNet are neural networks, so this is the fairest deep-learning comparison. On the real data TabNet scores 0.507 and the MLP 0.495. But the 95 percent confidence interval for the difference goes from minus 0.030 to plus 0.054, so it is not a real win. On simulated data they are within 0.002 AUC: TabNet is ahead in four of five seeds with interactions, and three of five with smooth signals. TabNet is about 27 times slower to train here, and 35 times slower on 100,000 deals. What TabNet does give us is built-in attention, which shows the features each decision step used. The MLP needs a separate method for that.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rtlCol="0"/>
          <a:lstStyle>
            <a:lvl1pPr algn="l" indent="0" marL="0">
              <a:buNone/>
              <a:defRPr lang="en-US" sz="4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051560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657600"/>
            <a:ext cx="10515600" cy="109728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CS 582 · Group 2 · Predicting CRM Sales Opportunities</a:t>
            </a:r>
            <a:endParaRPr 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image" Target="../media/image-6-3.png"/><Relationship Id="rId6"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image" Target="../media/image-13-3.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9.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 Id="rId5" Type="http://schemas.openxmlformats.org/officeDocument/2006/relationships/image" Target="../media/image-6-4.png"/></Relationships>
</file>

<file path=ppt/slides/_rels/slide13.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Predicting CRM Sales Opportunities Using Machine Learning</a:t>
            </a: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lIns="0" tIns="0" rIns="0" bIns="0" rtlCol="0" anchor="t"/>
          <a:lstStyle/>
          <a:p>
            <a:pPr indent="0" marL="0">
              <a:buNone/>
            </a:pPr>
            <a:r>
              <a:rPr lang="en-US" sz="1800" dirty="0">
                <a:solidFill>
                  <a:schemeClr val="accent5"/>
                </a:solidFill>
              </a:rPr>
              <a:t>CS 582 Machine Learning · Group 2 · Final presentation</a:t>
            </a:r>
            <a:endParaRPr lang="en-US" sz="1800" dirty="0"/>
          </a:p>
          <a:p>
            <a:pPr indent="0" marL="0">
              <a:buNone/>
            </a:pPr>
            <a:r>
              <a:rPr lang="en-US" sz="1800" dirty="0">
                <a:solidFill>
                  <a:schemeClr val="bg1"/>
                </a:solidFill>
              </a:rPr>
              <a:t>Hong Thai Phan · Nguyen Khanh An Tran · Hoang Thien Bao Bui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Goal: a win probability and its reasons</a:t>
            </a:r>
            <a:endParaRPr lang="en-US" sz="3400" dirty="0"/>
          </a:p>
        </p:txBody>
      </p:sp>
      <p:sp>
        <p:nvSpPr>
          <p:cNvPr id="3" name="goal-card-0"/>
          <p:cNvSpPr/>
          <p:nvPr/>
        </p:nvSpPr>
        <p:spPr>
          <a:xfrm>
            <a:off x="548640" y="1600200"/>
            <a:ext cx="3291840" cy="2377440"/>
          </a:xfrm>
          <a:prstGeom prst="roundRect">
            <a:avLst>
              <a:gd name="adj" fmla="val 3077"/>
            </a:avLst>
          </a:prstGeom>
          <a:solidFill>
            <a:schemeClr val="bg2"/>
          </a:solidFill>
          <a:ln/>
        </p:spPr>
        <p:txBody>
          <a:bodyPr/>
          <a:p/>
        </p:txBody>
      </p:sp>
      <p:sp>
        <p:nvSpPr>
          <p:cNvPr id="4" name="icon-bg-table"/>
          <p:cNvSpPr/>
          <p:nvPr/>
        </p:nvSpPr>
        <p:spPr>
          <a:xfrm>
            <a:off x="868680" y="1920240"/>
            <a:ext cx="640080" cy="640080"/>
          </a:xfrm>
          <a:prstGeom prst="ellipse">
            <a:avLst/>
          </a:prstGeom>
          <a:solidFill>
            <a:schemeClr val="accent1"/>
          </a:solidFill>
          <a:ln/>
        </p:spPr>
        <p:txBody>
          <a:bodyPr/>
          <a:p/>
        </p:txBody>
      </p:sp>
      <p:pic>
        <p:nvPicPr>
          <p:cNvPr id="5" name="icon-table" descr="preencoded.png">    </p:cNvPr>
          <p:cNvPicPr>
            <a:picLocks noChangeAspect="1"/>
          </p:cNvPicPr>
          <p:nvPr/>
        </p:nvPicPr>
        <p:blipFill>
          <a:blip r:embed="rId1"/>
          <a:stretch>
            <a:fillRect/>
          </a:stretch>
        </p:blipFill>
        <p:spPr>
          <a:xfrm>
            <a:off x="1028700" y="2080260"/>
            <a:ext cx="320040" cy="320040"/>
          </a:xfrm>
          <a:prstGeom prst="rect">
            <a:avLst/>
          </a:prstGeom>
        </p:spPr>
      </p:pic>
      <p:sp>
        <p:nvSpPr>
          <p:cNvPr id="6" name="Text 3"/>
          <p:cNvSpPr txBox="1"/>
          <p:nvPr/>
        </p:nvSpPr>
        <p:spPr>
          <a:xfrm>
            <a:off x="8686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Input</a:t>
            </a:r>
            <a:endParaRPr lang="en-US" sz="2000" dirty="0"/>
          </a:p>
        </p:txBody>
      </p:sp>
      <p:sp>
        <p:nvSpPr>
          <p:cNvPr id="7" name="Text 4"/>
          <p:cNvSpPr txBox="1"/>
          <p:nvPr/>
        </p:nvSpPr>
        <p:spPr>
          <a:xfrm>
            <a:off x="8686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Four CRM tables: sales pipeline, accounts, products, sales teams</a:t>
            </a:r>
            <a:endParaRPr lang="en-US" sz="1500" dirty="0"/>
          </a:p>
        </p:txBody>
      </p:sp>
      <p:sp>
        <p:nvSpPr>
          <p:cNvPr id="8" name="goal-arrow-0"/>
          <p:cNvSpPr/>
          <p:nvPr/>
        </p:nvSpPr>
        <p:spPr>
          <a:xfrm>
            <a:off x="3959352" y="2606040"/>
            <a:ext cx="365760" cy="365760"/>
          </a:xfrm>
          <a:prstGeom prst="rightArrow">
            <a:avLst/>
          </a:prstGeom>
          <a:solidFill>
            <a:schemeClr val="accent2"/>
          </a:solidFill>
          <a:ln/>
        </p:spPr>
        <p:txBody>
          <a:bodyPr/>
          <a:p/>
        </p:txBody>
      </p:sp>
      <p:sp>
        <p:nvSpPr>
          <p:cNvPr id="9" name="goal-card-1"/>
          <p:cNvSpPr/>
          <p:nvPr/>
        </p:nvSpPr>
        <p:spPr>
          <a:xfrm>
            <a:off x="4434840" y="1600200"/>
            <a:ext cx="3291840" cy="2377440"/>
          </a:xfrm>
          <a:prstGeom prst="roundRect">
            <a:avLst>
              <a:gd name="adj" fmla="val 3077"/>
            </a:avLst>
          </a:prstGeom>
          <a:solidFill>
            <a:schemeClr val="bg2"/>
          </a:solidFill>
          <a:ln/>
        </p:spPr>
        <p:txBody>
          <a:bodyPr/>
          <a:p/>
        </p:txBody>
      </p:sp>
      <p:sp>
        <p:nvSpPr>
          <p:cNvPr id="10" name="icon-bg-brain"/>
          <p:cNvSpPr/>
          <p:nvPr/>
        </p:nvSpPr>
        <p:spPr>
          <a:xfrm>
            <a:off x="4754880" y="1920240"/>
            <a:ext cx="640080" cy="640080"/>
          </a:xfrm>
          <a:prstGeom prst="ellipse">
            <a:avLst/>
          </a:prstGeom>
          <a:solidFill>
            <a:schemeClr val="accent1"/>
          </a:solidFill>
          <a:ln/>
        </p:spPr>
        <p:txBody>
          <a:bodyPr/>
          <a:p/>
        </p:txBody>
      </p:sp>
      <p:pic>
        <p:nvPicPr>
          <p:cNvPr id="11" name="icon-brain" descr="preencoded.png">    </p:cNvPr>
          <p:cNvPicPr>
            <a:picLocks noChangeAspect="1"/>
          </p:cNvPicPr>
          <p:nvPr/>
        </p:nvPicPr>
        <p:blipFill>
          <a:blip r:embed="rId2"/>
          <a:stretch>
            <a:fillRect/>
          </a:stretch>
        </p:blipFill>
        <p:spPr>
          <a:xfrm>
            <a:off x="4914900" y="2080260"/>
            <a:ext cx="320040" cy="320040"/>
          </a:xfrm>
          <a:prstGeom prst="rect">
            <a:avLst/>
          </a:prstGeom>
        </p:spPr>
      </p:pic>
      <p:sp>
        <p:nvSpPr>
          <p:cNvPr id="12" name="Text 8"/>
          <p:cNvSpPr txBox="1"/>
          <p:nvPr/>
        </p:nvSpPr>
        <p:spPr>
          <a:xfrm>
            <a:off x="47548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Models</a:t>
            </a:r>
            <a:endParaRPr lang="en-US" sz="2000" dirty="0"/>
          </a:p>
        </p:txBody>
      </p:sp>
      <p:sp>
        <p:nvSpPr>
          <p:cNvPr id="13" name="Text 9"/>
          <p:cNvSpPr txBox="1"/>
          <p:nvPr/>
        </p:nvSpPr>
        <p:spPr>
          <a:xfrm>
            <a:off x="47548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Dummy control, Logistic Regression, Random Forest, MLP, TabNet</a:t>
            </a:r>
            <a:endParaRPr lang="en-US" sz="1500" dirty="0"/>
          </a:p>
        </p:txBody>
      </p:sp>
      <p:sp>
        <p:nvSpPr>
          <p:cNvPr id="14" name="goal-arrow-1"/>
          <p:cNvSpPr/>
          <p:nvPr/>
        </p:nvSpPr>
        <p:spPr>
          <a:xfrm>
            <a:off x="7845552" y="2606040"/>
            <a:ext cx="365760" cy="365760"/>
          </a:xfrm>
          <a:prstGeom prst="rightArrow">
            <a:avLst/>
          </a:prstGeom>
          <a:solidFill>
            <a:schemeClr val="accent2"/>
          </a:solidFill>
          <a:ln/>
        </p:spPr>
        <p:txBody>
          <a:bodyPr/>
          <a:p/>
        </p:txBody>
      </p:sp>
      <p:sp>
        <p:nvSpPr>
          <p:cNvPr id="15" name="goal-card-2"/>
          <p:cNvSpPr/>
          <p:nvPr/>
        </p:nvSpPr>
        <p:spPr>
          <a:xfrm>
            <a:off x="8321040" y="1600200"/>
            <a:ext cx="3291840" cy="2377440"/>
          </a:xfrm>
          <a:prstGeom prst="roundRect">
            <a:avLst>
              <a:gd name="adj" fmla="val 3077"/>
            </a:avLst>
          </a:prstGeom>
          <a:solidFill>
            <a:schemeClr val="bg2"/>
          </a:solidFill>
          <a:ln/>
        </p:spPr>
        <p:txBody>
          <a:bodyPr/>
          <a:p/>
        </p:txBody>
      </p:sp>
      <p:sp>
        <p:nvSpPr>
          <p:cNvPr id="16" name="icon-bg-chart"/>
          <p:cNvSpPr/>
          <p:nvPr/>
        </p:nvSpPr>
        <p:spPr>
          <a:xfrm>
            <a:off x="8641080" y="1920240"/>
            <a:ext cx="640080" cy="640080"/>
          </a:xfrm>
          <a:prstGeom prst="ellipse">
            <a:avLst/>
          </a:prstGeom>
          <a:solidFill>
            <a:schemeClr val="accent1"/>
          </a:solidFill>
          <a:ln/>
        </p:spPr>
        <p:txBody>
          <a:bodyPr/>
          <a:p/>
        </p:txBody>
      </p:sp>
      <p:pic>
        <p:nvPicPr>
          <p:cNvPr id="17" name="icon-chart" descr="preencoded.png">    </p:cNvPr>
          <p:cNvPicPr>
            <a:picLocks noChangeAspect="1"/>
          </p:cNvPicPr>
          <p:nvPr/>
        </p:nvPicPr>
        <p:blipFill>
          <a:blip r:embed="rId3"/>
          <a:stretch>
            <a:fillRect/>
          </a:stretch>
        </p:blipFill>
        <p:spPr>
          <a:xfrm>
            <a:off x="8801100" y="2080260"/>
            <a:ext cx="320040" cy="320040"/>
          </a:xfrm>
          <a:prstGeom prst="rect">
            <a:avLst/>
          </a:prstGeom>
        </p:spPr>
      </p:pic>
      <p:sp>
        <p:nvSpPr>
          <p:cNvPr id="18" name="Text 13"/>
          <p:cNvSpPr txBox="1"/>
          <p:nvPr/>
        </p:nvSpPr>
        <p:spPr>
          <a:xfrm>
            <a:off x="86410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Output</a:t>
            </a:r>
            <a:endParaRPr lang="en-US" sz="2000" dirty="0"/>
          </a:p>
        </p:txBody>
      </p:sp>
      <p:sp>
        <p:nvSpPr>
          <p:cNvPr id="19" name="Text 14"/>
          <p:cNvSpPr txBox="1"/>
          <p:nvPr/>
        </p:nvSpPr>
        <p:spPr>
          <a:xfrm>
            <a:off x="86410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P(Won) for each open deal plus the factors that move its score</a:t>
            </a:r>
            <a:endParaRPr lang="en-US" sz="1500" dirty="0"/>
          </a:p>
        </p:txBody>
      </p:sp>
      <p:sp>
        <p:nvSpPr>
          <p:cNvPr id="20" name="scenario-frame"/>
          <p:cNvSpPr/>
          <p:nvPr/>
        </p:nvSpPr>
        <p:spPr>
          <a:xfrm>
            <a:off x="548640" y="4343400"/>
            <a:ext cx="11094415" cy="1600200"/>
          </a:xfrm>
          <a:prstGeom prst="roundRect">
            <a:avLst>
              <a:gd name="adj" fmla="val 4571"/>
            </a:avLst>
          </a:prstGeom>
          <a:solidFill>
            <a:schemeClr val="bg1"/>
          </a:solidFill>
          <a:ln/>
        </p:spPr>
        <p:txBody>
          <a:bodyPr/>
          <a:p/>
        </p:txBody>
      </p:sp>
      <p:sp>
        <p:nvSpPr>
          <p:cNvPr id="21" name="Text 16"/>
          <p:cNvSpPr txBox="1"/>
          <p:nvPr/>
        </p:nvSpPr>
        <p:spPr>
          <a:xfrm>
            <a:off x="548640" y="4343400"/>
            <a:ext cx="11094415" cy="365760"/>
          </a:xfrm>
          <a:prstGeom prst="rect">
            <a:avLst/>
          </a:prstGeom>
          <a:noFill/>
          <a:ln/>
        </p:spPr>
        <p:txBody>
          <a:bodyPr wrap="square" lIns="0" tIns="0" rIns="0" bIns="0" rtlCol="0" anchor="t"/>
          <a:lstStyle/>
          <a:p>
            <a:pPr indent="0" marL="0">
              <a:buNone/>
            </a:pPr>
            <a:r>
              <a:rPr lang="en-US" sz="1800" b="1" dirty="0">
                <a:solidFill>
                  <a:schemeClr val="tx2"/>
                </a:solidFill>
              </a:rPr>
              <a:t>Two scenarios, same pipeline</a:t>
            </a:r>
            <a:endParaRPr lang="en-US" sz="1800" dirty="0"/>
          </a:p>
        </p:txBody>
      </p:sp>
      <p:sp>
        <p:nvSpPr>
          <p:cNvPr id="22" name="Text 17"/>
          <p:cNvSpPr txBox="1"/>
          <p:nvPr/>
        </p:nvSpPr>
        <p:spPr>
          <a:xfrm>
            <a:off x="548640" y="4800600"/>
            <a:ext cx="11094415" cy="10058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A · Original Maven CRM data: </a:t>
            </a:r>
            <a:pPr indent="0" marL="0">
              <a:spcAft>
                <a:spcPts val="600"/>
              </a:spcAft>
              <a:buNone/>
            </a:pPr>
            <a:r>
              <a:rPr lang="en-US" sz="1600" dirty="0">
                <a:solidFill>
                  <a:schemeClr val="tx1"/>
                </a:solidFill>
              </a:rPr>
              <a:t>the project's reported results.</a:t>
            </a:r>
            <a:endParaRPr lang="en-US" sz="1600" dirty="0"/>
          </a:p>
          <a:p>
            <a:pPr indent="0" marL="0">
              <a:spcAft>
                <a:spcPts val="600"/>
              </a:spcAft>
              <a:buNone/>
            </a:pPr>
            <a:r>
              <a:rPr lang="en-US" sz="1600" b="1" dirty="0">
                <a:solidFill>
                  <a:schemeClr val="accent2"/>
                </a:solidFill>
              </a:rPr>
              <a:t>B · Simulated data with a known formula: </a:t>
            </a:r>
            <a:pPr indent="0" marL="0">
              <a:spcAft>
                <a:spcPts val="600"/>
              </a:spcAft>
              <a:buNone/>
            </a:pPr>
            <a:r>
              <a:rPr lang="en-US" sz="1600" dirty="0">
                <a:solidFill>
                  <a:schemeClr val="tx1"/>
                </a:solidFill>
              </a:rPr>
              <a:t>a check that the pipeline finds signal when signal exists.</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Data: a fictitious B2B hardware seller</a:t>
            </a:r>
            <a:endParaRPr lang="en-US" sz="3400" dirty="0"/>
          </a:p>
        </p:txBody>
      </p:sp>
      <p:sp>
        <p:nvSpPr>
          <p:cNvPr id="3" name="Text 1"/>
          <p:cNvSpPr txBox="1"/>
          <p:nvPr/>
        </p:nvSpPr>
        <p:spPr>
          <a:xfrm>
            <a:off x="548640" y="146304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8,800</a:t>
            </a:r>
            <a:endParaRPr lang="en-US" sz="4400" dirty="0"/>
          </a:p>
        </p:txBody>
      </p:sp>
      <p:sp>
        <p:nvSpPr>
          <p:cNvPr id="4" name="Text 2"/>
          <p:cNvSpPr txBox="1"/>
          <p:nvPr/>
        </p:nvSpPr>
        <p:spPr>
          <a:xfrm>
            <a:off x="548640" y="224028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sales opportunities</a:t>
            </a:r>
            <a:endParaRPr lang="en-US" sz="1300" dirty="0"/>
          </a:p>
        </p:txBody>
      </p:sp>
      <p:sp>
        <p:nvSpPr>
          <p:cNvPr id="5" name="Text 3"/>
          <p:cNvSpPr txBox="1"/>
          <p:nvPr/>
        </p:nvSpPr>
        <p:spPr>
          <a:xfrm>
            <a:off x="3291840" y="146304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85</a:t>
            </a:r>
            <a:endParaRPr lang="en-US" sz="4400" dirty="0"/>
          </a:p>
        </p:txBody>
      </p:sp>
      <p:sp>
        <p:nvSpPr>
          <p:cNvPr id="6" name="Text 4"/>
          <p:cNvSpPr txBox="1"/>
          <p:nvPr/>
        </p:nvSpPr>
        <p:spPr>
          <a:xfrm>
            <a:off x="3291840" y="224028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customer accounts</a:t>
            </a:r>
            <a:endParaRPr lang="en-US" sz="1300" dirty="0"/>
          </a:p>
        </p:txBody>
      </p:sp>
      <p:sp>
        <p:nvSpPr>
          <p:cNvPr id="7" name="Text 5"/>
          <p:cNvSpPr txBox="1"/>
          <p:nvPr/>
        </p:nvSpPr>
        <p:spPr>
          <a:xfrm>
            <a:off x="548640" y="292608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7</a:t>
            </a:r>
            <a:endParaRPr lang="en-US" sz="4400" dirty="0"/>
          </a:p>
        </p:txBody>
      </p:sp>
      <p:sp>
        <p:nvSpPr>
          <p:cNvPr id="8" name="Text 6"/>
          <p:cNvSpPr txBox="1"/>
          <p:nvPr/>
        </p:nvSpPr>
        <p:spPr>
          <a:xfrm>
            <a:off x="548640" y="370332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products</a:t>
            </a:r>
            <a:endParaRPr lang="en-US" sz="1300" dirty="0"/>
          </a:p>
        </p:txBody>
      </p:sp>
      <p:sp>
        <p:nvSpPr>
          <p:cNvPr id="9" name="Text 7"/>
          <p:cNvSpPr txBox="1"/>
          <p:nvPr/>
        </p:nvSpPr>
        <p:spPr>
          <a:xfrm>
            <a:off x="3291840" y="292608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35</a:t>
            </a:r>
            <a:endParaRPr lang="en-US" sz="4400" dirty="0"/>
          </a:p>
        </p:txBody>
      </p:sp>
      <p:sp>
        <p:nvSpPr>
          <p:cNvPr id="10" name="Text 8"/>
          <p:cNvSpPr txBox="1"/>
          <p:nvPr/>
        </p:nvSpPr>
        <p:spPr>
          <a:xfrm>
            <a:off x="3291840" y="370332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sales agents</a:t>
            </a:r>
            <a:endParaRPr lang="en-US" sz="1300" dirty="0"/>
          </a:p>
        </p:txBody>
      </p:sp>
      <p:sp>
        <p:nvSpPr>
          <p:cNvPr id="11" name="Text 9"/>
          <p:cNvSpPr txBox="1"/>
          <p:nvPr/>
        </p:nvSpPr>
        <p:spPr>
          <a:xfrm>
            <a:off x="548640" y="4526280"/>
            <a:ext cx="5212080" cy="731520"/>
          </a:xfrm>
          <a:prstGeom prst="rect">
            <a:avLst/>
          </a:prstGeom>
          <a:noFill/>
          <a:ln/>
        </p:spPr>
        <p:txBody>
          <a:bodyPr wrap="square" lIns="0" tIns="0" rIns="0" bIns="0" rtlCol="0" anchor="t"/>
          <a:lstStyle/>
          <a:p>
            <a:pPr indent="0" marL="0">
              <a:buNone/>
            </a:pPr>
            <a:r>
              <a:rPr lang="en-US" sz="1600" dirty="0">
                <a:solidFill>
                  <a:schemeClr val="tx1"/>
                </a:solidFill>
              </a:rPr>
              <a:t>Train only on 6,711 closed deals (63% Won). </a:t>
            </a:r>
            <a:pPr indent="0" marL="0">
              <a:buNone/>
            </a:pPr>
            <a:r>
              <a:rPr lang="en-US" sz="1600" dirty="0">
                <a:solidFill>
                  <a:schemeClr val="tx1"/>
                </a:solidFill>
              </a:rPr>
              <a:t>Open deals are scored, never labelled Lost.</a:t>
            </a:r>
            <a:endParaRPr lang="en-US" sz="1600" dirty="0"/>
          </a:p>
        </p:txBody>
      </p:sp>
      <p:sp>
        <p:nvSpPr>
          <p:cNvPr id="12" name="Text 10"/>
          <p:cNvSpPr txBox="1"/>
          <p:nvPr/>
        </p:nvSpPr>
        <p:spPr>
          <a:xfrm>
            <a:off x="548640" y="5669280"/>
            <a:ext cx="5303520" cy="457200"/>
          </a:xfrm>
          <a:prstGeom prst="rect">
            <a:avLst/>
          </a:prstGeom>
          <a:noFill/>
          <a:ln/>
        </p:spPr>
        <p:txBody>
          <a:bodyPr wrap="square" lIns="0" tIns="0" rIns="0" bIns="0" rtlCol="0" anchor="t"/>
          <a:lstStyle/>
          <a:p>
            <a:pPr indent="0" marL="0">
              <a:buNone/>
            </a:pPr>
            <a:r>
              <a:rPr lang="en-US" sz="1100" dirty="0">
                <a:solidFill>
                  <a:schemeClr val="accent4"/>
                </a:solidFill>
              </a:rPr>
              <a:t>Source: Maven Analytics CRM Sales Opportunities (public practice dataset)</a:t>
            </a:r>
            <a:endParaRPr lang="en-US" sz="1100" dirty="0"/>
          </a:p>
        </p:txBody>
      </p:sp>
      <p:graphicFrame>
        <p:nvGraphicFramePr>
          <p:cNvPr id="13" name="stage-chart" descr=""/>
          <p:cNvGraphicFramePr/>
          <p:nvPr/>
        </p:nvGraphicFramePr>
        <p:xfrm>
          <a:off x="6309360" y="1325880"/>
          <a:ext cx="530352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Time-based split: no peeking at the future</a:t>
            </a:r>
            <a:endParaRPr lang="en-US" sz="3400" dirty="0"/>
          </a:p>
        </p:txBody>
      </p:sp>
      <p:sp>
        <p:nvSpPr>
          <p:cNvPr id="3" name="split-Train"/>
          <p:cNvSpPr/>
          <p:nvPr/>
        </p:nvSpPr>
        <p:spPr>
          <a:xfrm>
            <a:off x="548640" y="1600200"/>
            <a:ext cx="6353526" cy="1005840"/>
          </a:xfrm>
          <a:prstGeom prst="roundRect">
            <a:avLst>
              <a:gd name="adj" fmla="val 7273"/>
            </a:avLst>
          </a:prstGeom>
          <a:solidFill>
            <a:schemeClr val="accent1"/>
          </a:solidFill>
          <a:ln/>
        </p:spPr>
        <p:txBody>
          <a:bodyPr/>
          <a:p/>
        </p:txBody>
      </p:sp>
      <p:sp>
        <p:nvSpPr>
          <p:cNvPr id="4" name="Text 2"/>
          <p:cNvSpPr txBox="1"/>
          <p:nvPr/>
        </p:nvSpPr>
        <p:spPr>
          <a:xfrm>
            <a:off x="731520" y="1691640"/>
            <a:ext cx="6079206" cy="822960"/>
          </a:xfrm>
          <a:prstGeom prst="rect">
            <a:avLst/>
          </a:prstGeom>
          <a:noFill/>
          <a:ln/>
        </p:spPr>
        <p:txBody>
          <a:bodyPr wrap="square" lIns="0" tIns="0" rIns="0" bIns="0" rtlCol="0" anchor="ctr"/>
          <a:lstStyle/>
          <a:p>
            <a:pPr indent="0" marL="0">
              <a:buNone/>
            </a:pPr>
            <a:r>
              <a:rPr lang="en-US" sz="1800" b="1" dirty="0">
                <a:solidFill>
                  <a:schemeClr val="bg1"/>
                </a:solidFill>
              </a:rPr>
              <a:t>Train</a:t>
            </a:r>
            <a:endParaRPr lang="en-US" sz="1800" dirty="0"/>
          </a:p>
          <a:p>
            <a:pPr indent="0" marL="0">
              <a:buNone/>
            </a:pPr>
            <a:r>
              <a:rPr lang="en-US" sz="1800" dirty="0">
                <a:solidFill>
                  <a:schemeClr val="bg1"/>
                </a:solidFill>
              </a:rPr>
              <a:t>2,975 deals</a:t>
            </a:r>
            <a:endParaRPr lang="en-US" sz="1800" dirty="0"/>
          </a:p>
        </p:txBody>
      </p:sp>
      <p:sp>
        <p:nvSpPr>
          <p:cNvPr id="5" name="Text 3"/>
          <p:cNvSpPr txBox="1"/>
          <p:nvPr/>
        </p:nvSpPr>
        <p:spPr>
          <a:xfrm>
            <a:off x="548640" y="2697480"/>
            <a:ext cx="6353526" cy="320040"/>
          </a:xfrm>
          <a:prstGeom prst="rect">
            <a:avLst/>
          </a:prstGeom>
          <a:noFill/>
          <a:ln/>
        </p:spPr>
        <p:txBody>
          <a:bodyPr wrap="square" lIns="0" tIns="0" rIns="0" bIns="0" rtlCol="0" anchor="t"/>
          <a:lstStyle/>
          <a:p>
            <a:pPr indent="0" marL="0">
              <a:buNone/>
            </a:pPr>
            <a:r>
              <a:rPr lang="en-US" sz="1300" dirty="0">
                <a:solidFill>
                  <a:schemeClr val="accent4"/>
                </a:solidFill>
              </a:rPr>
              <a:t>Engaged Oct 2016 – Jul 2017</a:t>
            </a:r>
            <a:endParaRPr lang="en-US" sz="1300" dirty="0"/>
          </a:p>
        </p:txBody>
      </p:sp>
      <p:sp>
        <p:nvSpPr>
          <p:cNvPr id="6" name="split-Validation"/>
          <p:cNvSpPr/>
          <p:nvPr/>
        </p:nvSpPr>
        <p:spPr>
          <a:xfrm>
            <a:off x="6993606" y="1600200"/>
            <a:ext cx="1426693" cy="1005840"/>
          </a:xfrm>
          <a:prstGeom prst="roundRect">
            <a:avLst>
              <a:gd name="adj" fmla="val 7273"/>
            </a:avLst>
          </a:prstGeom>
          <a:solidFill>
            <a:schemeClr val="accent2"/>
          </a:solidFill>
          <a:ln/>
        </p:spPr>
        <p:txBody>
          <a:bodyPr/>
          <a:p/>
        </p:txBody>
      </p:sp>
      <p:sp>
        <p:nvSpPr>
          <p:cNvPr id="7" name="Text 5"/>
          <p:cNvSpPr txBox="1"/>
          <p:nvPr/>
        </p:nvSpPr>
        <p:spPr>
          <a:xfrm>
            <a:off x="7176486" y="1691640"/>
            <a:ext cx="1152373" cy="822960"/>
          </a:xfrm>
          <a:prstGeom prst="rect">
            <a:avLst/>
          </a:prstGeom>
          <a:noFill/>
          <a:ln/>
        </p:spPr>
        <p:txBody>
          <a:bodyPr wrap="square" lIns="0" tIns="0" rIns="0" bIns="0" rtlCol="0" anchor="ctr"/>
          <a:lstStyle/>
          <a:p>
            <a:pPr indent="0" marL="0">
              <a:buNone/>
            </a:pPr>
            <a:r>
              <a:rPr lang="en-US" sz="1800" b="1" dirty="0">
                <a:solidFill>
                  <a:schemeClr val="bg1"/>
                </a:solidFill>
              </a:rPr>
              <a:t>Validation</a:t>
            </a:r>
            <a:endParaRPr lang="en-US" sz="1800" dirty="0"/>
          </a:p>
          <a:p>
            <a:pPr indent="0" marL="0">
              <a:buNone/>
            </a:pPr>
            <a:r>
              <a:rPr lang="en-US" sz="1800" dirty="0">
                <a:solidFill>
                  <a:schemeClr val="bg1"/>
                </a:solidFill>
              </a:rPr>
              <a:t>583 deals</a:t>
            </a:r>
            <a:endParaRPr lang="en-US" sz="1800" dirty="0"/>
          </a:p>
        </p:txBody>
      </p:sp>
      <p:sp>
        <p:nvSpPr>
          <p:cNvPr id="8" name="Text 6"/>
          <p:cNvSpPr txBox="1"/>
          <p:nvPr/>
        </p:nvSpPr>
        <p:spPr>
          <a:xfrm>
            <a:off x="6993606" y="2697480"/>
            <a:ext cx="1426693" cy="320040"/>
          </a:xfrm>
          <a:prstGeom prst="rect">
            <a:avLst/>
          </a:prstGeom>
          <a:noFill/>
          <a:ln/>
        </p:spPr>
        <p:txBody>
          <a:bodyPr wrap="square" lIns="0" tIns="0" rIns="0" bIns="0" rtlCol="0" anchor="t"/>
          <a:lstStyle/>
          <a:p>
            <a:pPr indent="0" marL="0">
              <a:buNone/>
            </a:pPr>
            <a:r>
              <a:rPr lang="en-US" sz="1300" dirty="0">
                <a:solidFill>
                  <a:schemeClr val="accent4"/>
                </a:solidFill>
              </a:rPr>
              <a:t>Jul – Sep 2017</a:t>
            </a:r>
            <a:endParaRPr lang="en-US" sz="1300" dirty="0"/>
          </a:p>
        </p:txBody>
      </p:sp>
      <p:sp>
        <p:nvSpPr>
          <p:cNvPr id="9" name="split-Test"/>
          <p:cNvSpPr/>
          <p:nvPr/>
        </p:nvSpPr>
        <p:spPr>
          <a:xfrm>
            <a:off x="8511739" y="1600200"/>
            <a:ext cx="2856997" cy="1005840"/>
          </a:xfrm>
          <a:prstGeom prst="roundRect">
            <a:avLst>
              <a:gd name="adj" fmla="val 7273"/>
            </a:avLst>
          </a:prstGeom>
          <a:solidFill>
            <a:schemeClr val="tx2"/>
          </a:solidFill>
          <a:ln/>
        </p:spPr>
        <p:txBody>
          <a:bodyPr/>
          <a:p/>
        </p:txBody>
      </p:sp>
      <p:sp>
        <p:nvSpPr>
          <p:cNvPr id="10" name="Text 8"/>
          <p:cNvSpPr txBox="1"/>
          <p:nvPr/>
        </p:nvSpPr>
        <p:spPr>
          <a:xfrm>
            <a:off x="8694619" y="1691640"/>
            <a:ext cx="2582677" cy="822960"/>
          </a:xfrm>
          <a:prstGeom prst="rect">
            <a:avLst/>
          </a:prstGeom>
          <a:noFill/>
          <a:ln/>
        </p:spPr>
        <p:txBody>
          <a:bodyPr wrap="square" lIns="0" tIns="0" rIns="0" bIns="0" rtlCol="0" anchor="ctr"/>
          <a:lstStyle/>
          <a:p>
            <a:pPr indent="0" marL="0">
              <a:buNone/>
            </a:pPr>
            <a:r>
              <a:rPr lang="en-US" sz="1800" b="1" dirty="0">
                <a:solidFill>
                  <a:schemeClr val="bg1"/>
                </a:solidFill>
              </a:rPr>
              <a:t>Test</a:t>
            </a:r>
            <a:endParaRPr lang="en-US" sz="1800" dirty="0"/>
          </a:p>
          <a:p>
            <a:pPr indent="0" marL="0">
              <a:buNone/>
            </a:pPr>
            <a:r>
              <a:rPr lang="en-US" sz="1800" dirty="0">
                <a:solidFill>
                  <a:schemeClr val="bg1"/>
                </a:solidFill>
              </a:rPr>
              <a:t>1,361 deals</a:t>
            </a:r>
            <a:endParaRPr lang="en-US" sz="1800" dirty="0"/>
          </a:p>
        </p:txBody>
      </p:sp>
      <p:sp>
        <p:nvSpPr>
          <p:cNvPr id="11" name="Text 9"/>
          <p:cNvSpPr txBox="1"/>
          <p:nvPr/>
        </p:nvSpPr>
        <p:spPr>
          <a:xfrm>
            <a:off x="8511739" y="2697480"/>
            <a:ext cx="2856997" cy="320040"/>
          </a:xfrm>
          <a:prstGeom prst="rect">
            <a:avLst/>
          </a:prstGeom>
          <a:noFill/>
          <a:ln/>
        </p:spPr>
        <p:txBody>
          <a:bodyPr wrap="square" lIns="0" tIns="0" rIns="0" bIns="0" rtlCol="0" anchor="t"/>
          <a:lstStyle/>
          <a:p>
            <a:pPr indent="0" marL="0">
              <a:buNone/>
            </a:pPr>
            <a:r>
              <a:rPr lang="en-US" sz="1300" dirty="0">
                <a:solidFill>
                  <a:schemeClr val="accent4"/>
                </a:solidFill>
              </a:rPr>
              <a:t>Engaged Sep – Dec 2017</a:t>
            </a:r>
            <a:endParaRPr lang="en-US" sz="1300" dirty="0"/>
          </a:p>
        </p:txBody>
      </p:sp>
      <p:sp>
        <p:nvSpPr>
          <p:cNvPr id="12" name="time-axis"/>
          <p:cNvSpPr/>
          <p:nvPr/>
        </p:nvSpPr>
        <p:spPr>
          <a:xfrm>
            <a:off x="548640" y="3154680"/>
            <a:ext cx="10911535" cy="0"/>
          </a:xfrm>
          <a:prstGeom prst="line">
            <a:avLst/>
          </a:prstGeom>
          <a:noFill/>
          <a:ln w="15875">
            <a:solidFill>
              <a:schemeClr val="accent4"/>
            </a:solidFill>
            <a:prstDash val="solid"/>
            <a:tailEnd type="triangle"/>
          </a:ln>
        </p:spPr>
        <p:txBody>
          <a:bodyPr/>
          <a:p/>
        </p:txBody>
      </p:sp>
      <p:sp>
        <p:nvSpPr>
          <p:cNvPr id="13" name="Text 11"/>
          <p:cNvSpPr txBox="1"/>
          <p:nvPr/>
        </p:nvSpPr>
        <p:spPr>
          <a:xfrm>
            <a:off x="9631375" y="3246120"/>
            <a:ext cx="2011680" cy="274320"/>
          </a:xfrm>
          <a:prstGeom prst="rect">
            <a:avLst/>
          </a:prstGeom>
          <a:noFill/>
          <a:ln/>
        </p:spPr>
        <p:txBody>
          <a:bodyPr wrap="square" lIns="0" tIns="0" rIns="0" bIns="0" rtlCol="0" anchor="t"/>
          <a:lstStyle/>
          <a:p>
            <a:pPr algn="r" indent="0" marL="0">
              <a:buNone/>
            </a:pPr>
            <a:r>
              <a:rPr lang="en-US" sz="1100" dirty="0">
                <a:solidFill>
                  <a:schemeClr val="accent4"/>
                </a:solidFill>
              </a:rPr>
              <a:t>time (engage date)</a:t>
            </a:r>
            <a:endParaRPr lang="en-US" sz="1100" dirty="0"/>
          </a:p>
        </p:txBody>
      </p:sp>
      <p:sp>
        <p:nvSpPr>
          <p:cNvPr id="14" name="Text 12"/>
          <p:cNvSpPr txBox="1"/>
          <p:nvPr/>
        </p:nvSpPr>
        <p:spPr>
          <a:xfrm>
            <a:off x="548640" y="3703320"/>
            <a:ext cx="3291840" cy="73152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1,792</a:t>
            </a:r>
            <a:endParaRPr lang="en-US" sz="4400" dirty="0"/>
          </a:p>
        </p:txBody>
      </p:sp>
      <p:sp>
        <p:nvSpPr>
          <p:cNvPr id="15" name="Text 13"/>
          <p:cNvSpPr txBox="1"/>
          <p:nvPr/>
        </p:nvSpPr>
        <p:spPr>
          <a:xfrm>
            <a:off x="548640" y="4480560"/>
            <a:ext cx="3291840" cy="548640"/>
          </a:xfrm>
          <a:prstGeom prst="rect">
            <a:avLst/>
          </a:prstGeom>
          <a:noFill/>
          <a:ln/>
        </p:spPr>
        <p:txBody>
          <a:bodyPr wrap="square" lIns="0" tIns="0" rIns="0" bIns="0" rtlCol="0" anchor="t"/>
          <a:lstStyle/>
          <a:p>
            <a:pPr indent="0" marL="0">
              <a:buNone/>
            </a:pPr>
            <a:r>
              <a:rPr lang="en-US" sz="1300" dirty="0">
                <a:solidFill>
                  <a:schemeClr val="accent4"/>
                </a:solidFill>
              </a:rPr>
              <a:t>closed deals purged: their outcome was not yet known at the cutoff</a:t>
            </a:r>
            <a:endParaRPr lang="en-US" sz="1300" dirty="0"/>
          </a:p>
        </p:txBody>
      </p:sp>
      <p:sp>
        <p:nvSpPr>
          <p:cNvPr id="16" name="Text 14"/>
          <p:cNvSpPr txBox="1"/>
          <p:nvPr/>
        </p:nvSpPr>
        <p:spPr>
          <a:xfrm>
            <a:off x="4480560" y="3886200"/>
            <a:ext cx="7132320" cy="21031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Deals engaged on the same date always stay in the same period</a:t>
            </a:r>
            <a:endParaRPr lang="en-US" sz="1600" dirty="0"/>
          </a:p>
          <a:p>
            <a:pPr marL="203200" indent="-203200">
              <a:spcAft>
                <a:spcPts val="800"/>
              </a:spcAft>
              <a:buSzPct val="100000"/>
              <a:buChar char="•"/>
            </a:pPr>
            <a:r>
              <a:rPr lang="en-US" sz="1500" dirty="0">
                <a:solidFill>
                  <a:schemeClr val="tx1"/>
                </a:solidFill>
              </a:rPr>
              <a:t>Train and validation outcomes must be known before the next period starts</a:t>
            </a:r>
            <a:endParaRPr lang="en-US" sz="1600" dirty="0"/>
          </a:p>
          <a:p>
            <a:pPr marL="203200" indent="-203200">
              <a:spcAft>
                <a:spcPts val="800"/>
              </a:spcAft>
              <a:buSzPct val="100000"/>
              <a:buChar char="•"/>
            </a:pPr>
            <a:r>
              <a:rPr lang="en-US" sz="1500" dirty="0">
                <a:solidFill>
                  <a:schemeClr val="tx1"/>
                </a:solidFill>
              </a:rPr>
              <a:t>Imputation, encoding and scaling are fit on training rows only</a:t>
            </a:r>
            <a:endParaRPr lang="en-US" sz="1600" dirty="0"/>
          </a:p>
          <a:p>
            <a:pPr marL="203200" indent="-203200">
              <a:spcAft>
                <a:spcPts val="800"/>
              </a:spcAft>
              <a:buSzPct val="100000"/>
              <a:buChar char="•"/>
            </a:pPr>
            <a:r>
              <a:rPr lang="en-US" sz="1500" dirty="0">
                <a:solidFill>
                  <a:schemeClr val="tx1"/>
                </a:solidFill>
              </a:rPr>
              <a:t>Check: a random split scores at most 0.04 AUC higher, still near chance</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Five models, one shared pipeline</a:t>
            </a:r>
            <a:endParaRPr lang="en-US" sz="3400" dirty="0"/>
          </a:p>
        </p:txBody>
      </p:sp>
      <p:sp>
        <p:nvSpPr>
          <p:cNvPr id="3" name="model-0"/>
          <p:cNvSpPr/>
          <p:nvPr/>
        </p:nvSpPr>
        <p:spPr>
          <a:xfrm>
            <a:off x="548640" y="1463040"/>
            <a:ext cx="2057400" cy="1600200"/>
          </a:xfrm>
          <a:prstGeom prst="roundRect">
            <a:avLst>
              <a:gd name="adj" fmla="val 4571"/>
            </a:avLst>
          </a:prstGeom>
          <a:solidFill>
            <a:schemeClr val="bg2"/>
          </a:solidFill>
          <a:ln/>
        </p:spPr>
        <p:txBody>
          <a:bodyPr/>
          <a:p/>
        </p:txBody>
      </p:sp>
      <p:sp>
        <p:nvSpPr>
          <p:cNvPr id="4" name="Text 2"/>
          <p:cNvSpPr txBox="1"/>
          <p:nvPr/>
        </p:nvSpPr>
        <p:spPr>
          <a:xfrm>
            <a:off x="731520" y="1645920"/>
            <a:ext cx="1691640" cy="640080"/>
          </a:xfrm>
          <a:prstGeom prst="rect">
            <a:avLst/>
          </a:prstGeom>
          <a:noFill/>
          <a:ln/>
        </p:spPr>
        <p:txBody>
          <a:bodyPr wrap="square" lIns="0" tIns="0" rIns="0" bIns="0" rtlCol="0" anchor="t"/>
          <a:lstStyle/>
          <a:p>
            <a:pPr indent="0" marL="0">
              <a:buNone/>
            </a:pPr>
            <a:r>
              <a:rPr lang="en-US" sz="1800" b="1" dirty="0">
                <a:solidFill>
                  <a:schemeClr val="accent4"/>
                </a:solidFill>
              </a:rPr>
              <a:t>Dummy prior</a:t>
            </a:r>
            <a:endParaRPr lang="en-US" sz="1800" dirty="0"/>
          </a:p>
        </p:txBody>
      </p:sp>
      <p:sp>
        <p:nvSpPr>
          <p:cNvPr id="5" name="Text 3"/>
          <p:cNvSpPr txBox="1"/>
          <p:nvPr/>
        </p:nvSpPr>
        <p:spPr>
          <a:xfrm>
            <a:off x="73152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Control: always predicts the training win rate</a:t>
            </a:r>
            <a:endParaRPr lang="en-US" sz="1300" dirty="0"/>
          </a:p>
        </p:txBody>
      </p:sp>
      <p:sp>
        <p:nvSpPr>
          <p:cNvPr id="6" name="model-1"/>
          <p:cNvSpPr/>
          <p:nvPr/>
        </p:nvSpPr>
        <p:spPr>
          <a:xfrm>
            <a:off x="2823210" y="1463040"/>
            <a:ext cx="2057400" cy="1600200"/>
          </a:xfrm>
          <a:prstGeom prst="roundRect">
            <a:avLst>
              <a:gd name="adj" fmla="val 4571"/>
            </a:avLst>
          </a:prstGeom>
          <a:solidFill>
            <a:schemeClr val="bg2"/>
          </a:solidFill>
          <a:ln/>
        </p:spPr>
        <p:txBody>
          <a:bodyPr/>
          <a:p/>
        </p:txBody>
      </p:sp>
      <p:sp>
        <p:nvSpPr>
          <p:cNvPr id="7" name="Text 5"/>
          <p:cNvSpPr txBox="1"/>
          <p:nvPr/>
        </p:nvSpPr>
        <p:spPr>
          <a:xfrm>
            <a:off x="300609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Logistic Regression</a:t>
            </a:r>
            <a:endParaRPr lang="en-US" sz="1800" dirty="0"/>
          </a:p>
        </p:txBody>
      </p:sp>
      <p:sp>
        <p:nvSpPr>
          <p:cNvPr id="8" name="Text 6"/>
          <p:cNvSpPr txBox="1"/>
          <p:nvPr/>
        </p:nvSpPr>
        <p:spPr>
          <a:xfrm>
            <a:off x="300609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Linear baseline</a:t>
            </a:r>
            <a:endParaRPr lang="en-US" sz="1300" dirty="0"/>
          </a:p>
        </p:txBody>
      </p:sp>
      <p:sp>
        <p:nvSpPr>
          <p:cNvPr id="9" name="model-2"/>
          <p:cNvSpPr/>
          <p:nvPr/>
        </p:nvSpPr>
        <p:spPr>
          <a:xfrm>
            <a:off x="5097780" y="1463040"/>
            <a:ext cx="2057400" cy="1600200"/>
          </a:xfrm>
          <a:prstGeom prst="roundRect">
            <a:avLst>
              <a:gd name="adj" fmla="val 4571"/>
            </a:avLst>
          </a:prstGeom>
          <a:solidFill>
            <a:schemeClr val="bg2"/>
          </a:solidFill>
          <a:ln/>
        </p:spPr>
        <p:txBody>
          <a:bodyPr/>
          <a:p/>
        </p:txBody>
      </p:sp>
      <p:sp>
        <p:nvSpPr>
          <p:cNvPr id="10" name="Text 8"/>
          <p:cNvSpPr txBox="1"/>
          <p:nvPr/>
        </p:nvSpPr>
        <p:spPr>
          <a:xfrm>
            <a:off x="528066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Random Forest</a:t>
            </a:r>
            <a:endParaRPr lang="en-US" sz="1800" dirty="0"/>
          </a:p>
        </p:txBody>
      </p:sp>
      <p:sp>
        <p:nvSpPr>
          <p:cNvPr id="11" name="Text 9"/>
          <p:cNvSpPr txBox="1"/>
          <p:nvPr/>
        </p:nvSpPr>
        <p:spPr>
          <a:xfrm>
            <a:off x="528066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300 trees, min leaf 5</a:t>
            </a:r>
            <a:endParaRPr lang="en-US" sz="1300" dirty="0"/>
          </a:p>
        </p:txBody>
      </p:sp>
      <p:sp>
        <p:nvSpPr>
          <p:cNvPr id="12" name="model-3"/>
          <p:cNvSpPr/>
          <p:nvPr/>
        </p:nvSpPr>
        <p:spPr>
          <a:xfrm>
            <a:off x="7372350" y="1463040"/>
            <a:ext cx="2057400" cy="1600200"/>
          </a:xfrm>
          <a:prstGeom prst="roundRect">
            <a:avLst>
              <a:gd name="adj" fmla="val 4571"/>
            </a:avLst>
          </a:prstGeom>
          <a:solidFill>
            <a:schemeClr val="bg2"/>
          </a:solidFill>
          <a:ln/>
        </p:spPr>
        <p:txBody>
          <a:bodyPr/>
          <a:p/>
        </p:txBody>
      </p:sp>
      <p:sp>
        <p:nvSpPr>
          <p:cNvPr id="13" name="Text 11"/>
          <p:cNvSpPr txBox="1"/>
          <p:nvPr/>
        </p:nvSpPr>
        <p:spPr>
          <a:xfrm>
            <a:off x="755523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MLP</a:t>
            </a:r>
            <a:endParaRPr lang="en-US" sz="1800" dirty="0"/>
          </a:p>
        </p:txBody>
      </p:sp>
      <p:sp>
        <p:nvSpPr>
          <p:cNvPr id="14" name="Text 12"/>
          <p:cNvSpPr txBox="1"/>
          <p:nvPr/>
        </p:nvSpPr>
        <p:spPr>
          <a:xfrm>
            <a:off x="755523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Hidden layers 64 → 32, early stopping</a:t>
            </a:r>
            <a:endParaRPr lang="en-US" sz="1300" dirty="0"/>
          </a:p>
        </p:txBody>
      </p:sp>
      <p:sp>
        <p:nvSpPr>
          <p:cNvPr id="15" name="model-4"/>
          <p:cNvSpPr/>
          <p:nvPr/>
        </p:nvSpPr>
        <p:spPr>
          <a:xfrm>
            <a:off x="9646920" y="1463040"/>
            <a:ext cx="2057400" cy="1600200"/>
          </a:xfrm>
          <a:prstGeom prst="roundRect">
            <a:avLst>
              <a:gd name="adj" fmla="val 4571"/>
            </a:avLst>
          </a:prstGeom>
          <a:solidFill>
            <a:schemeClr val="bg2"/>
          </a:solidFill>
          <a:ln/>
        </p:spPr>
        <p:txBody>
          <a:bodyPr/>
          <a:p/>
        </p:txBody>
      </p:sp>
      <p:sp>
        <p:nvSpPr>
          <p:cNvPr id="16" name="Text 14"/>
          <p:cNvSpPr txBox="1"/>
          <p:nvPr/>
        </p:nvSpPr>
        <p:spPr>
          <a:xfrm>
            <a:off x="982980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TabNet</a:t>
            </a:r>
            <a:endParaRPr lang="en-US" sz="1800" dirty="0"/>
          </a:p>
        </p:txBody>
      </p:sp>
      <p:sp>
        <p:nvSpPr>
          <p:cNvPr id="17" name="Text 15"/>
          <p:cNvSpPr txBox="1"/>
          <p:nvPr/>
        </p:nvSpPr>
        <p:spPr>
          <a:xfrm>
            <a:off x="982980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Attentive deep model for tabular data</a:t>
            </a:r>
            <a:endParaRPr lang="en-US" sz="1300" dirty="0"/>
          </a:p>
        </p:txBody>
      </p:sp>
      <p:sp>
        <p:nvSpPr>
          <p:cNvPr id="18" name="icon-bg-bullseye"/>
          <p:cNvSpPr/>
          <p:nvPr/>
        </p:nvSpPr>
        <p:spPr>
          <a:xfrm>
            <a:off x="548640" y="3886200"/>
            <a:ext cx="594360" cy="594360"/>
          </a:xfrm>
          <a:prstGeom prst="ellipse">
            <a:avLst/>
          </a:prstGeom>
          <a:solidFill>
            <a:schemeClr val="accent1"/>
          </a:solidFill>
          <a:ln/>
        </p:spPr>
        <p:txBody>
          <a:bodyPr/>
          <a:p/>
        </p:txBody>
      </p:sp>
      <p:pic>
        <p:nvPicPr>
          <p:cNvPr id="19" name="icon-bullseye" descr="preencoded.png">    </p:cNvPr>
          <p:cNvPicPr>
            <a:picLocks noChangeAspect="1"/>
          </p:cNvPicPr>
          <p:nvPr/>
        </p:nvPicPr>
        <p:blipFill>
          <a:blip r:embed="rId1"/>
          <a:stretch>
            <a:fillRect/>
          </a:stretch>
        </p:blipFill>
        <p:spPr>
          <a:xfrm>
            <a:off x="697230" y="4034790"/>
            <a:ext cx="297180" cy="297180"/>
          </a:xfrm>
          <a:prstGeom prst="rect">
            <a:avLst/>
          </a:prstGeom>
        </p:spPr>
      </p:pic>
      <p:sp>
        <p:nvSpPr>
          <p:cNvPr id="20" name="Text 17"/>
          <p:cNvSpPr txBox="1"/>
          <p:nvPr/>
        </p:nvSpPr>
        <p:spPr>
          <a:xfrm>
            <a:off x="1280160"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Select model</a:t>
            </a:r>
            <a:endParaRPr lang="en-US" sz="1700" dirty="0"/>
          </a:p>
        </p:txBody>
      </p:sp>
      <p:sp>
        <p:nvSpPr>
          <p:cNvPr id="21" name="Text 18"/>
          <p:cNvSpPr txBox="1"/>
          <p:nvPr/>
        </p:nvSpPr>
        <p:spPr>
          <a:xfrm>
            <a:off x="1280160"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by validation ROC-AUC</a:t>
            </a:r>
            <a:endParaRPr lang="en-US" sz="1300" dirty="0"/>
          </a:p>
        </p:txBody>
      </p:sp>
      <p:sp>
        <p:nvSpPr>
          <p:cNvPr id="22" name="icon-bg-sync"/>
          <p:cNvSpPr/>
          <p:nvPr/>
        </p:nvSpPr>
        <p:spPr>
          <a:xfrm>
            <a:off x="3408578" y="3886200"/>
            <a:ext cx="594360" cy="594360"/>
          </a:xfrm>
          <a:prstGeom prst="ellipse">
            <a:avLst/>
          </a:prstGeom>
          <a:solidFill>
            <a:schemeClr val="accent1"/>
          </a:solidFill>
          <a:ln/>
        </p:spPr>
        <p:txBody>
          <a:bodyPr/>
          <a:p/>
        </p:txBody>
      </p:sp>
      <p:pic>
        <p:nvPicPr>
          <p:cNvPr id="23" name="icon-sync" descr="preencoded.png">    </p:cNvPr>
          <p:cNvPicPr>
            <a:picLocks noChangeAspect="1"/>
          </p:cNvPicPr>
          <p:nvPr/>
        </p:nvPicPr>
        <p:blipFill>
          <a:blip r:embed="rId2"/>
          <a:stretch>
            <a:fillRect/>
          </a:stretch>
        </p:blipFill>
        <p:spPr>
          <a:xfrm>
            <a:off x="3557168" y="4034790"/>
            <a:ext cx="297180" cy="297180"/>
          </a:xfrm>
          <a:prstGeom prst="rect">
            <a:avLst/>
          </a:prstGeom>
        </p:spPr>
      </p:pic>
      <p:sp>
        <p:nvSpPr>
          <p:cNvPr id="24" name="Text 20"/>
          <p:cNvSpPr txBox="1"/>
          <p:nvPr/>
        </p:nvSpPr>
        <p:spPr>
          <a:xfrm>
            <a:off x="4140098"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Pick threshold</a:t>
            </a:r>
            <a:endParaRPr lang="en-US" sz="1700" dirty="0"/>
          </a:p>
        </p:txBody>
      </p:sp>
      <p:sp>
        <p:nvSpPr>
          <p:cNvPr id="25" name="Text 21"/>
          <p:cNvSpPr txBox="1"/>
          <p:nvPr/>
        </p:nvSpPr>
        <p:spPr>
          <a:xfrm>
            <a:off x="4140098"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maximise validation macro-F1</a:t>
            </a:r>
            <a:endParaRPr lang="en-US" sz="1300" dirty="0"/>
          </a:p>
        </p:txBody>
      </p:sp>
      <p:sp>
        <p:nvSpPr>
          <p:cNvPr id="26" name="icon-bg-layers"/>
          <p:cNvSpPr/>
          <p:nvPr/>
        </p:nvSpPr>
        <p:spPr>
          <a:xfrm>
            <a:off x="6268517" y="3886200"/>
            <a:ext cx="594360" cy="594360"/>
          </a:xfrm>
          <a:prstGeom prst="ellipse">
            <a:avLst/>
          </a:prstGeom>
          <a:solidFill>
            <a:schemeClr val="accent1"/>
          </a:solidFill>
          <a:ln/>
        </p:spPr>
        <p:txBody>
          <a:bodyPr/>
          <a:p/>
        </p:txBody>
      </p:sp>
      <p:pic>
        <p:nvPicPr>
          <p:cNvPr id="27" name="icon-layers" descr="preencoded.png">    </p:cNvPr>
          <p:cNvPicPr>
            <a:picLocks noChangeAspect="1"/>
          </p:cNvPicPr>
          <p:nvPr/>
        </p:nvPicPr>
        <p:blipFill>
          <a:blip r:embed="rId3"/>
          <a:stretch>
            <a:fillRect/>
          </a:stretch>
        </p:blipFill>
        <p:spPr>
          <a:xfrm>
            <a:off x="6417107" y="4034790"/>
            <a:ext cx="297180" cy="297180"/>
          </a:xfrm>
          <a:prstGeom prst="rect">
            <a:avLst/>
          </a:prstGeom>
        </p:spPr>
      </p:pic>
      <p:sp>
        <p:nvSpPr>
          <p:cNvPr id="28" name="Text 23"/>
          <p:cNvSpPr txBox="1"/>
          <p:nvPr/>
        </p:nvSpPr>
        <p:spPr>
          <a:xfrm>
            <a:off x="7000037"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Calibrate</a:t>
            </a:r>
            <a:endParaRPr lang="en-US" sz="1700" dirty="0"/>
          </a:p>
        </p:txBody>
      </p:sp>
      <p:sp>
        <p:nvSpPr>
          <p:cNvPr id="29" name="Text 24"/>
          <p:cNvSpPr txBox="1"/>
          <p:nvPr/>
        </p:nvSpPr>
        <p:spPr>
          <a:xfrm>
            <a:off x="7000037"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sigmoid on validation; base model frozen</a:t>
            </a:r>
            <a:endParaRPr lang="en-US" sz="1300" dirty="0"/>
          </a:p>
        </p:txBody>
      </p:sp>
      <p:sp>
        <p:nvSpPr>
          <p:cNvPr id="30" name="icon-bg-check"/>
          <p:cNvSpPr/>
          <p:nvPr/>
        </p:nvSpPr>
        <p:spPr>
          <a:xfrm>
            <a:off x="9128455" y="3886200"/>
            <a:ext cx="594360" cy="594360"/>
          </a:xfrm>
          <a:prstGeom prst="ellipse">
            <a:avLst/>
          </a:prstGeom>
          <a:solidFill>
            <a:schemeClr val="tx2"/>
          </a:solidFill>
          <a:ln/>
        </p:spPr>
        <p:txBody>
          <a:bodyPr/>
          <a:p/>
        </p:txBody>
      </p:sp>
      <p:pic>
        <p:nvPicPr>
          <p:cNvPr id="31" name="icon-check" descr="preencoded.png">    </p:cNvPr>
          <p:cNvPicPr>
            <a:picLocks noChangeAspect="1"/>
          </p:cNvPicPr>
          <p:nvPr/>
        </p:nvPicPr>
        <p:blipFill>
          <a:blip r:embed="rId4"/>
          <a:stretch>
            <a:fillRect/>
          </a:stretch>
        </p:blipFill>
        <p:spPr>
          <a:xfrm>
            <a:off x="9277045" y="4034790"/>
            <a:ext cx="297180" cy="297180"/>
          </a:xfrm>
          <a:prstGeom prst="rect">
            <a:avLst/>
          </a:prstGeom>
        </p:spPr>
      </p:pic>
      <p:sp>
        <p:nvSpPr>
          <p:cNvPr id="32" name="Text 26"/>
          <p:cNvSpPr txBox="1"/>
          <p:nvPr/>
        </p:nvSpPr>
        <p:spPr>
          <a:xfrm>
            <a:off x="9859975"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Test once</a:t>
            </a:r>
            <a:endParaRPr lang="en-US" sz="1700" dirty="0"/>
          </a:p>
        </p:txBody>
      </p:sp>
      <p:sp>
        <p:nvSpPr>
          <p:cNvPr id="33" name="Text 27"/>
          <p:cNvSpPr txBox="1"/>
          <p:nvPr/>
        </p:nvSpPr>
        <p:spPr>
          <a:xfrm>
            <a:off x="9859975"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exploratory holdout</a:t>
            </a:r>
            <a:endParaRPr lang="en-US" sz="1300" dirty="0"/>
          </a:p>
        </p:txBody>
      </p:sp>
      <p:sp>
        <p:nvSpPr>
          <p:cNvPr id="34" name="Text 28"/>
          <p:cNvSpPr txBox="1"/>
          <p:nvPr/>
        </p:nvSpPr>
        <p:spPr>
          <a:xfrm>
            <a:off x="548640" y="5394960"/>
            <a:ext cx="11094415" cy="365760"/>
          </a:xfrm>
          <a:prstGeom prst="rect">
            <a:avLst/>
          </a:prstGeom>
          <a:noFill/>
          <a:ln/>
        </p:spPr>
        <p:txBody>
          <a:bodyPr wrap="square" lIns="0" tIns="0" rIns="0" bIns="0" rtlCol="0" anchor="t"/>
          <a:lstStyle/>
          <a:p>
            <a:pPr indent="0" marL="0">
              <a:buNone/>
            </a:pPr>
            <a:r>
              <a:rPr lang="en-US" sz="1500" i="1" dirty="0">
                <a:solidFill>
                  <a:schemeClr val="accent4"/>
                </a:solidFill>
              </a:rPr>
              <a:t>Every model sees the same rows and the same preprocessing, trained on CPU with seed 42.</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How MLP and TabNet work</a:t>
            </a:r>
            <a:endParaRPr lang="en-US" sz="3400" dirty="0"/>
          </a:p>
        </p:txBody>
      </p:sp>
      <p:sp>
        <p:nvSpPr>
          <p:cNvPr id="3" name="icon-bg-warn"/>
          <p:cNvSpPr/>
          <p:nvPr/>
        </p:nvSpPr>
        <p:spPr>
          <a:xfrm>
            <a:off x="548640" y="1417320"/>
            <a:ext cx="548640" cy="548640"/>
          </a:xfrm>
          <a:prstGeom prst="ellipse">
            <a:avLst/>
          </a:prstGeom>
          <a:solidFill>
            <a:schemeClr val="accent3"/>
          </a:solidFill>
          <a:ln/>
        </p:spPr>
        <p:txBody>
          <a:bodyPr/>
          <a:p/>
        </p:txBody>
      </p:sp>
      <p:pic>
        <p:nvPicPr>
          <p:cNvPr id="4" name="icon-warn" descr="preencoded.png">    </p:cNvPr>
          <p:cNvPicPr>
            <a:picLocks noChangeAspect="1"/>
          </p:cNvPicPr>
          <p:nvPr/>
        </p:nvPicPr>
        <p:blipFill>
          <a:blip r:embed="rId5"/>
          <a:stretch>
            <a:fillRect/>
          </a:stretch>
        </p:blipFill>
        <p:spPr>
          <a:xfrm>
            <a:off x="685800" y="1554480"/>
            <a:ext cx="274320" cy="274320"/>
          </a:xfrm>
          <a:prstGeom prst="rect">
            <a:avLst/>
          </a:prstGeom>
        </p:spPr>
      </p:pic>
      <p:sp>
        <p:nvSpPr>
          <p:cNvPr id="5" name="Text 2"/>
          <p:cNvSpPr txBox="1"/>
          <p:nvPr/>
        </p:nvSpPr>
        <p:spPr>
          <a:xfrm>
            <a:off x="1280160"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MLP (multilayer perceptron)</a:t>
            </a:r>
            <a:endParaRPr lang="en-US" sz="2000" dirty="0"/>
          </a:p>
        </p:txBody>
      </p:sp>
      <p:sp>
        <p:nvSpPr>
          <p:cNvPr id="6" name="Text 3"/>
          <p:cNvSpPr txBox="1"/>
          <p:nvPr/>
        </p:nvSpPr>
        <p:spPr>
          <a:xfrm>
            <a:off x="548640" y="2011680"/>
            <a:ext cx="5318608" cy="2377440"/>
          </a:xfrm>
          <a:prstGeom prst="rect">
            <a:avLst/>
          </a:prstGeom>
          <a:noFill/>
          <a:ln/>
        </p:spPr>
        <p:txBody>
          <a:bodyPr wrap="square" lIns="0" tIns="0" rIns="0" bIns="0" rtlCol="0" anchor="t"/>
          <a:lstStyle/>
          <a:p>
            <a:pPr marL="203200" indent="-203200">
              <a:spcAft>
                <a:spcPts val="400"/>
              </a:spcAft>
              <a:buSzPct val="100000"/>
              <a:buChar char="•"/>
            </a:pPr>
            <a:r>
              <a:rPr lang="en-US" sz="1300" dirty="0">
                <a:solidFill>
                  <a:schemeClr val="tx1"/>
                </a:solidFill>
              </a:rPr>
              <a:t>Fully connected layers: every neuron sees every input at once</a:t>
            </a:r>
            <a:endParaRPr lang="en-US" sz="1500" dirty="0"/>
          </a:p>
          <a:p>
            <a:pPr marL="203200" indent="-203200">
              <a:spcAft>
                <a:spcPts val="400"/>
              </a:spcAft>
              <a:buSzPct val="100000"/>
              <a:buChar char="•"/>
            </a:pPr>
            <a:r>
              <a:rPr lang="en-US" sz="1300" dirty="0">
                <a:solidFill>
                  <a:schemeClr val="tx1"/>
                </a:solidFill>
              </a:rPr>
              <a:t>Our network: inputs → 64 ReLU → 32 ReLU → sigmoid P(Won)</a:t>
            </a:r>
            <a:endParaRPr lang="en-US" sz="1500" dirty="0"/>
          </a:p>
          <a:p>
            <a:pPr marL="203200" indent="-203200">
              <a:spcAft>
                <a:spcPts val="400"/>
              </a:spcAft>
              <a:buSzPct val="100000"/>
              <a:buChar char="•"/>
            </a:pPr>
            <a:r>
              <a:rPr lang="en-US" sz="1300" dirty="0">
                <a:solidFill>
                  <a:schemeClr val="tx1"/>
                </a:solidFill>
              </a:rPr>
              <a:t>Feature interactions are learned implicitly inside weighted sums</a:t>
            </a:r>
            <a:endParaRPr lang="en-US" sz="1500" dirty="0"/>
          </a:p>
          <a:p>
            <a:pPr marL="203200" indent="-203200">
              <a:spcAft>
                <a:spcPts val="400"/>
              </a:spcAft>
              <a:buSzPct val="100000"/>
              <a:buChar char="•"/>
            </a:pPr>
            <a:r>
              <a:rPr lang="en-US" sz="1300" dirty="0">
                <a:solidFill>
                  <a:schemeClr val="tx1"/>
                </a:solidFill>
              </a:rPr>
              <a:t>Regularised by L2 weight decay and early stopping</a:t>
            </a:r>
            <a:endParaRPr lang="en-US" sz="1500" dirty="0"/>
          </a:p>
          <a:p>
            <a:pPr marL="203200" indent="-203200">
              <a:spcAft>
                <a:spcPts val="400"/>
              </a:spcAft>
              <a:buSzPct val="100000"/>
              <a:buChar char="•"/>
            </a:pPr>
            <a:r>
              <a:rPr lang="en-US" sz="1300" dirty="0">
                <a:solidFill>
                  <a:schemeClr val="tx1"/>
                </a:solidFill>
              </a:rPr>
              <a:t>No built-in view of which inputs matter: needs post-hoc methods (permutation, SHAP)</a:t>
            </a:r>
            <a:endParaRPr lang="en-US" sz="1500" dirty="0"/>
          </a:p>
        </p:txBody>
      </p:sp>
      <p:sp>
        <p:nvSpPr>
          <p:cNvPr id="7" name="icon-bg-search"/>
          <p:cNvSpPr/>
          <p:nvPr/>
        </p:nvSpPr>
        <p:spPr>
          <a:xfrm>
            <a:off x="6324448" y="1417320"/>
            <a:ext cx="548640" cy="548640"/>
          </a:xfrm>
          <a:prstGeom prst="ellipse">
            <a:avLst/>
          </a:prstGeom>
          <a:solidFill>
            <a:schemeClr val="accent1"/>
          </a:solidFill>
          <a:ln/>
        </p:spPr>
        <p:txBody>
          <a:bodyPr/>
          <a:p/>
        </p:txBody>
      </p:sp>
      <p:pic>
        <p:nvPicPr>
          <p:cNvPr id="8" name="icon-search" descr="preencoded.png">    </p:cNvPr>
          <p:cNvPicPr>
            <a:picLocks noChangeAspect="1"/>
          </p:cNvPicPr>
          <p:nvPr/>
        </p:nvPicPr>
        <p:blipFill>
          <a:blip r:embed="rId2"/>
          <a:stretch>
            <a:fillRect/>
          </a:stretch>
        </p:blipFill>
        <p:spPr>
          <a:xfrm>
            <a:off x="6461608" y="1554480"/>
            <a:ext cx="274320" cy="274320"/>
          </a:xfrm>
          <a:prstGeom prst="rect">
            <a:avLst/>
          </a:prstGeom>
        </p:spPr>
      </p:pic>
      <p:sp>
        <p:nvSpPr>
          <p:cNvPr id="9" name="Text 5"/>
          <p:cNvSpPr txBox="1"/>
          <p:nvPr/>
        </p:nvSpPr>
        <p:spPr>
          <a:xfrm>
            <a:off x="7055968"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TabNet (Arik &amp; Pfister, 2021)</a:t>
            </a:r>
            <a:endParaRPr lang="en-US" sz="2000" dirty="0"/>
          </a:p>
        </p:txBody>
      </p:sp>
      <p:sp>
        <p:nvSpPr>
          <p:cNvPr id="10" name="Text 6"/>
          <p:cNvSpPr txBox="1"/>
          <p:nvPr/>
        </p:nvSpPr>
        <p:spPr>
          <a:xfrm>
            <a:off x="6324448" y="2011680"/>
            <a:ext cx="5318608" cy="2377440"/>
          </a:xfrm>
          <a:prstGeom prst="rect">
            <a:avLst/>
          </a:prstGeom>
          <a:noFill/>
          <a:ln/>
        </p:spPr>
        <p:txBody>
          <a:bodyPr wrap="square" lIns="0" tIns="0" rIns="0" bIns="0" rtlCol="0" anchor="t"/>
          <a:lstStyle/>
          <a:p>
            <a:pPr marL="203200" indent="-203200">
              <a:spcAft>
                <a:spcPts val="400"/>
              </a:spcAft>
              <a:buSzPct val="100000"/>
              <a:buChar char="•"/>
            </a:pPr>
            <a:r>
              <a:rPr lang="en-US" sz="1300" dirty="0">
                <a:solidFill>
                  <a:schemeClr val="tx1"/>
                </a:solidFill>
              </a:rPr>
              <a:t>Several sequential decision steps (we use 3)</a:t>
            </a:r>
            <a:endParaRPr lang="en-US" sz="1500" dirty="0"/>
          </a:p>
          <a:p>
            <a:pPr marL="203200" indent="-203200">
              <a:spcAft>
                <a:spcPts val="400"/>
              </a:spcAft>
              <a:buSzPct val="100000"/>
              <a:buChar char="•"/>
            </a:pPr>
            <a:r>
              <a:rPr lang="en-US" sz="1300" dirty="0">
                <a:solidFill>
                  <a:schemeClr val="tx1"/>
                </a:solidFill>
              </a:rPr>
              <a:t>At each step an attentive transformer outputs a sparse mask (sparsemax) that selects a few inputs, separately for every deal</a:t>
            </a:r>
            <a:endParaRPr lang="en-US" sz="1500" dirty="0"/>
          </a:p>
          <a:p>
            <a:pPr marL="203200" indent="-203200">
              <a:spcAft>
                <a:spcPts val="400"/>
              </a:spcAft>
              <a:buSzPct val="100000"/>
              <a:buChar char="•"/>
            </a:pPr>
            <a:r>
              <a:rPr lang="en-US" sz="1300" dirty="0">
                <a:solidFill>
                  <a:schemeClr val="tx1"/>
                </a:solidFill>
              </a:rPr>
              <a:t>A feature transformer (shared + step-specific GLU blocks) processes only the selected inputs; step outputs are added up</a:t>
            </a:r>
            <a:endParaRPr lang="en-US" sz="1500" dirty="0"/>
          </a:p>
          <a:p>
            <a:pPr marL="203200" indent="-203200">
              <a:spcAft>
                <a:spcPts val="400"/>
              </a:spcAft>
              <a:buSzPct val="100000"/>
              <a:buChar char="•"/>
            </a:pPr>
            <a:r>
              <a:rPr lang="en-US" sz="1300" dirty="0">
                <a:solidFill>
                  <a:schemeClr val="tx1"/>
                </a:solidFill>
              </a:rPr>
              <a:t>A prior term discourages reusing the same input in every step; a sparsity loss keeps masks small</a:t>
            </a:r>
            <a:endParaRPr lang="en-US" sz="1500" dirty="0"/>
          </a:p>
          <a:p>
            <a:pPr marL="203200" indent="-203200">
              <a:spcAft>
                <a:spcPts val="400"/>
              </a:spcAft>
              <a:buSzPct val="100000"/>
              <a:buChar char="•"/>
            </a:pPr>
            <a:r>
              <a:rPr lang="en-US" sz="1300" dirty="0">
                <a:solidFill>
                  <a:schemeClr val="tx1"/>
                </a:solidFill>
              </a:rPr>
              <a:t>The masks are a built-in, per-deal explanation of which inputs were used</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graphicFrame>
        <p:nvGraphicFramePr>
          <p:cNvPr id="26" name="metrics-table"/>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1700784"/>
        </p:xfrm>
        <a:graphic>
          <a:graphicData uri="http://schemas.openxmlformats.org/drawingml/2006/table">
            <a:tbl>
              <a:tblPr/>
              <a:tblGrid>
                <a:gridCol w="2377440"/>
                <a:gridCol w="4023360"/>
                <a:gridCol w="4690872"/>
              </a:tblGrid>
              <a:tr h="283464">
                <a:tc>
                  <a:txBody>
                    <a:bodyPr/>
                    <a:lstStyle/>
                    <a:p>
                      <a:pPr algn="l" indent="0" marL="0">
                        <a:buNone/>
                      </a:pPr>
                      <a:r>
                        <a:rPr lang="en-US" sz="1200" b="1" dirty="0">
                          <a:solidFill>
                            <a:schemeClr val="bg1"/>
                          </a:solidFill>
                        </a:rPr>
                        <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MLP</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TabNet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283464">
                <a:tc>
                  <a:txBody>
                    <a:bodyPr/>
                    <a:lstStyle/>
                    <a:p>
                      <a:pPr algn="l" indent="0" marL="0">
                        <a:buNone/>
                      </a:pPr>
                      <a:r>
                        <a:rPr lang="en-US" sz="1200" dirty="0">
                          <a:solidFill>
                            <a:schemeClr val="tx1"/>
                          </a:solidFill>
                        </a:rPr>
                        <a:t>Which inputs are used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All inputs, in every layer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A learned subset per step, per deal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283464">
                <a:tc>
                  <a:txBody>
                    <a:bodyPr/>
                    <a:lstStyle/>
                    <a:p>
                      <a:pPr algn="l" indent="0" marL="0">
                        <a:buNone/>
                      </a:pPr>
                      <a:r>
                        <a:rPr lang="en-US" sz="1200" dirty="0">
                          <a:solidFill>
                            <a:schemeClr val="tx1"/>
                          </a:solidFill>
                        </a:rPr>
                        <a:t>How it decides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One dense, smooth function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Sequential, tree-like feature selection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283464">
                <a:tc>
                  <a:txBody>
                    <a:bodyPr/>
                    <a:lstStyle/>
                    <a:p>
                      <a:pPr algn="l" indent="0" marL="0">
                        <a:buNone/>
                      </a:pPr>
                      <a:r>
                        <a:rPr lang="en-US" sz="1200" dirty="0">
                          <a:solidFill>
                            <a:schemeClr val="tx1"/>
                          </a:solidFill>
                        </a:rPr>
                        <a:t>Explanation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Post-hoc only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Attention masks built in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283464">
                <a:tc>
                  <a:txBody>
                    <a:bodyPr/>
                    <a:lstStyle/>
                    <a:p>
                      <a:pPr algn="l" indent="0" marL="0">
                        <a:buNone/>
                      </a:pPr>
                      <a:r>
                        <a:rPr lang="en-US" sz="1200" dirty="0">
                          <a:solidFill>
                            <a:schemeClr val="tx1"/>
                          </a:solidFill>
                        </a:rPr>
                        <a:t>Hyperparameters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Few (layers, width, decay)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More (steps, widths, γ, sparsity, virtual batch)</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283464">
                <a:tc>
                  <a:txBody>
                    <a:bodyPr/>
                    <a:lstStyle/>
                    <a:p>
                      <a:pPr algn="l" indent="0" marL="0">
                        <a:buNone/>
                      </a:pPr>
                      <a:r>
                        <a:rPr lang="en-US" sz="1200" dirty="0">
                          <a:solidFill>
                            <a:schemeClr val="tx1"/>
                          </a:solidFill>
                        </a:rPr>
                        <a:t>Training cost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Light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Heavier: attention and several steps per update</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Why simulate? Original vs simulated data</a:t>
            </a:r>
            <a:endParaRPr lang="en-US" sz="3400" dirty="0"/>
          </a:p>
        </p:txBody>
      </p:sp>
      <p:sp>
        <p:nvSpPr>
          <p:cNvPr id="3" name="icon-bg-warn"/>
          <p:cNvSpPr/>
          <p:nvPr/>
        </p:nvSpPr>
        <p:spPr>
          <a:xfrm>
            <a:off x="548640" y="1417320"/>
            <a:ext cx="548640" cy="548640"/>
          </a:xfrm>
          <a:prstGeom prst="ellipse">
            <a:avLst/>
          </a:prstGeom>
          <a:solidFill>
            <a:schemeClr val="accent3"/>
          </a:solidFill>
          <a:ln/>
        </p:spPr>
        <p:txBody>
          <a:bodyPr/>
          <a:p/>
        </p:txBody>
      </p:sp>
      <p:pic>
        <p:nvPicPr>
          <p:cNvPr id="4" name="icon-warn" descr="preencoded.png">    </p:cNvPr>
          <p:cNvPicPr>
            <a:picLocks noChangeAspect="1"/>
          </p:cNvPicPr>
          <p:nvPr/>
        </p:nvPicPr>
        <p:blipFill>
          <a:blip r:embed="rId1"/>
          <a:stretch>
            <a:fillRect/>
          </a:stretch>
        </p:blipFill>
        <p:spPr>
          <a:xfrm>
            <a:off x="685800" y="1554480"/>
            <a:ext cx="274320" cy="274320"/>
          </a:xfrm>
          <a:prstGeom prst="rect">
            <a:avLst/>
          </a:prstGeom>
        </p:spPr>
      </p:pic>
      <p:sp>
        <p:nvSpPr>
          <p:cNvPr id="5" name="Text 2"/>
          <p:cNvSpPr txBox="1"/>
          <p:nvPr/>
        </p:nvSpPr>
        <p:spPr>
          <a:xfrm>
            <a:off x="1280160"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Original data: little to learn from</a:t>
            </a:r>
            <a:endParaRPr lang="en-US" sz="2000" dirty="0"/>
          </a:p>
        </p:txBody>
      </p:sp>
      <p:sp>
        <p:nvSpPr>
          <p:cNvPr id="6" name="Text 3"/>
          <p:cNvSpPr txBox="1"/>
          <p:nvPr/>
        </p:nvSpPr>
        <p:spPr>
          <a:xfrm>
            <a:off x="548640" y="2011680"/>
            <a:ext cx="5318608" cy="21031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Win rate barely changes across groups (products 0.60–0.65)</a:t>
            </a:r>
            <a:endParaRPr lang="en-US" sz="1500" dirty="0"/>
          </a:p>
          <a:p>
            <a:pPr marL="203200" indent="-203200">
              <a:spcAft>
                <a:spcPts val="800"/>
              </a:spcAft>
              <a:buSzPct val="100000"/>
              <a:buChar char="•"/>
            </a:pPr>
            <a:r>
              <a:rPr lang="en-US" sz="1500" dirty="0">
                <a:solidFill>
                  <a:schemeClr val="tx1"/>
                </a:solidFill>
              </a:rPr>
              <a:t>No deal-level signals: no discount, contacts, budget or competitor</a:t>
            </a:r>
            <a:endParaRPr lang="en-US" sz="1500" dirty="0"/>
          </a:p>
          <a:p>
            <a:pPr marL="203200" indent="-203200">
              <a:spcAft>
                <a:spcPts val="800"/>
              </a:spcAft>
              <a:buSzPct val="100000"/>
              <a:buChar char="•"/>
            </a:pPr>
            <a:r>
              <a:rPr lang="en-US" sz="1500" dirty="0">
                <a:solidFill>
                  <a:schemeClr val="tx1"/>
                </a:solidFill>
              </a:rPr>
              <a:t>Only 2,975 training deals after the time-based split</a:t>
            </a:r>
            <a:endParaRPr lang="en-US" sz="1500" dirty="0"/>
          </a:p>
          <a:p>
            <a:pPr marL="203200" indent="-203200">
              <a:spcAft>
                <a:spcPts val="800"/>
              </a:spcAft>
              <a:buSzPct val="100000"/>
              <a:buChar char="•"/>
            </a:pPr>
            <a:r>
              <a:rPr lang="en-US" sz="1500" dirty="0">
                <a:solidFill>
                  <a:schemeClr val="tx1"/>
                </a:solidFill>
              </a:rPr>
              <a:t>68% of open deals have no account; no closed deal is missing one</a:t>
            </a:r>
            <a:endParaRPr lang="en-US" sz="1500" dirty="0"/>
          </a:p>
        </p:txBody>
      </p:sp>
      <p:sp>
        <p:nvSpPr>
          <p:cNvPr id="7" name="icon-bg-search"/>
          <p:cNvSpPr/>
          <p:nvPr/>
        </p:nvSpPr>
        <p:spPr>
          <a:xfrm>
            <a:off x="6324448" y="1417320"/>
            <a:ext cx="548640" cy="548640"/>
          </a:xfrm>
          <a:prstGeom prst="ellipse">
            <a:avLst/>
          </a:prstGeom>
          <a:solidFill>
            <a:schemeClr val="accent1"/>
          </a:solidFill>
          <a:ln/>
        </p:spPr>
        <p:txBody>
          <a:bodyPr/>
          <a:p/>
        </p:txBody>
      </p:sp>
      <p:pic>
        <p:nvPicPr>
          <p:cNvPr id="8" name="icon-search" descr="preencoded.png">    </p:cNvPr>
          <p:cNvPicPr>
            <a:picLocks noChangeAspect="1"/>
          </p:cNvPicPr>
          <p:nvPr/>
        </p:nvPicPr>
        <p:blipFill>
          <a:blip r:embed="rId5"/>
          <a:stretch>
            <a:fillRect/>
          </a:stretch>
        </p:blipFill>
        <p:spPr>
          <a:xfrm>
            <a:off x="6461608" y="1554480"/>
            <a:ext cx="274320" cy="274320"/>
          </a:xfrm>
          <a:prstGeom prst="rect">
            <a:avLst/>
          </a:prstGeom>
        </p:spPr>
      </p:pic>
      <p:sp>
        <p:nvSpPr>
          <p:cNvPr id="9" name="Text 5"/>
          <p:cNvSpPr txBox="1"/>
          <p:nvPr/>
        </p:nvSpPr>
        <p:spPr>
          <a:xfrm>
            <a:off x="7055968"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Simulated data: signal we control</a:t>
            </a:r>
            <a:endParaRPr lang="en-US" sz="2000" dirty="0"/>
          </a:p>
        </p:txBody>
      </p:sp>
      <p:sp>
        <p:nvSpPr>
          <p:cNvPr id="10" name="Text 6"/>
          <p:cNvSpPr txBox="1"/>
          <p:nvPr/>
        </p:nvSpPr>
        <p:spPr>
          <a:xfrm>
            <a:off x="6324448" y="2011680"/>
            <a:ext cx="5318608" cy="21031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A planted win formula, so the true win probability is known (oracle)</a:t>
            </a:r>
            <a:endParaRPr lang="en-US" sz="1500" dirty="0"/>
          </a:p>
          <a:p>
            <a:pPr marL="203200" indent="-203200">
              <a:spcAft>
                <a:spcPts val="800"/>
              </a:spcAft>
              <a:buSzPct val="100000"/>
              <a:buChar char="•"/>
            </a:pPr>
            <a:r>
              <a:rPr lang="en-US" sz="1500" dirty="0">
                <a:solidFill>
                  <a:schemeClr val="tx1"/>
                </a:solidFill>
              </a:rPr>
              <a:t>Deal-level features: sector match, industry trend, competitor</a:t>
            </a:r>
            <a:endParaRPr lang="en-US" sz="1500" dirty="0"/>
          </a:p>
          <a:p>
            <a:pPr marL="203200" indent="-203200">
              <a:spcAft>
                <a:spcPts val="800"/>
              </a:spcAft>
              <a:buSzPct val="100000"/>
              <a:buChar char="•"/>
            </a:pPr>
            <a:r>
              <a:rPr lang="en-US" sz="1500" dirty="0">
                <a:solidFill>
                  <a:schemeClr val="tx1"/>
                </a:solidFill>
              </a:rPr>
              <a:t>100,000 deals, same format, same 85 accounts and dates</a:t>
            </a:r>
            <a:endParaRPr lang="en-US" sz="1500" dirty="0"/>
          </a:p>
          <a:p>
            <a:pPr marL="203200" indent="-203200">
              <a:spcAft>
                <a:spcPts val="800"/>
              </a:spcAft>
              <a:buSzPct val="100000"/>
              <a:buChar char="•"/>
            </a:pPr>
            <a:r>
              <a:rPr lang="en-US" sz="1500" dirty="0">
                <a:solidFill>
                  <a:schemeClr val="tx1"/>
                </a:solidFill>
              </a:rPr>
              <a:t>Signal strength and interaction type can be adjusted</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graphicFrame>
        <p:nvGraphicFramePr>
          <p:cNvPr id="26" name="metrics-table"/>
          <p:cNvGraphicFramePr>
            <a:graphicFrameLocks noGrp="1"/>
          </p:cNvGraphicFramePr>
          <p:nvPr>
            <p:extLst>
              <p:ext uri="{D42A27DB-BD31-4B8C-83A1-F6EECF244321}">
                <p14:modId xmlns:p14="http://schemas.microsoft.com/office/powerpoint/2010/main" val="1579011935"/>
              </p:ext>
            </p:extLst>
          </p:nvPr>
        </p:nvGraphicFramePr>
        <p:xfrm>
          <a:off x="548640" y="4251960"/>
          <a:ext cx="11091672" cy="1737360"/>
        </p:xfrm>
        <a:graphic>
          <a:graphicData uri="http://schemas.openxmlformats.org/drawingml/2006/table">
            <a:tbl>
              <a:tblPr/>
              <a:tblGrid>
                <a:gridCol w="4142232"/>
                <a:gridCol w="3474720"/>
                <a:gridCol w="3474720"/>
              </a:tblGrid>
              <a:tr h="347472">
                <a:tc>
                  <a:txBody>
                    <a:bodyPr/>
                    <a:lstStyle/>
                    <a:p>
                      <a:pPr algn="l" indent="0" marL="0">
                        <a:buNone/>
                      </a:pPr>
                      <a:r>
                        <a:rPr lang="en-US" sz="1400" b="1" dirty="0">
                          <a:solidFill>
                            <a:schemeClr val="bg1"/>
                          </a:solidFill>
                        </a:rPr>
                        <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Original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Simulated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347472">
                <a:tc>
                  <a:txBody>
                    <a:bodyPr/>
                    <a:lstStyle/>
                    <a:p>
                      <a:pPr algn="l" indent="0" marL="0">
                        <a:buNone/>
                      </a:pPr>
                      <a:r>
                        <a:rPr lang="en-US" sz="1400" dirty="0">
                          <a:solidFill>
                            <a:schemeClr val="tx1"/>
                          </a:solidFill>
                        </a:rPr>
                        <a:t>Win rate across products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0.60 – 0.65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0.27 – 0.93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347472">
                <a:tc>
                  <a:txBody>
                    <a:bodyPr/>
                    <a:lstStyle/>
                    <a:p>
                      <a:pPr algn="l" indent="0" marL="0">
                        <a:buNone/>
                      </a:pPr>
                      <a:r>
                        <a:rPr lang="en-US" sz="1400" dirty="0">
                          <a:solidFill>
                            <a:schemeClr val="tx1"/>
                          </a:solidFill>
                        </a:rPr>
                        <a:t>Best single-feature 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0.56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0.76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347472">
                <a:tc>
                  <a:txBody>
                    <a:bodyPr/>
                    <a:lstStyle/>
                    <a:p>
                      <a:pPr algn="l" indent="0" marL="0">
                        <a:buNone/>
                      </a:pPr>
                      <a:r>
                        <a:rPr lang="en-US" sz="1400" dirty="0">
                          <a:solidFill>
                            <a:schemeClr val="tx1"/>
                          </a:solidFill>
                        </a:rPr>
                        <a:t>Closed deals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6,711</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71,463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347472">
                <a:tc>
                  <a:txBody>
                    <a:bodyPr/>
                    <a:lstStyle/>
                    <a:p>
                      <a:pPr algn="l" indent="0" marL="0">
                        <a:buNone/>
                      </a:pPr>
                      <a:r>
                        <a:rPr lang="en-US" sz="1400" dirty="0">
                          <a:solidFill>
                            <a:schemeClr val="tx1"/>
                          </a:solidFill>
                        </a:rPr>
                        <a:t>Best possible AUC (oracle)</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unknown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0.877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0515600" cy="12801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Scenario B: does the pipeline learn when signal exists?</a:t>
            </a:r>
            <a:endParaRPr lang="en-US" sz="4000" dirty="0"/>
          </a:p>
        </p:txBody>
      </p:sp>
      <p:sp>
        <p:nvSpPr>
          <p:cNvPr id="3" name="Text 0"/>
          <p:cNvSpPr/>
          <p:nvPr>
            <p:ph idx="101"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000" dirty="0">
                <a:solidFill>
                  <a:schemeClr val="accent5"/>
                </a:solidFill>
              </a:rPr>
              <a:t>Same loader, split, preprocessing, threshold rule and metrics on 100,000 simulated deals</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How we simulated 100,000 deals</a:t>
            </a:r>
            <a:endParaRPr lang="en-US" sz="3400" dirty="0"/>
          </a:p>
        </p:txBody>
      </p:sp>
      <p:sp>
        <p:nvSpPr>
          <p:cNvPr id="3" name="sim-col-0"/>
          <p:cNvSpPr/>
          <p:nvPr/>
        </p:nvSpPr>
        <p:spPr>
          <a:xfrm>
            <a:off x="548640" y="1417320"/>
            <a:ext cx="3429000" cy="2743200"/>
          </a:xfrm>
          <a:prstGeom prst="roundRect">
            <a:avLst>
              <a:gd name="adj" fmla="val 2667"/>
            </a:avLst>
          </a:prstGeom>
          <a:solidFill>
            <a:schemeClr val="bg2"/>
          </a:solidFill>
          <a:ln/>
        </p:spPr>
        <p:txBody>
          <a:bodyPr/>
          <a:p/>
        </p:txBody>
      </p:sp>
      <p:sp>
        <p:nvSpPr>
          <p:cNvPr id="4" name="icon-bg-table"/>
          <p:cNvSpPr/>
          <p:nvPr/>
        </p:nvSpPr>
        <p:spPr>
          <a:xfrm>
            <a:off x="822960" y="1645920"/>
            <a:ext cx="594360" cy="594360"/>
          </a:xfrm>
          <a:prstGeom prst="ellipse">
            <a:avLst/>
          </a:prstGeom>
          <a:solidFill>
            <a:schemeClr val="accent1"/>
          </a:solidFill>
          <a:ln/>
        </p:spPr>
        <p:txBody>
          <a:bodyPr/>
          <a:p/>
        </p:txBody>
      </p:sp>
      <p:pic>
        <p:nvPicPr>
          <p:cNvPr id="5" name="icon-table" descr="preencoded.png">    </p:cNvPr>
          <p:cNvPicPr>
            <a:picLocks noChangeAspect="1"/>
          </p:cNvPicPr>
          <p:nvPr/>
        </p:nvPicPr>
        <p:blipFill>
          <a:blip r:embed="rId1"/>
          <a:stretch>
            <a:fillRect/>
          </a:stretch>
        </p:blipFill>
        <p:spPr>
          <a:xfrm>
            <a:off x="971550" y="1794510"/>
            <a:ext cx="297180" cy="297180"/>
          </a:xfrm>
          <a:prstGeom prst="rect">
            <a:avLst/>
          </a:prstGeom>
        </p:spPr>
      </p:pic>
      <p:sp>
        <p:nvSpPr>
          <p:cNvPr id="6" name="Text 3"/>
          <p:cNvSpPr txBox="1"/>
          <p:nvPr/>
        </p:nvSpPr>
        <p:spPr>
          <a:xfrm>
            <a:off x="1554480"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Reused from real data</a:t>
            </a:r>
            <a:endParaRPr lang="en-US" sz="1800" dirty="0"/>
          </a:p>
        </p:txBody>
      </p:sp>
      <p:sp>
        <p:nvSpPr>
          <p:cNvPr id="7" name="Text 4"/>
          <p:cNvSpPr txBox="1"/>
          <p:nvPr/>
        </p:nvSpPr>
        <p:spPr>
          <a:xfrm>
            <a:off x="822960"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85 accounts, 30 agents, 7 products</a:t>
            </a:r>
            <a:endParaRPr lang="en-US" sz="1500" dirty="0"/>
          </a:p>
          <a:p>
            <a:pPr marL="203200" indent="-203200">
              <a:spcAft>
                <a:spcPts val="800"/>
              </a:spcAft>
              <a:buSzPct val="100000"/>
              <a:buChar char="•"/>
            </a:pPr>
            <a:r>
              <a:rPr lang="en-US" sz="1600" dirty="0">
                <a:solidFill>
                  <a:schemeClr val="tx1"/>
                </a:solidFill>
              </a:rPr>
              <a:t>Date range and 63% win rate</a:t>
            </a:r>
            <a:endParaRPr lang="en-US" sz="1500" dirty="0"/>
          </a:p>
          <a:p>
            <a:pPr marL="203200" indent="-203200">
              <a:spcAft>
                <a:spcPts val="800"/>
              </a:spcAft>
              <a:buSzPct val="100000"/>
              <a:buChar char="•"/>
            </a:pPr>
            <a:r>
              <a:rPr lang="en-US" sz="1600" dirty="0">
                <a:solidFill>
                  <a:schemeClr val="tx1"/>
                </a:solidFill>
              </a:rPr>
              <a:t>Share of open and Prospecting deals</a:t>
            </a:r>
            <a:endParaRPr lang="en-US" sz="1500" dirty="0"/>
          </a:p>
        </p:txBody>
      </p:sp>
      <p:sp>
        <p:nvSpPr>
          <p:cNvPr id="8" name="sim-col-1"/>
          <p:cNvSpPr/>
          <p:nvPr/>
        </p:nvSpPr>
        <p:spPr>
          <a:xfrm>
            <a:off x="4381348" y="1417320"/>
            <a:ext cx="3429000" cy="2743200"/>
          </a:xfrm>
          <a:prstGeom prst="roundRect">
            <a:avLst>
              <a:gd name="adj" fmla="val 2667"/>
            </a:avLst>
          </a:prstGeom>
          <a:solidFill>
            <a:schemeClr val="bg2"/>
          </a:solidFill>
          <a:ln/>
        </p:spPr>
        <p:txBody>
          <a:bodyPr/>
          <a:p/>
        </p:txBody>
      </p:sp>
      <p:sp>
        <p:nvSpPr>
          <p:cNvPr id="9" name="icon-bg-dice"/>
          <p:cNvSpPr/>
          <p:nvPr/>
        </p:nvSpPr>
        <p:spPr>
          <a:xfrm>
            <a:off x="4655668" y="1645920"/>
            <a:ext cx="594360" cy="594360"/>
          </a:xfrm>
          <a:prstGeom prst="ellipse">
            <a:avLst/>
          </a:prstGeom>
          <a:solidFill>
            <a:schemeClr val="accent2"/>
          </a:solidFill>
          <a:ln/>
        </p:spPr>
        <p:txBody>
          <a:bodyPr/>
          <a:p/>
        </p:txBody>
      </p:sp>
      <p:pic>
        <p:nvPicPr>
          <p:cNvPr id="10" name="icon-dice" descr="preencoded.png">    </p:cNvPr>
          <p:cNvPicPr>
            <a:picLocks noChangeAspect="1"/>
          </p:cNvPicPr>
          <p:nvPr/>
        </p:nvPicPr>
        <p:blipFill>
          <a:blip r:embed="rId2"/>
          <a:stretch>
            <a:fillRect/>
          </a:stretch>
        </p:blipFill>
        <p:spPr>
          <a:xfrm>
            <a:off x="4804258" y="1794510"/>
            <a:ext cx="297180" cy="297180"/>
          </a:xfrm>
          <a:prstGeom prst="rect">
            <a:avLst/>
          </a:prstGeom>
        </p:spPr>
      </p:pic>
      <p:sp>
        <p:nvSpPr>
          <p:cNvPr id="11" name="Text 7"/>
          <p:cNvSpPr txBox="1"/>
          <p:nvPr/>
        </p:nvSpPr>
        <p:spPr>
          <a:xfrm>
            <a:off x="5387188"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Added by the team</a:t>
            </a:r>
            <a:endParaRPr lang="en-US" sz="1800" dirty="0"/>
          </a:p>
        </p:txBody>
      </p:sp>
      <p:sp>
        <p:nvSpPr>
          <p:cNvPr id="12" name="Text 8"/>
          <p:cNvSpPr txBox="1"/>
          <p:nvPr/>
        </p:nvSpPr>
        <p:spPr>
          <a:xfrm>
            <a:off x="4655668"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9 new products, new GTS series</a:t>
            </a:r>
            <a:endParaRPr lang="en-US" sz="1500" dirty="0"/>
          </a:p>
          <a:p>
            <a:pPr marL="203200" indent="-203200">
              <a:spcAft>
                <a:spcPts val="800"/>
              </a:spcAft>
              <a:buSzPct val="100000"/>
              <a:buChar char="•"/>
            </a:pPr>
            <a:r>
              <a:rPr lang="en-US" sz="1600" dirty="0">
                <a:solidFill>
                  <a:schemeClr val="tx1"/>
                </a:solidFill>
              </a:rPr>
              <a:t>Competitor products</a:t>
            </a:r>
            <a:endParaRPr lang="en-US" sz="1500" dirty="0"/>
          </a:p>
          <a:p>
            <a:pPr marL="203200" indent="-203200">
              <a:spcAft>
                <a:spcPts val="800"/>
              </a:spcAft>
              <a:buSzPct val="100000"/>
              <a:buChar char="•"/>
            </a:pPr>
            <a:r>
              <a:rPr lang="en-US" sz="1600" dirty="0">
                <a:solidFill>
                  <a:schemeClr val="tx1"/>
                </a:solidFill>
              </a:rPr>
              <a:t>5-year industry trends</a:t>
            </a:r>
            <a:endParaRPr lang="en-US" sz="1500" dirty="0"/>
          </a:p>
        </p:txBody>
      </p:sp>
      <p:sp>
        <p:nvSpPr>
          <p:cNvPr id="13" name="sim-col-2"/>
          <p:cNvSpPr/>
          <p:nvPr/>
        </p:nvSpPr>
        <p:spPr>
          <a:xfrm>
            <a:off x="8214055" y="1417320"/>
            <a:ext cx="3429000" cy="2743200"/>
          </a:xfrm>
          <a:prstGeom prst="roundRect">
            <a:avLst>
              <a:gd name="adj" fmla="val 2667"/>
            </a:avLst>
          </a:prstGeom>
          <a:solidFill>
            <a:schemeClr val="bg2"/>
          </a:solidFill>
          <a:ln/>
        </p:spPr>
        <p:txBody>
          <a:bodyPr/>
          <a:p/>
        </p:txBody>
      </p:sp>
      <p:sp>
        <p:nvSpPr>
          <p:cNvPr id="14" name="icon-bg-flask"/>
          <p:cNvSpPr/>
          <p:nvPr/>
        </p:nvSpPr>
        <p:spPr>
          <a:xfrm>
            <a:off x="8488375" y="1645920"/>
            <a:ext cx="594360" cy="594360"/>
          </a:xfrm>
          <a:prstGeom prst="ellipse">
            <a:avLst/>
          </a:prstGeom>
          <a:solidFill>
            <a:schemeClr val="tx2"/>
          </a:solidFill>
          <a:ln/>
        </p:spPr>
        <p:txBody>
          <a:bodyPr/>
          <a:p/>
        </p:txBody>
      </p:sp>
      <p:pic>
        <p:nvPicPr>
          <p:cNvPr id="15" name="icon-flask" descr="preencoded.png">    </p:cNvPr>
          <p:cNvPicPr>
            <a:picLocks noChangeAspect="1"/>
          </p:cNvPicPr>
          <p:nvPr/>
        </p:nvPicPr>
        <p:blipFill>
          <a:blip r:embed="rId3"/>
          <a:stretch>
            <a:fillRect/>
          </a:stretch>
        </p:blipFill>
        <p:spPr>
          <a:xfrm>
            <a:off x="8636965" y="1794510"/>
            <a:ext cx="297180" cy="297180"/>
          </a:xfrm>
          <a:prstGeom prst="rect">
            <a:avLst/>
          </a:prstGeom>
        </p:spPr>
      </p:pic>
      <p:sp>
        <p:nvSpPr>
          <p:cNvPr id="16" name="Text 11"/>
          <p:cNvSpPr txBox="1"/>
          <p:nvPr/>
        </p:nvSpPr>
        <p:spPr>
          <a:xfrm>
            <a:off x="9219895"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Planted win formula</a:t>
            </a:r>
            <a:endParaRPr lang="en-US" sz="1800" dirty="0"/>
          </a:p>
        </p:txBody>
      </p:sp>
      <p:sp>
        <p:nvSpPr>
          <p:cNvPr id="17" name="Text 12"/>
          <p:cNvSpPr txBox="1"/>
          <p:nvPr/>
        </p:nvSpPr>
        <p:spPr>
          <a:xfrm>
            <a:off x="8488375"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Known logistic model</a:t>
            </a:r>
            <a:endParaRPr lang="en-US" sz="1500" dirty="0"/>
          </a:p>
          <a:p>
            <a:pPr marL="203200" indent="-203200">
              <a:spcAft>
                <a:spcPts val="800"/>
              </a:spcAft>
              <a:buSzPct val="100000"/>
              <a:buChar char="•"/>
            </a:pPr>
            <a:r>
              <a:rPr lang="en-US" sz="1600" dirty="0">
                <a:solidFill>
                  <a:schemeClr val="tx1"/>
                </a:solidFill>
              </a:rPr>
              <a:t>3 interactions, e.g. expensive product × small account</a:t>
            </a:r>
            <a:endParaRPr lang="en-US" sz="1500" dirty="0"/>
          </a:p>
          <a:p>
            <a:pPr marL="203200" indent="-203200">
              <a:spcAft>
                <a:spcPts val="800"/>
              </a:spcAft>
              <a:buSzPct val="100000"/>
              <a:buChar char="•"/>
            </a:pPr>
            <a:r>
              <a:rPr lang="en-US" sz="1600" dirty="0">
                <a:solidFill>
                  <a:schemeClr val="tx1"/>
                </a:solidFill>
              </a:rPr>
              <a:t>Strength k = 3</a:t>
            </a:r>
            <a:endParaRPr lang="en-US" sz="1500" dirty="0"/>
          </a:p>
        </p:txBody>
      </p:sp>
      <p:sp>
        <p:nvSpPr>
          <p:cNvPr id="18" name="oracle-frame"/>
          <p:cNvSpPr/>
          <p:nvPr/>
        </p:nvSpPr>
        <p:spPr>
          <a:xfrm>
            <a:off x="548640" y="4526280"/>
            <a:ext cx="11094415" cy="1280160"/>
          </a:xfrm>
          <a:prstGeom prst="roundRect">
            <a:avLst>
              <a:gd name="adj" fmla="val 5714"/>
            </a:avLst>
          </a:prstGeom>
          <a:solidFill>
            <a:schemeClr val="bg1"/>
          </a:solidFill>
          <a:ln/>
        </p:spPr>
        <p:txBody>
          <a:bodyPr/>
          <a:p/>
        </p:txBody>
      </p:sp>
      <p:sp>
        <p:nvSpPr>
          <p:cNvPr id="19" name="icon-bg-bullseye"/>
          <p:cNvSpPr/>
          <p:nvPr/>
        </p:nvSpPr>
        <p:spPr>
          <a:xfrm>
            <a:off x="548640" y="4846320"/>
            <a:ext cx="594360" cy="594360"/>
          </a:xfrm>
          <a:prstGeom prst="ellipse">
            <a:avLst/>
          </a:prstGeom>
          <a:solidFill>
            <a:schemeClr val="accent3"/>
          </a:solidFill>
          <a:ln/>
        </p:spPr>
        <p:txBody>
          <a:bodyPr/>
          <a:p/>
        </p:txBody>
      </p:sp>
      <p:pic>
        <p:nvPicPr>
          <p:cNvPr id="20" name="icon-bullseye" descr="preencoded.png">    </p:cNvPr>
          <p:cNvPicPr>
            <a:picLocks noChangeAspect="1"/>
          </p:cNvPicPr>
          <p:nvPr/>
        </p:nvPicPr>
        <p:blipFill>
          <a:blip r:embed="rId4"/>
          <a:stretch>
            <a:fillRect/>
          </a:stretch>
        </p:blipFill>
        <p:spPr>
          <a:xfrm>
            <a:off x="697230" y="4994910"/>
            <a:ext cx="297180" cy="297180"/>
          </a:xfrm>
          <a:prstGeom prst="rect">
            <a:avLst/>
          </a:prstGeom>
        </p:spPr>
      </p:pic>
      <p:sp>
        <p:nvSpPr>
          <p:cNvPr id="21" name="Text 15"/>
          <p:cNvSpPr txBox="1"/>
          <p:nvPr/>
        </p:nvSpPr>
        <p:spPr>
          <a:xfrm>
            <a:off x="1325880" y="4773168"/>
            <a:ext cx="10317175" cy="731520"/>
          </a:xfrm>
          <a:prstGeom prst="rect">
            <a:avLst/>
          </a:prstGeom>
          <a:noFill/>
          <a:ln/>
        </p:spPr>
        <p:txBody>
          <a:bodyPr wrap="square" lIns="0" tIns="0" rIns="0" bIns="0" rtlCol="0" anchor="ctr"/>
          <a:lstStyle/>
          <a:p>
            <a:pPr indent="0" marL="0">
              <a:buNone/>
            </a:pPr>
            <a:r>
              <a:rPr lang="en-US" sz="1700" b="1" dirty="0">
                <a:solidFill>
                  <a:schemeClr val="tx2"/>
                </a:solidFill>
              </a:rPr>
              <a:t>We know every deal's true win probability. </a:t>
            </a:r>
            <a:pPr indent="0" marL="0">
              <a:buNone/>
            </a:pPr>
            <a:r>
              <a:rPr lang="en-US" sz="1700" dirty="0">
                <a:solidFill>
                  <a:schemeClr val="tx1"/>
                </a:solidFill>
              </a:rPr>
              <a:t>Scoring with it gives the oracle: the best ROC-AUC any model can reach. It is never used as a feature.</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0515600" cy="1280160"/>
          </a:xfrm>
          <a:prstGeom prst="rect">
            <a:avLst/>
          </a:prstGeom>
          <a:noFill/>
          <a:ln/>
        </p:spPr>
        <p:txBody>
          <a:bodyPr wrap="square" lIns="0" tIns="0" rIns="0" bIns="0" rtlCol="0" anchor="b"/>
          <a:lstStyle/>
          <a:p>
            <a:pPr algn="l" indent="0" marL="0">
              <a:buNone/>
            </a:pPr>
            <a:r>
              <a:rPr lang="en-US" sz="6000" b="1" dirty="0">
                <a:solidFill>
                  <a:schemeClr val="bg1"/>
                </a:solidFill>
                <a:latin typeface="Cambria" pitchFamily="34" charset="0"/>
                <a:ea typeface="Cambria" pitchFamily="34" charset="-122"/>
                <a:cs typeface="Cambria" pitchFamily="34" charset="-120"/>
              </a:rPr>
              <a:t>Demo</a:t>
            </a:r>
            <a:endParaRPr lang="en-US" sz="4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Result A: no model beats chance</a:t>
            </a:r>
            <a:endParaRPr lang="en-US" sz="3400" dirty="0"/>
          </a:p>
        </p:txBody>
      </p:sp>
      <p:graphicFrame>
        <p:nvGraphicFramePr>
          <p:cNvPr id="9" name="metrics-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044952"/>
                <a:gridCol w="1325880"/>
                <a:gridCol w="1325880"/>
                <a:gridCol w="1325880"/>
                <a:gridCol w="1325880"/>
                <a:gridCol w="1325880"/>
                <a:gridCol w="1417320"/>
              </a:tblGrid>
              <a:tr h="411480">
                <a:tc>
                  <a:txBody>
                    <a:bodyPr/>
                    <a:lstStyle/>
                    <a:p>
                      <a:pPr algn="l" indent="0" marL="0">
                        <a:buNone/>
                      </a:pPr>
                      <a:r>
                        <a:rPr lang="en-US" sz="1400" b="1" dirty="0">
                          <a:solidFill>
                            <a:schemeClr val="bg1"/>
                          </a:solidFill>
                        </a:rPr>
                        <a:t>Model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Accuracy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Precision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Recall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F1 (Won)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Brier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411480">
                <a:tc>
                  <a:txBody>
                    <a:bodyPr/>
                    <a:lstStyle/>
                    <a:p>
                      <a:pPr algn="l" indent="0" marL="0">
                        <a:buNone/>
                      </a:pPr>
                      <a:r>
                        <a:rPr lang="en-US" sz="1400" dirty="0">
                          <a:solidFill>
                            <a:schemeClr val="tx1"/>
                          </a:solidFill>
                        </a:rPr>
                        <a:t>Dummy prior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1.000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0.750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0.2421</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b="1" dirty="0">
                          <a:solidFill>
                            <a:schemeClr val="tx1"/>
                          </a:solidFill>
                        </a:rPr>
                        <a:t>Logistic Regression (selected)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0.437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0.615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0.166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0.262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0.524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0.2794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Random Forest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0.978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0.742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0.518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0.2510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MLP</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0.485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0.453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0.514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0.495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0.3314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TabNet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0.536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0.678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0.637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0.2490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160520"/>
            <a:ext cx="3291840" cy="731520"/>
          </a:xfrm>
          <a:prstGeom prst="rect">
            <a:avLst/>
          </a:prstGeom>
          <a:noFill/>
          <a:ln/>
        </p:spPr>
        <p:txBody>
          <a:bodyPr wrap="square" lIns="0" tIns="0" rIns="0" bIns="0" rtlCol="0" anchor="b"/>
          <a:lstStyle/>
          <a:p>
            <a:pPr indent="0" marL="0">
              <a:buNone/>
            </a:pPr>
            <a:r>
              <a:rPr lang="en-US" sz="4000" b="1" dirty="0">
                <a:solidFill>
                  <a:schemeClr val="accent3"/>
                </a:solidFill>
                <a:latin typeface="Cambria" pitchFamily="34" charset="0"/>
                <a:ea typeface="Cambria" pitchFamily="34" charset="-122"/>
                <a:cs typeface="Cambria" pitchFamily="34" charset="-120"/>
              </a:rPr>
              <a:t>0.524</a:t>
            </a:r>
            <a:endParaRPr lang="en-US" sz="4000" dirty="0"/>
          </a:p>
        </p:txBody>
      </p:sp>
      <p:sp>
        <p:nvSpPr>
          <p:cNvPr id="5" name="Text 2"/>
          <p:cNvSpPr txBox="1"/>
          <p:nvPr/>
        </p:nvSpPr>
        <p:spPr>
          <a:xfrm>
            <a:off x="548640" y="4937760"/>
            <a:ext cx="3291840" cy="1097280"/>
          </a:xfrm>
          <a:prstGeom prst="rect">
            <a:avLst/>
          </a:prstGeom>
          <a:noFill/>
          <a:ln/>
        </p:spPr>
        <p:txBody>
          <a:bodyPr wrap="square" lIns="0" tIns="0" rIns="0" bIns="0" rtlCol="0" anchor="t"/>
          <a:lstStyle/>
          <a:p>
            <a:pPr indent="0" marL="0">
              <a:buNone/>
            </a:pPr>
            <a:r>
              <a:rPr lang="en-US" sz="1300" dirty="0">
                <a:solidFill>
                  <a:schemeClr val="accent4"/>
                </a:solidFill>
              </a:rPr>
              <a:t>test ROC-AUC of the selected model; all learned models land between 0.495 and 0.524 (0.5 = random ranking)</a:t>
            </a:r>
            <a:endParaRPr lang="en-US" sz="1300" dirty="0"/>
          </a:p>
        </p:txBody>
      </p:sp>
      <p:sp>
        <p:nvSpPr>
          <p:cNvPr id="7" name="Text 4"/>
          <p:cNvSpPr txBox="1"/>
          <p:nvPr/>
        </p:nvSpPr>
        <p:spPr>
          <a:xfrm>
            <a:off x="4160520" y="4160520"/>
            <a:ext cx="283464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60%</a:t>
            </a:r>
            <a:endParaRPr lang="en-US" sz="4000" dirty="0"/>
          </a:p>
        </p:txBody>
      </p:sp>
      <p:sp>
        <p:nvSpPr>
          <p:cNvPr id="8" name="Text 5"/>
          <p:cNvSpPr txBox="1"/>
          <p:nvPr/>
        </p:nvSpPr>
        <p:spPr>
          <a:xfrm>
            <a:off x="4160520" y="4937760"/>
            <a:ext cx="2834640" cy="1097280"/>
          </a:xfrm>
          <a:prstGeom prst="rect">
            <a:avLst/>
          </a:prstGeom>
          <a:noFill/>
          <a:ln/>
        </p:spPr>
        <p:txBody>
          <a:bodyPr wrap="square" lIns="0" tIns="0" rIns="0" bIns="0" rtlCol="0" anchor="t"/>
          <a:lstStyle/>
          <a:p>
            <a:pPr indent="0" marL="0">
              <a:buNone/>
            </a:pPr>
            <a:r>
              <a:rPr lang="en-US" sz="1300" dirty="0">
                <a:solidFill>
                  <a:schemeClr val="accent4"/>
                </a:solidFill>
              </a:rPr>
              <a:t>accuracy of the Dummy, just by always predicting Won</a:t>
            </a:r>
            <a:endParaRPr lang="en-US" sz="1300" dirty="0"/>
          </a:p>
        </p:txBody>
      </p:sp>
      <p:sp>
        <p:nvSpPr>
          <p:cNvPr id="9" name="Text 6"/>
          <p:cNvSpPr txBox="1"/>
          <p:nvPr/>
        </p:nvSpPr>
        <p:spPr>
          <a:xfrm>
            <a:off x="7315200" y="4160520"/>
            <a:ext cx="4325112" cy="731520"/>
          </a:xfrm>
          <a:prstGeom prst="rect">
            <a:avLst/>
          </a:prstGeom>
          <a:noFill/>
          <a:ln/>
        </p:spPr>
        <p:txBody>
          <a:bodyPr wrap="square" lIns="0" tIns="0" rIns="0" bIns="0" rtlCol="0" anchor="b"/>
          <a:lstStyle/>
          <a:p>
            <a:pPr indent="0" marL="0">
              <a:buNone/>
            </a:pPr>
            <a:r>
              <a:rPr lang="en-US" sz="4000" b="1" dirty="0">
                <a:solidFill>
                  <a:schemeClr val="accent4"/>
                </a:solidFill>
                <a:latin typeface="Cambria" pitchFamily="34" charset="0"/>
                <a:ea typeface="Cambria" pitchFamily="34" charset="-122"/>
                <a:cs typeface="Cambria" pitchFamily="34" charset="-120"/>
              </a:rPr>
              <a:t>0.2794 → 0.2443</a:t>
            </a:r>
            <a:endParaRPr lang="en-US" sz="4000" dirty="0"/>
          </a:p>
        </p:txBody>
      </p:sp>
      <p:sp>
        <p:nvSpPr>
          <p:cNvPr id="10" name="Text 7"/>
          <p:cNvSpPr txBox="1"/>
          <p:nvPr/>
        </p:nvSpPr>
        <p:spPr>
          <a:xfrm>
            <a:off x="7315200" y="4937760"/>
            <a:ext cx="4325112" cy="1097280"/>
          </a:xfrm>
          <a:prstGeom prst="rect">
            <a:avLst/>
          </a:prstGeom>
          <a:noFill/>
          <a:ln/>
        </p:spPr>
        <p:txBody>
          <a:bodyPr wrap="square" lIns="0" tIns="0" rIns="0" bIns="0" rtlCol="0" anchor="t"/>
          <a:lstStyle/>
          <a:p>
            <a:pPr indent="0" marL="0">
              <a:buNone/>
            </a:pPr>
            <a:r>
              <a:rPr lang="en-US" sz="1300" dirty="0">
                <a:solidFill>
                  <a:schemeClr val="accent4"/>
                </a:solidFill>
              </a:rPr>
              <a:t>LR Brier after sigmoid calibration, still worse than the Dummy's 0.2421; calibration fixes the probability scale, not the ranking</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Scoring open deals, and why each score</a:t>
            </a:r>
            <a:endParaRPr lang="en-US" sz="3400" dirty="0"/>
          </a:p>
        </p:txBody>
      </p:sp>
      <p:sp>
        <p:nvSpPr>
          <p:cNvPr id="3" name="Text 1"/>
          <p:cNvSpPr txBox="1"/>
          <p:nvPr/>
        </p:nvSpPr>
        <p:spPr>
          <a:xfrm>
            <a:off x="548640" y="1371600"/>
            <a:ext cx="310896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1,589</a:t>
            </a:r>
            <a:endParaRPr lang="en-US" sz="4400" dirty="0"/>
          </a:p>
        </p:txBody>
      </p:sp>
      <p:sp>
        <p:nvSpPr>
          <p:cNvPr id="4" name="Text 2"/>
          <p:cNvSpPr txBox="1"/>
          <p:nvPr/>
        </p:nvSpPr>
        <p:spPr>
          <a:xfrm>
            <a:off x="548640" y="2148840"/>
            <a:ext cx="3108960" cy="548640"/>
          </a:xfrm>
          <a:prstGeom prst="rect">
            <a:avLst/>
          </a:prstGeom>
          <a:noFill/>
          <a:ln/>
        </p:spPr>
        <p:txBody>
          <a:bodyPr wrap="square" lIns="0" tIns="0" rIns="0" bIns="0" rtlCol="0" anchor="t"/>
          <a:lstStyle/>
          <a:p>
            <a:pPr indent="0" marL="0">
              <a:buNone/>
            </a:pPr>
            <a:r>
              <a:rPr lang="en-US" sz="1300" dirty="0">
                <a:solidFill>
                  <a:schemeClr val="accent4"/>
                </a:solidFill>
              </a:rPr>
              <a:t>Engaging deals scored</a:t>
            </a:r>
            <a:endParaRPr lang="en-US" sz="1300" dirty="0"/>
          </a:p>
        </p:txBody>
      </p:sp>
      <p:sp>
        <p:nvSpPr>
          <p:cNvPr id="5" name="Text 3"/>
          <p:cNvSpPr txBox="1"/>
          <p:nvPr/>
        </p:nvSpPr>
        <p:spPr>
          <a:xfrm>
            <a:off x="548640" y="2788920"/>
            <a:ext cx="3108960" cy="73152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1,088</a:t>
            </a:r>
            <a:endParaRPr lang="en-US" sz="4400" dirty="0"/>
          </a:p>
        </p:txBody>
      </p:sp>
      <p:sp>
        <p:nvSpPr>
          <p:cNvPr id="6" name="Text 4"/>
          <p:cNvSpPr txBox="1"/>
          <p:nvPr/>
        </p:nvSpPr>
        <p:spPr>
          <a:xfrm>
            <a:off x="548640" y="3566160"/>
            <a:ext cx="3108960" cy="548640"/>
          </a:xfrm>
          <a:prstGeom prst="rect">
            <a:avLst/>
          </a:prstGeom>
          <a:noFill/>
          <a:ln/>
        </p:spPr>
        <p:txBody>
          <a:bodyPr wrap="square" lIns="0" tIns="0" rIns="0" bIns="0" rtlCol="0" anchor="t"/>
          <a:lstStyle/>
          <a:p>
            <a:pPr indent="0" marL="0">
              <a:buNone/>
            </a:pPr>
            <a:r>
              <a:rPr lang="en-US" sz="1300" dirty="0">
                <a:solidFill>
                  <a:schemeClr val="accent4"/>
                </a:solidFill>
              </a:rPr>
              <a:t>flagged: account missing, so the score is less reliable</a:t>
            </a:r>
            <a:endParaRPr lang="en-US" sz="1300" dirty="0"/>
          </a:p>
        </p:txBody>
      </p:sp>
      <p:sp>
        <p:nvSpPr>
          <p:cNvPr id="7" name="Text 5"/>
          <p:cNvSpPr txBox="1"/>
          <p:nvPr/>
        </p:nvSpPr>
        <p:spPr>
          <a:xfrm>
            <a:off x="548640" y="4206240"/>
            <a:ext cx="32918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400 / 1,189 / 0</a:t>
            </a:r>
            <a:endParaRPr lang="en-US" sz="3600" dirty="0"/>
          </a:p>
        </p:txBody>
      </p:sp>
      <p:sp>
        <p:nvSpPr>
          <p:cNvPr id="8" name="Text 6"/>
          <p:cNvSpPr txBox="1"/>
          <p:nvPr/>
        </p:nvSpPr>
        <p:spPr>
          <a:xfrm>
            <a:off x="548640" y="4983480"/>
            <a:ext cx="3291840" cy="548640"/>
          </a:xfrm>
          <a:prstGeom prst="rect">
            <a:avLst/>
          </a:prstGeom>
          <a:noFill/>
          <a:ln/>
        </p:spPr>
        <p:txBody>
          <a:bodyPr wrap="square" lIns="0" tIns="0" rIns="0" bIns="0" rtlCol="0" anchor="t"/>
          <a:lstStyle/>
          <a:p>
            <a:pPr indent="0" marL="0">
              <a:buNone/>
            </a:pPr>
            <a:r>
              <a:rPr lang="en-US" sz="1300" dirty="0">
                <a:solidFill>
                  <a:schemeClr val="accent4"/>
                </a:solidFill>
              </a:rPr>
              <a:t>High / Medium / Low priority (heuristic bands 0.70 and 0.40)</a:t>
            </a:r>
            <a:endParaRPr lang="en-US" sz="1300" dirty="0"/>
          </a:p>
        </p:txBody>
      </p:sp>
      <p:sp>
        <p:nvSpPr>
          <p:cNvPr id="9" name="deal-card"/>
          <p:cNvSpPr/>
          <p:nvPr/>
        </p:nvSpPr>
        <p:spPr>
          <a:xfrm>
            <a:off x="4480560" y="1417320"/>
            <a:ext cx="7132320" cy="3429000"/>
          </a:xfrm>
          <a:prstGeom prst="roundRect">
            <a:avLst>
              <a:gd name="adj" fmla="val 2564"/>
            </a:avLst>
          </a:prstGeom>
          <a:solidFill>
            <a:schemeClr val="bg1"/>
          </a:solidFill>
          <a:ln w="12700">
            <a:solidFill>
              <a:srgbClr val="DCE5E3"/>
            </a:solidFill>
            <a:prstDash val="solid"/>
          </a:ln>
          <a:effectLst>
            <a:outerShdw sx="100000" sy="100000" kx="0" ky="0" algn="bl" rotWithShape="0" blurRad="101600" dist="25400" dir="5400000">
              <a:srgbClr val="16232E">
                <a:alpha val="12000"/>
              </a:srgbClr>
            </a:outerShdw>
          </a:effectLst>
        </p:spPr>
        <p:txBody>
          <a:bodyPr/>
          <a:p/>
        </p:txBody>
      </p:sp>
      <p:sp>
        <p:nvSpPr>
          <p:cNvPr id="10" name="icon-bg-tag"/>
          <p:cNvSpPr/>
          <p:nvPr/>
        </p:nvSpPr>
        <p:spPr>
          <a:xfrm>
            <a:off x="4800600" y="1737360"/>
            <a:ext cx="548640" cy="548640"/>
          </a:xfrm>
          <a:prstGeom prst="ellipse">
            <a:avLst/>
          </a:prstGeom>
          <a:solidFill>
            <a:schemeClr val="accent1"/>
          </a:solidFill>
          <a:ln/>
        </p:spPr>
        <p:txBody>
          <a:bodyPr/>
          <a:p/>
        </p:txBody>
      </p:sp>
      <p:pic>
        <p:nvPicPr>
          <p:cNvPr id="11" name="icon-tag" descr="preencoded.png">    </p:cNvPr>
          <p:cNvPicPr>
            <a:picLocks noChangeAspect="1"/>
          </p:cNvPicPr>
          <p:nvPr/>
        </p:nvPicPr>
        <p:blipFill>
          <a:blip r:embed="rId1"/>
          <a:stretch>
            <a:fillRect/>
          </a:stretch>
        </p:blipFill>
        <p:spPr>
          <a:xfrm>
            <a:off x="4937760" y="1874520"/>
            <a:ext cx="274320" cy="274320"/>
          </a:xfrm>
          <a:prstGeom prst="rect">
            <a:avLst/>
          </a:prstGeom>
        </p:spPr>
      </p:pic>
      <p:sp>
        <p:nvSpPr>
          <p:cNvPr id="12" name="Text 9"/>
          <p:cNvSpPr txBox="1"/>
          <p:nvPr/>
        </p:nvSpPr>
        <p:spPr>
          <a:xfrm>
            <a:off x="5532120" y="1709928"/>
            <a:ext cx="3840480" cy="365760"/>
          </a:xfrm>
          <a:prstGeom prst="rect">
            <a:avLst/>
          </a:prstGeom>
          <a:noFill/>
          <a:ln/>
        </p:spPr>
        <p:txBody>
          <a:bodyPr wrap="square" lIns="0" tIns="0" rIns="0" bIns="0" rtlCol="0" anchor="t"/>
          <a:lstStyle/>
          <a:p>
            <a:pPr indent="0" marL="0">
              <a:buNone/>
            </a:pPr>
            <a:r>
              <a:rPr lang="en-US" sz="2000" b="1" dirty="0">
                <a:solidFill>
                  <a:schemeClr val="tx2"/>
                </a:solidFill>
              </a:rPr>
              <a:t>Deal AI76U58A</a:t>
            </a:r>
            <a:endParaRPr lang="en-US" sz="2000" dirty="0"/>
          </a:p>
        </p:txBody>
      </p:sp>
      <p:sp>
        <p:nvSpPr>
          <p:cNvPr id="13" name="Text 10"/>
          <p:cNvSpPr txBox="1"/>
          <p:nvPr/>
        </p:nvSpPr>
        <p:spPr>
          <a:xfrm>
            <a:off x="5532120" y="2075688"/>
            <a:ext cx="4206240" cy="320040"/>
          </a:xfrm>
          <a:prstGeom prst="rect">
            <a:avLst/>
          </a:prstGeom>
          <a:noFill/>
          <a:ln/>
        </p:spPr>
        <p:txBody>
          <a:bodyPr wrap="square" lIns="0" tIns="0" rIns="0" bIns="0" rtlCol="0" anchor="t"/>
          <a:lstStyle/>
          <a:p>
            <a:pPr indent="0" marL="0">
              <a:buNone/>
            </a:pPr>
            <a:r>
              <a:rPr lang="en-US" sz="1300" dirty="0">
                <a:solidFill>
                  <a:schemeClr val="accent4"/>
                </a:solidFill>
              </a:rPr>
              <a:t>Treequote · GTX Basic · Maureen Marcano</a:t>
            </a:r>
            <a:endParaRPr lang="en-US" sz="1300" dirty="0"/>
          </a:p>
        </p:txBody>
      </p:sp>
      <p:sp>
        <p:nvSpPr>
          <p:cNvPr id="14" name="Text 11"/>
          <p:cNvSpPr txBox="1"/>
          <p:nvPr/>
        </p:nvSpPr>
        <p:spPr>
          <a:xfrm>
            <a:off x="9692640" y="1645920"/>
            <a:ext cx="1645920" cy="640080"/>
          </a:xfrm>
          <a:prstGeom prst="rect">
            <a:avLst/>
          </a:prstGeom>
          <a:noFill/>
          <a:ln/>
        </p:spPr>
        <p:txBody>
          <a:bodyPr wrap="square" lIns="0" tIns="0" rIns="0" bIns="0" rtlCol="0" anchor="t"/>
          <a:lstStyle/>
          <a:p>
            <a:pPr algn="r" indent="0" marL="0">
              <a:buNone/>
            </a:pPr>
            <a:r>
              <a:rPr lang="en-US" sz="4000" b="1" dirty="0">
                <a:solidFill>
                  <a:schemeClr val="accent1"/>
                </a:solidFill>
                <a:latin typeface="Cambria" pitchFamily="34" charset="0"/>
                <a:ea typeface="Cambria" pitchFamily="34" charset="-122"/>
                <a:cs typeface="Cambria" pitchFamily="34" charset="-120"/>
              </a:rPr>
              <a:t>88%</a:t>
            </a:r>
            <a:endParaRPr lang="en-US" sz="4000" dirty="0"/>
          </a:p>
        </p:txBody>
      </p:sp>
      <p:sp>
        <p:nvSpPr>
          <p:cNvPr id="15" name="Text 12"/>
          <p:cNvSpPr txBox="1"/>
          <p:nvPr/>
        </p:nvSpPr>
        <p:spPr>
          <a:xfrm>
            <a:off x="9235440" y="2286000"/>
            <a:ext cx="2103120" cy="274320"/>
          </a:xfrm>
          <a:prstGeom prst="rect">
            <a:avLst/>
          </a:prstGeom>
          <a:noFill/>
          <a:ln/>
        </p:spPr>
        <p:txBody>
          <a:bodyPr wrap="square" lIns="0" tIns="0" rIns="0" bIns="0" rtlCol="0" anchor="t"/>
          <a:lstStyle/>
          <a:p>
            <a:pPr algn="r" indent="0" marL="0">
              <a:buNone/>
            </a:pPr>
            <a:r>
              <a:rPr lang="en-US" sz="1200" dirty="0">
                <a:solidFill>
                  <a:schemeClr val="accent4"/>
                </a:solidFill>
              </a:rPr>
              <a:t>P(Won) · High priority</a:t>
            </a:r>
            <a:endParaRPr lang="en-US" sz="1200" dirty="0"/>
          </a:p>
        </p:txBody>
      </p:sp>
      <p:sp>
        <p:nvSpPr>
          <p:cNvPr id="16" name="Text 13"/>
          <p:cNvSpPr txBox="1"/>
          <p:nvPr/>
        </p:nvSpPr>
        <p:spPr>
          <a:xfrm>
            <a:off x="4800600" y="2880360"/>
            <a:ext cx="3108960" cy="320040"/>
          </a:xfrm>
          <a:prstGeom prst="rect">
            <a:avLst/>
          </a:prstGeom>
          <a:noFill/>
          <a:ln/>
        </p:spPr>
        <p:txBody>
          <a:bodyPr wrap="square" lIns="0" tIns="0" rIns="0" bIns="0" rtlCol="0" anchor="t"/>
          <a:lstStyle/>
          <a:p>
            <a:pPr indent="0" marL="0">
              <a:buNone/>
            </a:pPr>
            <a:r>
              <a:rPr lang="en-US" sz="1500" b="1" dirty="0">
                <a:solidFill>
                  <a:schemeClr val="accent1"/>
                </a:solidFill>
              </a:rPr>
              <a:t>Raises the score</a:t>
            </a:r>
            <a:endParaRPr lang="en-US" sz="1500" dirty="0"/>
          </a:p>
        </p:txBody>
      </p:sp>
      <p:sp>
        <p:nvSpPr>
          <p:cNvPr id="17" name="Text 14"/>
          <p:cNvSpPr txBox="1"/>
          <p:nvPr/>
        </p:nvSpPr>
        <p:spPr>
          <a:xfrm>
            <a:off x="4800600" y="3246120"/>
            <a:ext cx="3200400" cy="219456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chemeClr val="tx1"/>
                </a:solidFill>
              </a:rPr>
              <a:t>engage_year = 2016: +0.294</a:t>
            </a:r>
            <a:endParaRPr lang="en-US" sz="1500" dirty="0"/>
          </a:p>
          <a:p>
            <a:pPr marL="203200" indent="-203200">
              <a:spcAft>
                <a:spcPts val="800"/>
              </a:spcAft>
              <a:buSzPct val="100000"/>
              <a:buChar char="•"/>
            </a:pPr>
            <a:r>
              <a:rPr lang="en-US" sz="1300" dirty="0">
                <a:solidFill>
                  <a:schemeClr val="tx1"/>
                </a:solidFill>
              </a:rPr>
              <a:t>sales_agent = Maureen Marcano: +0.029</a:t>
            </a:r>
            <a:endParaRPr lang="en-US" sz="1500" dirty="0"/>
          </a:p>
          <a:p>
            <a:pPr marL="203200" indent="-203200">
              <a:spcAft>
                <a:spcPts val="800"/>
              </a:spcAft>
              <a:buSzPct val="100000"/>
              <a:buChar char="•"/>
            </a:pPr>
            <a:r>
              <a:rPr lang="en-US" sz="1300" dirty="0">
                <a:solidFill>
                  <a:schemeClr val="tx1"/>
                </a:solidFill>
              </a:rPr>
              <a:t>engage_month = 12: +0.020</a:t>
            </a:r>
            <a:endParaRPr lang="en-US" sz="1500" dirty="0"/>
          </a:p>
        </p:txBody>
      </p:sp>
      <p:sp>
        <p:nvSpPr>
          <p:cNvPr id="18" name="Text 15"/>
          <p:cNvSpPr txBox="1"/>
          <p:nvPr/>
        </p:nvSpPr>
        <p:spPr>
          <a:xfrm>
            <a:off x="8138160" y="2880360"/>
            <a:ext cx="3108960" cy="320040"/>
          </a:xfrm>
          <a:prstGeom prst="rect">
            <a:avLst/>
          </a:prstGeom>
          <a:noFill/>
          <a:ln/>
        </p:spPr>
        <p:txBody>
          <a:bodyPr wrap="square" lIns="0" tIns="0" rIns="0" bIns="0" rtlCol="0" anchor="t"/>
          <a:lstStyle/>
          <a:p>
            <a:pPr indent="0" marL="0">
              <a:buNone/>
            </a:pPr>
            <a:r>
              <a:rPr lang="en-US" sz="1500" b="1" dirty="0">
                <a:solidFill>
                  <a:schemeClr val="accent3"/>
                </a:solidFill>
              </a:rPr>
              <a:t>Lowers the score</a:t>
            </a:r>
            <a:endParaRPr lang="en-US" sz="1500" dirty="0"/>
          </a:p>
        </p:txBody>
      </p:sp>
      <p:sp>
        <p:nvSpPr>
          <p:cNvPr id="19" name="Text 16"/>
          <p:cNvSpPr txBox="1"/>
          <p:nvPr/>
        </p:nvSpPr>
        <p:spPr>
          <a:xfrm>
            <a:off x="8138160" y="3246120"/>
            <a:ext cx="3200400" cy="219456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chemeClr val="tx1"/>
                </a:solidFill>
              </a:rPr>
              <a:t>engage_quarter = 4: -0.064</a:t>
            </a:r>
            <a:endParaRPr lang="en-US" sz="1500" dirty="0"/>
          </a:p>
          <a:p>
            <a:pPr marL="203200" indent="-203200">
              <a:spcAft>
                <a:spcPts val="800"/>
              </a:spcAft>
              <a:buSzPct val="100000"/>
              <a:buChar char="•"/>
            </a:pPr>
            <a:r>
              <a:rPr lang="en-US" sz="1300" dirty="0">
                <a:solidFill>
                  <a:schemeClr val="tx1"/>
                </a:solidFill>
              </a:rPr>
              <a:t>sector = telecommunications: -0.012</a:t>
            </a:r>
            <a:endParaRPr lang="en-US" sz="1500" dirty="0"/>
          </a:p>
          <a:p>
            <a:pPr marL="203200" indent="-203200">
              <a:spcAft>
                <a:spcPts val="800"/>
              </a:spcAft>
              <a:buSzPct val="100000"/>
              <a:buChar char="•"/>
            </a:pPr>
            <a:r>
              <a:rPr lang="en-US" sz="1300" dirty="0">
                <a:solidFill>
                  <a:schemeClr val="tx1"/>
                </a:solidFill>
              </a:rPr>
              <a:t>regional_office = West: -0.002</a:t>
            </a:r>
            <a:endParaRPr lang="en-US" sz="1500" dirty="0"/>
          </a:p>
        </p:txBody>
      </p:sp>
      <p:sp>
        <p:nvSpPr>
          <p:cNvPr id="20" name="Text 17"/>
          <p:cNvSpPr txBox="1"/>
          <p:nvPr/>
        </p:nvSpPr>
        <p:spPr>
          <a:xfrm>
            <a:off x="4800600" y="4480560"/>
            <a:ext cx="6492240" cy="320040"/>
          </a:xfrm>
          <a:prstGeom prst="rect">
            <a:avLst/>
          </a:prstGeom>
          <a:noFill/>
          <a:ln/>
        </p:spPr>
        <p:txBody>
          <a:bodyPr wrap="square" lIns="0" tIns="0" rIns="0" bIns="0" rtlCol="0" anchor="t"/>
          <a:lstStyle/>
          <a:p>
            <a:pPr indent="0" marL="0">
              <a:buNone/>
            </a:pPr>
            <a:r>
              <a:rPr lang="en-US" sz="1100" i="1" dirty="0">
                <a:solidFill>
                  <a:schemeClr val="accent4"/>
                </a:solidFill>
              </a:rPr>
              <a:t>Values are changes in P(Won) when that input is reset to the training reference.</a:t>
            </a:r>
            <a:endParaRPr lang="en-US" sz="1100" dirty="0"/>
          </a:p>
        </p:txBody>
      </p:sp>
      <p:sp>
        <p:nvSpPr>
          <p:cNvPr id="21" name="icon-bg-warn"/>
          <p:cNvSpPr/>
          <p:nvPr/>
        </p:nvSpPr>
        <p:spPr>
          <a:xfrm>
            <a:off x="4480560" y="5687568"/>
            <a:ext cx="457200" cy="457200"/>
          </a:xfrm>
          <a:prstGeom prst="ellipse">
            <a:avLst/>
          </a:prstGeom>
          <a:solidFill>
            <a:schemeClr val="accent2"/>
          </a:solidFill>
          <a:ln/>
        </p:spPr>
        <p:txBody>
          <a:bodyPr/>
          <a:p/>
        </p:txBody>
      </p:sp>
      <p:pic>
        <p:nvPicPr>
          <p:cNvPr id="22" name="icon-warn" descr="preencoded.png">    </p:cNvPr>
          <p:cNvPicPr>
            <a:picLocks noChangeAspect="1"/>
          </p:cNvPicPr>
          <p:nvPr/>
        </p:nvPicPr>
        <p:blipFill>
          <a:blip r:embed="rId2"/>
          <a:stretch>
            <a:fillRect/>
          </a:stretch>
        </p:blipFill>
        <p:spPr>
          <a:xfrm>
            <a:off x="4599432" y="5806440"/>
            <a:ext cx="228600" cy="228600"/>
          </a:xfrm>
          <a:prstGeom prst="rect">
            <a:avLst/>
          </a:prstGeom>
        </p:spPr>
      </p:pic>
      <p:sp>
        <p:nvSpPr>
          <p:cNvPr id="23" name="Text 19"/>
          <p:cNvSpPr txBox="1"/>
          <p:nvPr/>
        </p:nvSpPr>
        <p:spPr>
          <a:xfrm>
            <a:off x="5120640" y="5623560"/>
            <a:ext cx="6492240" cy="566928"/>
          </a:xfrm>
          <a:prstGeom prst="rect">
            <a:avLst/>
          </a:prstGeom>
          <a:noFill/>
          <a:ln/>
        </p:spPr>
        <p:txBody>
          <a:bodyPr wrap="square" lIns="0" tIns="0" rIns="0" bIns="0" rtlCol="0" anchor="ctr"/>
          <a:lstStyle/>
          <a:p>
            <a:pPr indent="0" marL="0">
              <a:buNone/>
            </a:pPr>
            <a:r>
              <a:rPr lang="en-US" sz="1300" dirty="0">
                <a:solidFill>
                  <a:schemeClr val="tx1"/>
                </a:solidFill>
              </a:rPr>
              <a:t>Priority bands are a heuristic, not a validated sales policy. Scores come from a frozen model snapshot, not historical as-of predictions.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
        <p:nvSpPr>
          <p:cNvPr id="26" name="icon-bg-check"/>
          <p:cNvSpPr/>
          <p:nvPr/>
        </p:nvSpPr>
        <p:spPr>
          <a:xfrm>
            <a:off x="4480560" y="5047488"/>
            <a:ext cx="457200" cy="457200"/>
          </a:xfrm>
          <a:prstGeom prst="ellipse">
            <a:avLst/>
          </a:prstGeom>
          <a:solidFill>
            <a:schemeClr val="accent1"/>
          </a:solidFill>
          <a:ln/>
        </p:spPr>
        <p:txBody>
          <a:bodyPr/>
          <a:p/>
        </p:txBody>
      </p:sp>
      <p:pic>
        <p:nvPicPr>
          <p:cNvPr id="27" name="icon-check" descr="preencoded.png">    </p:cNvPr>
          <p:cNvPicPr>
            <a:picLocks noChangeAspect="1"/>
          </p:cNvPicPr>
          <p:nvPr/>
        </p:nvPicPr>
        <p:blipFill>
          <a:blip r:embed="rId5"/>
          <a:stretch>
            <a:fillRect/>
          </a:stretch>
        </p:blipFill>
        <p:spPr>
          <a:xfrm>
            <a:off x="4599432" y="5166360"/>
            <a:ext cx="228600" cy="228600"/>
          </a:xfrm>
          <a:prstGeom prst="rect">
            <a:avLst/>
          </a:prstGeom>
        </p:spPr>
      </p:pic>
      <p:sp>
        <p:nvSpPr>
          <p:cNvPr id="28" name="check-text"/>
          <p:cNvSpPr txBox="1"/>
          <p:nvPr/>
        </p:nvSpPr>
        <p:spPr>
          <a:xfrm>
            <a:off x="5120640" y="4983480"/>
            <a:ext cx="6492240" cy="566928"/>
          </a:xfrm>
          <a:prstGeom prst="rect">
            <a:avLst/>
          </a:prstGeom>
          <a:noFill/>
          <a:ln/>
        </p:spPr>
        <p:txBody>
          <a:bodyPr wrap="square" lIns="0" tIns="0" rIns="0" bIns="0" rtlCol="0" anchor="ctr"/>
          <a:lstStyle/>
          <a:p>
            <a:pPr indent="0" marL="0">
              <a:buNone/>
            </a:pPr>
            <a:r>
              <a:rPr lang="en-US" sz="1300" dirty="0">
                <a:solidFill>
                  <a:schemeClr val="tx1"/>
                </a:solidFill>
              </a:rPr>
              <a:t>Checked: factors agree with RF TreeSHAP (median Spearman 0.76); resetting the top 3 moves P(Won) 3.1× more than random. Associations, not causes.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Result B: nonlinear models near the oracle</a:t>
            </a:r>
            <a:endParaRPr lang="en-US" sz="3400" dirty="0"/>
          </a:p>
        </p:txBody>
      </p:sp>
      <p:graphicFrame>
        <p:nvGraphicFramePr>
          <p:cNvPr id="3" name="auc-chart-b"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09560" y="1417320"/>
            <a:ext cx="374904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0.869</a:t>
            </a:r>
            <a:endParaRPr lang="en-US" sz="4400" dirty="0"/>
          </a:p>
        </p:txBody>
      </p:sp>
      <p:sp>
        <p:nvSpPr>
          <p:cNvPr id="5" name="Text 2"/>
          <p:cNvSpPr txBox="1"/>
          <p:nvPr/>
        </p:nvSpPr>
        <p:spPr>
          <a:xfrm>
            <a:off x="7909560" y="2194560"/>
            <a:ext cx="3749040" cy="548640"/>
          </a:xfrm>
          <a:prstGeom prst="rect">
            <a:avLst/>
          </a:prstGeom>
          <a:noFill/>
          <a:ln/>
        </p:spPr>
        <p:txBody>
          <a:bodyPr wrap="square" lIns="0" tIns="0" rIns="0" bIns="0" rtlCol="0" anchor="t"/>
          <a:lstStyle/>
          <a:p>
            <a:pPr indent="0" marL="0">
              <a:buNone/>
            </a:pPr>
            <a:r>
              <a:rPr lang="en-US" sz="1300" dirty="0">
                <a:solidFill>
                  <a:schemeClr val="accent4"/>
                </a:solidFill>
              </a:rPr>
              <a:t>TabNet, vs oracle 0.878</a:t>
            </a:r>
            <a:endParaRPr lang="en-US" sz="1300" dirty="0"/>
          </a:p>
        </p:txBody>
      </p:sp>
      <p:sp>
        <p:nvSpPr>
          <p:cNvPr id="6" name="Text 3"/>
          <p:cNvSpPr txBox="1"/>
          <p:nvPr/>
        </p:nvSpPr>
        <p:spPr>
          <a:xfrm>
            <a:off x="7909560" y="2880360"/>
            <a:ext cx="3749040" cy="822960"/>
          </a:xfrm>
          <a:prstGeom prst="rect">
            <a:avLst/>
          </a:prstGeom>
          <a:noFill/>
          <a:ln/>
        </p:spPr>
        <p:txBody>
          <a:bodyPr wrap="square" lIns="0" tIns="0" rIns="0" bIns="0" rtlCol="0" anchor="t"/>
          <a:lstStyle/>
          <a:p>
            <a:pPr indent="0" marL="0">
              <a:buNone/>
            </a:pPr>
            <a:r>
              <a:rPr lang="en-US" sz="1500" dirty="0">
                <a:solidFill>
                  <a:schemeClr val="tx1"/>
                </a:solidFill>
              </a:rPr>
              <a:t>Logistic Regression trails because it cannot represent the planted interactions.</a:t>
            </a:r>
            <a:endParaRPr lang="en-US" sz="1500" dirty="0"/>
          </a:p>
        </p:txBody>
      </p:sp>
      <p:sp>
        <p:nvSpPr>
          <p:cNvPr id="7" name="seed-card"/>
          <p:cNvSpPr/>
          <p:nvPr/>
        </p:nvSpPr>
        <p:spPr>
          <a:xfrm>
            <a:off x="7909560" y="3840480"/>
            <a:ext cx="3749040" cy="2011680"/>
          </a:xfrm>
          <a:prstGeom prst="roundRect">
            <a:avLst>
              <a:gd name="adj" fmla="val 3636"/>
            </a:avLst>
          </a:prstGeom>
          <a:solidFill>
            <a:schemeClr val="bg2"/>
          </a:solidFill>
          <a:ln/>
        </p:spPr>
        <p:txBody>
          <a:bodyPr/>
          <a:p/>
        </p:txBody>
      </p:sp>
      <p:sp>
        <p:nvSpPr>
          <p:cNvPr id="8" name="Text 5"/>
          <p:cNvSpPr txBox="1"/>
          <p:nvPr/>
        </p:nvSpPr>
        <p:spPr>
          <a:xfrm>
            <a:off x="8092440" y="3959352"/>
            <a:ext cx="3474720" cy="320040"/>
          </a:xfrm>
          <a:prstGeom prst="rect">
            <a:avLst/>
          </a:prstGeom>
          <a:noFill/>
          <a:ln/>
        </p:spPr>
        <p:txBody>
          <a:bodyPr wrap="square" lIns="0" tIns="0" rIns="0" bIns="0" rtlCol="0" anchor="t"/>
          <a:lstStyle/>
          <a:p>
            <a:pPr indent="0" marL="0">
              <a:buNone/>
            </a:pPr>
            <a:r>
              <a:rPr lang="en-US" sz="1300" b="1" dirty="0">
                <a:solidFill>
                  <a:schemeClr val="tx2"/>
                </a:solidFill>
              </a:rPr>
              <a:t>Five regenerated datasets (k = 3)</a:t>
            </a:r>
            <a:endParaRPr lang="en-US" sz="1300" dirty="0"/>
          </a:p>
        </p:txBody>
      </p:sp>
      <p:sp>
        <p:nvSpPr>
          <p:cNvPr id="9" name="Text 6"/>
          <p:cNvSpPr txBox="1"/>
          <p:nvPr/>
        </p:nvSpPr>
        <p:spPr>
          <a:xfrm>
            <a:off x="8092440" y="4343400"/>
            <a:ext cx="3474720" cy="1645920"/>
          </a:xfrm>
          <a:prstGeom prst="rect">
            <a:avLst/>
          </a:prstGeom>
          <a:noFill/>
          <a:ln/>
        </p:spPr>
        <p:txBody>
          <a:bodyPr wrap="square" lIns="0" tIns="0" rIns="0" bIns="0" rtlCol="0" anchor="t"/>
          <a:lstStyle/>
          <a:p>
            <a:pPr indent="0" marL="0">
              <a:spcAft>
                <a:spcPts val="300"/>
              </a:spcAft>
              <a:buNone/>
            </a:pPr>
            <a:r>
              <a:rPr lang="en-US" sz="1300" dirty="0">
                <a:solidFill>
                  <a:schemeClr val="tx1"/>
                </a:solidFill>
              </a:rPr>
              <a:t>TabNet: 0.875 ± 0.008</a:t>
            </a:r>
            <a:endParaRPr lang="en-US" sz="1500" dirty="0"/>
          </a:p>
          <a:p>
            <a:pPr indent="0" marL="0">
              <a:spcAft>
                <a:spcPts val="300"/>
              </a:spcAft>
              <a:buNone/>
            </a:pPr>
            <a:r>
              <a:rPr lang="en-US" sz="1300" dirty="0">
                <a:solidFill>
                  <a:schemeClr val="tx1"/>
                </a:solidFill>
              </a:rPr>
              <a:t>MLP: 0.873 ± 0.008</a:t>
            </a:r>
            <a:endParaRPr lang="en-US" sz="1500" dirty="0"/>
          </a:p>
          <a:p>
            <a:pPr indent="0" marL="0">
              <a:spcAft>
                <a:spcPts val="300"/>
              </a:spcAft>
              <a:buNone/>
            </a:pPr>
            <a:r>
              <a:rPr lang="en-US" sz="1300" dirty="0">
                <a:solidFill>
                  <a:schemeClr val="tx1"/>
                </a:solidFill>
              </a:rPr>
              <a:t>Random Forest: 0.872 ± 0.007</a:t>
            </a:r>
            <a:endParaRPr lang="en-US" sz="1500" dirty="0"/>
          </a:p>
          <a:p>
            <a:pPr indent="0" marL="0">
              <a:spcAft>
                <a:spcPts val="300"/>
              </a:spcAft>
              <a:buNone/>
            </a:pPr>
            <a:r>
              <a:rPr lang="en-US" sz="1300" dirty="0">
                <a:solidFill>
                  <a:schemeClr val="tx1"/>
                </a:solidFill>
              </a:rPr>
              <a:t>Logistic Regression: 0.827 ± 0.008</a:t>
            </a:r>
            <a:endParaRPr lang="en-US" sz="1500" dirty="0"/>
          </a:p>
          <a:p>
            <a:pPr indent="0" marL="0">
              <a:spcAft>
                <a:spcPts val="300"/>
              </a:spcAft>
              <a:buNone/>
            </a:pPr>
            <a:r>
              <a:rPr lang="en-US" sz="1300" dirty="0">
                <a:solidFill>
                  <a:schemeClr val="tx1"/>
                </a:solidFill>
              </a:rPr>
              <a:t>Oracle: 0.886 ± 0.007</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TabNet vs MLP: no clear accuracy winner</a:t>
            </a:r>
            <a:endParaRPr lang="en-US" sz="3400" dirty="0"/>
          </a:p>
        </p:txBody>
      </p:sp>
      <p:graphicFrame>
        <p:nvGraphicFramePr>
          <p:cNvPr id="9" name="metrics-table"/>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3291840"/>
        </p:xfrm>
        <a:graphic>
          <a:graphicData uri="http://schemas.openxmlformats.org/drawingml/2006/table">
            <a:tbl>
              <a:tblPr/>
              <a:tblGrid>
                <a:gridCol w="3200400"/>
                <a:gridCol w="1874519"/>
                <a:gridCol w="1874519"/>
              </a:tblGrid>
              <a:tr h="411480">
                <a:tc>
                  <a:txBody>
                    <a:bodyPr/>
                    <a:lstStyle/>
                    <a:p>
                      <a:pPr algn="l" indent="0" marL="0">
                        <a:buNone/>
                      </a:pPr>
                      <a:r>
                        <a:rPr lang="en-US" sz="1400" b="1" dirty="0">
                          <a:solidFill>
                            <a:schemeClr val="bg1"/>
                          </a:solidFill>
                        </a:rPr>
                        <a:t>Comparison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MLP</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TabNet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411480">
                <a:tc>
                  <a:txBody>
                    <a:bodyPr/>
                    <a:lstStyle/>
                    <a:p>
                      <a:pPr algn="l" indent="0" marL="0">
                        <a:buNone/>
                      </a:pPr>
                      <a:r>
                        <a:rPr lang="en-US" sz="1400" dirty="0">
                          <a:solidFill>
                            <a:schemeClr val="tx1"/>
                          </a:solidFill>
                        </a:rPr>
                        <a:t>Real data: test 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0.495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Real data: validation 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0.529</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0.515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Simulated, interactions (5 seeds)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0.873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0.875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Simulated, smooth signals (5 seeds)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0.866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0.868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Trainable parameters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7.6k</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11.3k</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Train time: real / 100k simulated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0.3 s / 3 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8 s / 107 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Built-in explanation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None</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Attention masks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7909560" y="1417320"/>
            <a:ext cx="3749039" cy="731520"/>
          </a:xfrm>
          <a:prstGeom prst="rect">
            <a:avLst/>
          </a:prstGeom>
          <a:noFill/>
          <a:ln/>
        </p:spPr>
        <p:txBody>
          <a:bodyPr wrap="square" lIns="0" tIns="0" rIns="0" bIns="0" rtlCol="0" anchor="b"/>
          <a:lstStyle/>
          <a:p>
            <a:pPr indent="0" marL="0">
              <a:buNone/>
            </a:pPr>
            <a:r>
              <a:rPr lang="en-US" sz="4000" b="1" dirty="0">
                <a:solidFill>
                  <a:schemeClr val="accent3"/>
                </a:solidFill>
                <a:latin typeface="Cambria" pitchFamily="34" charset="0"/>
                <a:ea typeface="Cambria" pitchFamily="34" charset="-122"/>
                <a:cs typeface="Cambria" pitchFamily="34" charset="-120"/>
              </a:rPr>
              <a:t>+0.011</a:t>
            </a:r>
            <a:endParaRPr lang="en-US" sz="4000" dirty="0"/>
          </a:p>
        </p:txBody>
      </p:sp>
      <p:sp>
        <p:nvSpPr>
          <p:cNvPr id="5" name="Text 2"/>
          <p:cNvSpPr txBox="1"/>
          <p:nvPr/>
        </p:nvSpPr>
        <p:spPr>
          <a:xfrm>
            <a:off x="7909560" y="2194560"/>
            <a:ext cx="3749039" cy="685800"/>
          </a:xfrm>
          <a:prstGeom prst="rect">
            <a:avLst/>
          </a:prstGeom>
          <a:noFill/>
          <a:ln/>
        </p:spPr>
        <p:txBody>
          <a:bodyPr wrap="square" lIns="0" tIns="0" rIns="0" bIns="0" rtlCol="0" anchor="t"/>
          <a:lstStyle/>
          <a:p>
            <a:pPr indent="0" marL="0">
              <a:buNone/>
            </a:pPr>
            <a:r>
              <a:rPr lang="en-US" sz="1300" dirty="0">
                <a:solidFill>
                  <a:schemeClr val="accent4"/>
                </a:solidFill>
              </a:rPr>
              <a:t>TabNet − MLP test ROC-AUC on real data; 95% CI −0.030 to +0.054, so not a real win</a:t>
            </a:r>
            <a:endParaRPr lang="en-US" sz="1300" dirty="0"/>
          </a:p>
        </p:txBody>
      </p:sp>
      <p:sp>
        <p:nvSpPr>
          <p:cNvPr id="7" name="Text 4"/>
          <p:cNvSpPr txBox="1"/>
          <p:nvPr/>
        </p:nvSpPr>
        <p:spPr>
          <a:xfrm>
            <a:off x="7909560" y="3154680"/>
            <a:ext cx="3749039"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27×</a:t>
            </a:r>
            <a:endParaRPr lang="en-US" sz="4000" dirty="0"/>
          </a:p>
        </p:txBody>
      </p:sp>
      <p:sp>
        <p:nvSpPr>
          <p:cNvPr id="8" name="Text 5"/>
          <p:cNvSpPr txBox="1"/>
          <p:nvPr/>
        </p:nvSpPr>
        <p:spPr>
          <a:xfrm>
            <a:off x="7909560" y="3931920"/>
            <a:ext cx="3749039" cy="685800"/>
          </a:xfrm>
          <a:prstGeom prst="rect">
            <a:avLst/>
          </a:prstGeom>
          <a:noFill/>
          <a:ln/>
        </p:spPr>
        <p:txBody>
          <a:bodyPr wrap="square" lIns="0" tIns="0" rIns="0" bIns="0" rtlCol="0" anchor="t"/>
          <a:lstStyle/>
          <a:p>
            <a:pPr indent="0" marL="0">
              <a:buNone/>
            </a:pPr>
            <a:r>
              <a:rPr lang="en-US" sz="1300" dirty="0">
                <a:solidFill>
                  <a:schemeClr val="accent4"/>
                </a:solidFill>
              </a:rPr>
              <a:t>slower for TabNet to train on real data (35× on 100k simulated deals)</a:t>
            </a:r>
            <a:endParaRPr lang="en-US" sz="1300" dirty="0"/>
          </a:p>
        </p:txBody>
      </p:sp>
      <p:sp>
        <p:nvSpPr>
          <p:cNvPr id="11" name="Text 8"/>
          <p:cNvSpPr txBox="1"/>
          <p:nvPr/>
        </p:nvSpPr>
        <p:spPr>
          <a:xfrm>
            <a:off x="548640" y="4937760"/>
            <a:ext cx="11091672" cy="731520"/>
          </a:xfrm>
          <a:prstGeom prst="rect">
            <a:avLst/>
          </a:prstGeom>
          <a:noFill/>
          <a:ln/>
        </p:spPr>
        <p:txBody>
          <a:bodyPr wrap="square" lIns="0" tIns="0" rIns="0" bIns="0" rtlCol="0" anchor="t"/>
          <a:lstStyle/>
          <a:p>
            <a:pPr indent="0" marL="0">
              <a:buNone/>
            </a:pPr>
            <a:r>
              <a:rPr lang="en-US" sz="1500" i="1" dirty="0">
                <a:solidFill>
                  <a:schemeClr val="accent4"/>
                </a:solidFill>
              </a:rPr>
              <a:t>Accuracy differences sit inside the noise in every setting. TabNet adds built-in feature attention, at a much higher training cost.</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Same pipeline, two datasets</a:t>
            </a:r>
            <a:endParaRPr lang="en-US" sz="3400" dirty="0"/>
          </a:p>
        </p:txBody>
      </p:sp>
      <p:sp>
        <p:nvSpPr>
          <p:cNvPr id="3" name="compare-0"/>
          <p:cNvSpPr/>
          <p:nvPr/>
        </p:nvSpPr>
        <p:spPr>
          <a:xfrm>
            <a:off x="548640" y="1417320"/>
            <a:ext cx="5364328" cy="3566160"/>
          </a:xfrm>
          <a:prstGeom prst="roundRect">
            <a:avLst>
              <a:gd name="adj" fmla="val 2051"/>
            </a:avLst>
          </a:prstGeom>
          <a:solidFill>
            <a:schemeClr val="bg2"/>
          </a:solidFill>
          <a:ln/>
        </p:spPr>
        <p:txBody>
          <a:bodyPr/>
          <a:p/>
        </p:txBody>
      </p:sp>
      <p:sp>
        <p:nvSpPr>
          <p:cNvPr id="4" name="Text 2"/>
          <p:cNvSpPr txBox="1"/>
          <p:nvPr/>
        </p:nvSpPr>
        <p:spPr>
          <a:xfrm>
            <a:off x="914400" y="1645920"/>
            <a:ext cx="4632808" cy="411480"/>
          </a:xfrm>
          <a:prstGeom prst="rect">
            <a:avLst/>
          </a:prstGeom>
          <a:noFill/>
          <a:ln/>
        </p:spPr>
        <p:txBody>
          <a:bodyPr wrap="square" lIns="0" tIns="0" rIns="0" bIns="0" rtlCol="0" anchor="t"/>
          <a:lstStyle/>
          <a:p>
            <a:pPr indent="0" marL="0">
              <a:buNone/>
            </a:pPr>
            <a:r>
              <a:rPr lang="en-US" sz="2000" b="1" dirty="0">
                <a:solidFill>
                  <a:schemeClr val="tx2"/>
                </a:solidFill>
              </a:rPr>
              <a:t>A · Original CRM data</a:t>
            </a:r>
            <a:endParaRPr lang="en-US" sz="2000" dirty="0"/>
          </a:p>
        </p:txBody>
      </p:sp>
      <p:sp>
        <p:nvSpPr>
          <p:cNvPr id="5" name="Text 3"/>
          <p:cNvSpPr txBox="1"/>
          <p:nvPr/>
        </p:nvSpPr>
        <p:spPr>
          <a:xfrm>
            <a:off x="914400" y="2148840"/>
            <a:ext cx="4632808"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0.524</a:t>
            </a:r>
            <a:endParaRPr lang="en-US" sz="7200" dirty="0"/>
          </a:p>
        </p:txBody>
      </p:sp>
      <p:sp>
        <p:nvSpPr>
          <p:cNvPr id="6" name="Text 4"/>
          <p:cNvSpPr txBox="1"/>
          <p:nvPr/>
        </p:nvSpPr>
        <p:spPr>
          <a:xfrm>
            <a:off x="914400" y="3291840"/>
            <a:ext cx="4632808" cy="320040"/>
          </a:xfrm>
          <a:prstGeom prst="rect">
            <a:avLst/>
          </a:prstGeom>
          <a:noFill/>
          <a:ln/>
        </p:spPr>
        <p:txBody>
          <a:bodyPr wrap="square" lIns="0" tIns="0" rIns="0" bIns="0" rtlCol="0" anchor="t"/>
          <a:lstStyle/>
          <a:p>
            <a:pPr indent="0" marL="0">
              <a:buNone/>
            </a:pPr>
            <a:r>
              <a:rPr lang="en-US" sz="1400" dirty="0">
                <a:solidFill>
                  <a:schemeClr val="accent4"/>
                </a:solidFill>
              </a:rPr>
              <a:t>best test ROC-AUC: about the same as random</a:t>
            </a:r>
            <a:endParaRPr lang="en-US" sz="1400" dirty="0"/>
          </a:p>
        </p:txBody>
      </p:sp>
      <p:sp>
        <p:nvSpPr>
          <p:cNvPr id="7" name="Text 5"/>
          <p:cNvSpPr txBox="1"/>
          <p:nvPr/>
        </p:nvSpPr>
        <p:spPr>
          <a:xfrm>
            <a:off x="914400" y="3794760"/>
            <a:ext cx="4632808" cy="822960"/>
          </a:xfrm>
          <a:prstGeom prst="rect">
            <a:avLst/>
          </a:prstGeom>
          <a:noFill/>
          <a:ln/>
        </p:spPr>
        <p:txBody>
          <a:bodyPr wrap="square" lIns="0" tIns="0" rIns="0" bIns="0" rtlCol="0" anchor="t"/>
          <a:lstStyle/>
          <a:p>
            <a:pPr indent="0" marL="0">
              <a:buNone/>
            </a:pPr>
            <a:r>
              <a:rPr lang="en-US" sz="1600" dirty="0">
                <a:solidFill>
                  <a:schemeClr val="tx1"/>
                </a:solidFill>
              </a:rPr>
              <a:t>The available features carry almost no signal about Won or Lost.</a:t>
            </a:r>
            <a:endParaRPr lang="en-US" sz="1600" dirty="0"/>
          </a:p>
        </p:txBody>
      </p:sp>
      <p:sp>
        <p:nvSpPr>
          <p:cNvPr id="8" name="compare-1"/>
          <p:cNvSpPr/>
          <p:nvPr/>
        </p:nvSpPr>
        <p:spPr>
          <a:xfrm>
            <a:off x="6278728" y="1417320"/>
            <a:ext cx="5364328" cy="3566160"/>
          </a:xfrm>
          <a:prstGeom prst="roundRect">
            <a:avLst>
              <a:gd name="adj" fmla="val 2051"/>
            </a:avLst>
          </a:prstGeom>
          <a:solidFill>
            <a:schemeClr val="bg2"/>
          </a:solidFill>
          <a:ln/>
        </p:spPr>
        <p:txBody>
          <a:bodyPr/>
          <a:p/>
        </p:txBody>
      </p:sp>
      <p:sp>
        <p:nvSpPr>
          <p:cNvPr id="9" name="Text 7"/>
          <p:cNvSpPr txBox="1"/>
          <p:nvPr/>
        </p:nvSpPr>
        <p:spPr>
          <a:xfrm>
            <a:off x="6644488" y="1645920"/>
            <a:ext cx="4632808" cy="411480"/>
          </a:xfrm>
          <a:prstGeom prst="rect">
            <a:avLst/>
          </a:prstGeom>
          <a:noFill/>
          <a:ln/>
        </p:spPr>
        <p:txBody>
          <a:bodyPr wrap="square" lIns="0" tIns="0" rIns="0" bIns="0" rtlCol="0" anchor="t"/>
          <a:lstStyle/>
          <a:p>
            <a:pPr indent="0" marL="0">
              <a:buNone/>
            </a:pPr>
            <a:r>
              <a:rPr lang="en-US" sz="2000" b="1" dirty="0">
                <a:solidFill>
                  <a:schemeClr val="tx2"/>
                </a:solidFill>
              </a:rPr>
              <a:t>B · Simulated data</a:t>
            </a:r>
            <a:endParaRPr lang="en-US" sz="2000" dirty="0"/>
          </a:p>
        </p:txBody>
      </p:sp>
      <p:sp>
        <p:nvSpPr>
          <p:cNvPr id="10" name="Text 8"/>
          <p:cNvSpPr txBox="1"/>
          <p:nvPr/>
        </p:nvSpPr>
        <p:spPr>
          <a:xfrm>
            <a:off x="6644488" y="2148840"/>
            <a:ext cx="4632808" cy="1097280"/>
          </a:xfrm>
          <a:prstGeom prst="rect">
            <a:avLst/>
          </a:prstGeom>
          <a:noFill/>
          <a:ln/>
        </p:spPr>
        <p:txBody>
          <a:bodyPr wrap="square" lIns="0" tIns="0" rIns="0" bIns="0" rtlCol="0" anchor="ctr"/>
          <a:lstStyle/>
          <a:p>
            <a:pPr indent="0" marL="0">
              <a:buNone/>
            </a:pPr>
            <a:r>
              <a:rPr lang="en-US" sz="7200" b="1" dirty="0">
                <a:solidFill>
                  <a:schemeClr val="accent1"/>
                </a:solidFill>
                <a:latin typeface="Cambria" pitchFamily="34" charset="0"/>
                <a:ea typeface="Cambria" pitchFamily="34" charset="-122"/>
                <a:cs typeface="Cambria" pitchFamily="34" charset="-120"/>
              </a:rPr>
              <a:t>0.869</a:t>
            </a:r>
            <a:endParaRPr lang="en-US" sz="7200" dirty="0"/>
          </a:p>
        </p:txBody>
      </p:sp>
      <p:sp>
        <p:nvSpPr>
          <p:cNvPr id="11" name="Text 9"/>
          <p:cNvSpPr txBox="1"/>
          <p:nvPr/>
        </p:nvSpPr>
        <p:spPr>
          <a:xfrm>
            <a:off x="6644488" y="3291840"/>
            <a:ext cx="4632808" cy="320040"/>
          </a:xfrm>
          <a:prstGeom prst="rect">
            <a:avLst/>
          </a:prstGeom>
          <a:noFill/>
          <a:ln/>
        </p:spPr>
        <p:txBody>
          <a:bodyPr wrap="square" lIns="0" tIns="0" rIns="0" bIns="0" rtlCol="0" anchor="t"/>
          <a:lstStyle/>
          <a:p>
            <a:pPr indent="0" marL="0">
              <a:buNone/>
            </a:pPr>
            <a:r>
              <a:rPr lang="en-US" sz="1400" dirty="0">
                <a:solidFill>
                  <a:schemeClr val="accent4"/>
                </a:solidFill>
              </a:rPr>
              <a:t>best test ROC-AUC (oracle 0.878)</a:t>
            </a:r>
            <a:endParaRPr lang="en-US" sz="1400" dirty="0"/>
          </a:p>
        </p:txBody>
      </p:sp>
      <p:sp>
        <p:nvSpPr>
          <p:cNvPr id="12" name="Text 10"/>
          <p:cNvSpPr txBox="1"/>
          <p:nvPr/>
        </p:nvSpPr>
        <p:spPr>
          <a:xfrm>
            <a:off x="6644488" y="3794760"/>
            <a:ext cx="4632808" cy="822960"/>
          </a:xfrm>
          <a:prstGeom prst="rect">
            <a:avLst/>
          </a:prstGeom>
          <a:noFill/>
          <a:ln/>
        </p:spPr>
        <p:txBody>
          <a:bodyPr wrap="square" lIns="0" tIns="0" rIns="0" bIns="0" rtlCol="0" anchor="t"/>
          <a:lstStyle/>
          <a:p>
            <a:pPr indent="0" marL="0">
              <a:buNone/>
            </a:pPr>
            <a:r>
              <a:rPr lang="en-US" sz="1600" dirty="0">
                <a:solidFill>
                  <a:schemeClr val="tx1"/>
                </a:solidFill>
              </a:rPr>
              <a:t>The same pipeline and models do learn when structure exists.</a:t>
            </a:r>
            <a:endParaRPr lang="en-US" sz="1600" dirty="0"/>
          </a:p>
        </p:txBody>
      </p:sp>
      <p:sp>
        <p:nvSpPr>
          <p:cNvPr id="13" name="icon-bg-check"/>
          <p:cNvSpPr/>
          <p:nvPr/>
        </p:nvSpPr>
        <p:spPr>
          <a:xfrm>
            <a:off x="548640" y="5303520"/>
            <a:ext cx="548640" cy="548640"/>
          </a:xfrm>
          <a:prstGeom prst="ellipse">
            <a:avLst/>
          </a:prstGeom>
          <a:solidFill>
            <a:schemeClr val="accent1"/>
          </a:solidFill>
          <a:ln/>
        </p:spPr>
        <p:txBody>
          <a:bodyPr/>
          <a:p/>
        </p:txBody>
      </p:sp>
      <p:pic>
        <p:nvPicPr>
          <p:cNvPr id="14" name="icon-check" descr="preencoded.png">    </p:cNvPr>
          <p:cNvPicPr>
            <a:picLocks noChangeAspect="1"/>
          </p:cNvPicPr>
          <p:nvPr/>
        </p:nvPicPr>
        <p:blipFill>
          <a:blip r:embed="rId1"/>
          <a:stretch>
            <a:fillRect/>
          </a:stretch>
        </p:blipFill>
        <p:spPr>
          <a:xfrm>
            <a:off x="685800" y="5440680"/>
            <a:ext cx="274320" cy="274320"/>
          </a:xfrm>
          <a:prstGeom prst="rect">
            <a:avLst/>
          </a:prstGeom>
        </p:spPr>
      </p:pic>
      <p:sp>
        <p:nvSpPr>
          <p:cNvPr id="15" name="Text 12"/>
          <p:cNvSpPr txBox="1"/>
          <p:nvPr/>
        </p:nvSpPr>
        <p:spPr>
          <a:xfrm>
            <a:off x="1280160" y="5230368"/>
            <a:ext cx="10362895" cy="731520"/>
          </a:xfrm>
          <a:prstGeom prst="rect">
            <a:avLst/>
          </a:prstGeom>
          <a:noFill/>
          <a:ln/>
        </p:spPr>
        <p:txBody>
          <a:bodyPr wrap="square" lIns="0" tIns="0" rIns="0" bIns="0" rtlCol="0" anchor="ctr"/>
          <a:lstStyle/>
          <a:p>
            <a:pPr indent="0" marL="0">
              <a:buNone/>
            </a:pPr>
            <a:r>
              <a:rPr lang="en-US" sz="1600" b="1" dirty="0">
                <a:solidFill>
                  <a:schemeClr val="tx2"/>
                </a:solidFill>
              </a:rPr>
              <a:t>The low scores come from the data, not from the pipeline. </a:t>
            </a:r>
            <a:pPr indent="0" marL="0">
              <a:buNone/>
            </a:pPr>
            <a:r>
              <a:rPr lang="en-US" sz="1600" dirty="0">
                <a:solidFill>
                  <a:schemeClr val="tx1"/>
                </a:solidFill>
              </a:rPr>
              <a:t>Simulated scores are never real-world performance and are kept out of the reported results.</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our project adds</a:t>
            </a:r>
            <a:endParaRPr lang="en-US" sz="3400" dirty="0"/>
          </a:p>
        </p:txBody>
      </p:sp>
      <p:sp>
        <p:nvSpPr>
          <p:cNvPr id="3" name="novelty-0"/>
          <p:cNvSpPr/>
          <p:nvPr/>
        </p:nvSpPr>
        <p:spPr>
          <a:xfrm>
            <a:off x="548640" y="1417320"/>
            <a:ext cx="3429000" cy="2011680"/>
          </a:xfrm>
          <a:prstGeom prst="roundRect">
            <a:avLst>
              <a:gd name="adj" fmla="val 3636"/>
            </a:avLst>
          </a:prstGeom>
          <a:solidFill>
            <a:schemeClr val="bg2"/>
          </a:solidFill>
          <a:ln/>
        </p:spPr>
        <p:txBody>
          <a:bodyPr/>
          <a:p/>
        </p:txBody>
      </p:sp>
      <p:sp>
        <p:nvSpPr>
          <p:cNvPr id="4" name="icon-bg-eye"/>
          <p:cNvSpPr/>
          <p:nvPr/>
        </p:nvSpPr>
        <p:spPr>
          <a:xfrm>
            <a:off x="822960" y="1691640"/>
            <a:ext cx="548640" cy="548640"/>
          </a:xfrm>
          <a:prstGeom prst="ellipse">
            <a:avLst/>
          </a:prstGeom>
          <a:solidFill>
            <a:schemeClr val="accent1"/>
          </a:solidFill>
          <a:ln/>
        </p:spPr>
        <p:txBody>
          <a:bodyPr/>
          <a:p/>
        </p:txBody>
      </p:sp>
      <p:pic>
        <p:nvPicPr>
          <p:cNvPr id="5" name="icon-eye" descr="preencoded.png">    </p:cNvPr>
          <p:cNvPicPr>
            <a:picLocks noChangeAspect="1"/>
          </p:cNvPicPr>
          <p:nvPr/>
        </p:nvPicPr>
        <p:blipFill>
          <a:blip r:embed="rId1"/>
          <a:stretch>
            <a:fillRect/>
          </a:stretch>
        </p:blipFill>
        <p:spPr>
          <a:xfrm>
            <a:off x="960120" y="1828800"/>
            <a:ext cx="274320" cy="274320"/>
          </a:xfrm>
          <a:prstGeom prst="rect">
            <a:avLst/>
          </a:prstGeom>
        </p:spPr>
      </p:pic>
      <p:sp>
        <p:nvSpPr>
          <p:cNvPr id="6" name="Text 3"/>
          <p:cNvSpPr txBox="1"/>
          <p:nvPr/>
        </p:nvSpPr>
        <p:spPr>
          <a:xfrm>
            <a:off x="1508760" y="1691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Prediction plus explanation</a:t>
            </a:r>
            <a:endParaRPr lang="en-US" sz="1700" dirty="0"/>
          </a:p>
        </p:txBody>
      </p:sp>
      <p:sp>
        <p:nvSpPr>
          <p:cNvPr id="7" name="Text 4"/>
          <p:cNvSpPr txBox="1"/>
          <p:nvPr/>
        </p:nvSpPr>
        <p:spPr>
          <a:xfrm>
            <a:off x="822960" y="2423160"/>
            <a:ext cx="2880360" cy="868680"/>
          </a:xfrm>
          <a:prstGeom prst="rect">
            <a:avLst/>
          </a:prstGeom>
          <a:noFill/>
          <a:ln/>
        </p:spPr>
        <p:txBody>
          <a:bodyPr wrap="square" lIns="0" tIns="0" rIns="0" bIns="0" rtlCol="0" anchor="t"/>
          <a:lstStyle/>
          <a:p>
            <a:pPr indent="0" marL="0">
              <a:buNone/>
            </a:pPr>
            <a:r>
              <a:rPr lang="en-US" sz="1400" dirty="0">
                <a:solidFill>
                  <a:schemeClr val="tx1"/>
                </a:solidFill>
              </a:rPr>
              <a:t>P(Won) per deal; its top factors move the score 3.1× more than random ones</a:t>
            </a:r>
            <a:endParaRPr lang="en-US" sz="1400" dirty="0"/>
          </a:p>
        </p:txBody>
      </p:sp>
      <p:sp>
        <p:nvSpPr>
          <p:cNvPr id="13" name="novelty-2"/>
          <p:cNvSpPr/>
          <p:nvPr/>
        </p:nvSpPr>
        <p:spPr>
          <a:xfrm>
            <a:off x="4379976" y="1417320"/>
            <a:ext cx="3429000" cy="2011680"/>
          </a:xfrm>
          <a:prstGeom prst="roundRect">
            <a:avLst>
              <a:gd name="adj" fmla="val 3636"/>
            </a:avLst>
          </a:prstGeom>
          <a:solidFill>
            <a:schemeClr val="bg2"/>
          </a:solidFill>
          <a:ln/>
        </p:spPr>
        <p:txBody>
          <a:bodyPr/>
          <a:p/>
        </p:txBody>
      </p:sp>
      <p:sp>
        <p:nvSpPr>
          <p:cNvPr id="14" name="icon-bg-clock"/>
          <p:cNvSpPr/>
          <p:nvPr/>
        </p:nvSpPr>
        <p:spPr>
          <a:xfrm>
            <a:off x="4654296" y="1691640"/>
            <a:ext cx="548640" cy="548640"/>
          </a:xfrm>
          <a:prstGeom prst="ellipse">
            <a:avLst/>
          </a:prstGeom>
          <a:solidFill>
            <a:schemeClr val="accent1"/>
          </a:solidFill>
          <a:ln/>
        </p:spPr>
        <p:txBody>
          <a:bodyPr/>
          <a:p/>
        </p:txBody>
      </p:sp>
      <p:pic>
        <p:nvPicPr>
          <p:cNvPr id="15" name="icon-clock" descr="preencoded.png">    </p:cNvPr>
          <p:cNvPicPr>
            <a:picLocks noChangeAspect="1"/>
          </p:cNvPicPr>
          <p:nvPr/>
        </p:nvPicPr>
        <p:blipFill>
          <a:blip r:embed="rId3"/>
          <a:stretch>
            <a:fillRect/>
          </a:stretch>
        </p:blipFill>
        <p:spPr>
          <a:xfrm>
            <a:off x="4791456" y="1828800"/>
            <a:ext cx="274320" cy="274320"/>
          </a:xfrm>
          <a:prstGeom prst="rect">
            <a:avLst/>
          </a:prstGeom>
        </p:spPr>
      </p:pic>
      <p:sp>
        <p:nvSpPr>
          <p:cNvPr id="16" name="Text 11"/>
          <p:cNvSpPr txBox="1"/>
          <p:nvPr/>
        </p:nvSpPr>
        <p:spPr>
          <a:xfrm>
            <a:off x="5340096" y="1691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Label-availability split</a:t>
            </a:r>
            <a:endParaRPr lang="en-US" sz="1700" dirty="0"/>
          </a:p>
        </p:txBody>
      </p:sp>
      <p:sp>
        <p:nvSpPr>
          <p:cNvPr id="17" name="Text 12"/>
          <p:cNvSpPr txBox="1"/>
          <p:nvPr/>
        </p:nvSpPr>
        <p:spPr>
          <a:xfrm>
            <a:off x="4654296" y="2423160"/>
            <a:ext cx="2880360" cy="868680"/>
          </a:xfrm>
          <a:prstGeom prst="rect">
            <a:avLst/>
          </a:prstGeom>
          <a:noFill/>
          <a:ln/>
        </p:spPr>
        <p:txBody>
          <a:bodyPr wrap="square" lIns="0" tIns="0" rIns="0" bIns="0" rtlCol="0" anchor="t"/>
          <a:lstStyle/>
          <a:p>
            <a:pPr indent="0" marL="0">
              <a:buNone/>
            </a:pPr>
            <a:r>
              <a:rPr lang="en-US" sz="1400" dirty="0">
                <a:solidFill>
                  <a:schemeClr val="tx1"/>
                </a:solidFill>
              </a:rPr>
              <a:t>Train only on known outcomes; a random split adds at most 0.04 AUC</a:t>
            </a:r>
            <a:endParaRPr lang="en-US" sz="1400" dirty="0"/>
          </a:p>
        </p:txBody>
      </p:sp>
      <p:sp>
        <p:nvSpPr>
          <p:cNvPr id="18" name="novelty-3"/>
          <p:cNvSpPr/>
          <p:nvPr/>
        </p:nvSpPr>
        <p:spPr>
          <a:xfrm>
            <a:off x="8211312" y="1417320"/>
            <a:ext cx="3429000" cy="2011680"/>
          </a:xfrm>
          <a:prstGeom prst="roundRect">
            <a:avLst>
              <a:gd name="adj" fmla="val 3636"/>
            </a:avLst>
          </a:prstGeom>
          <a:solidFill>
            <a:schemeClr val="bg2"/>
          </a:solidFill>
          <a:ln/>
        </p:spPr>
        <p:txBody>
          <a:bodyPr/>
          <a:p/>
        </p:txBody>
      </p:sp>
      <p:sp>
        <p:nvSpPr>
          <p:cNvPr id="19" name="icon-bg-warn"/>
          <p:cNvSpPr/>
          <p:nvPr/>
        </p:nvSpPr>
        <p:spPr>
          <a:xfrm>
            <a:off x="8485632" y="1691640"/>
            <a:ext cx="548640" cy="548640"/>
          </a:xfrm>
          <a:prstGeom prst="ellipse">
            <a:avLst/>
          </a:prstGeom>
          <a:solidFill>
            <a:schemeClr val="accent1"/>
          </a:solidFill>
          <a:ln/>
        </p:spPr>
        <p:txBody>
          <a:bodyPr/>
          <a:p/>
        </p:txBody>
      </p:sp>
      <p:pic>
        <p:nvPicPr>
          <p:cNvPr id="20" name="icon-warn" descr="preencoded.png">    </p:cNvPr>
          <p:cNvPicPr>
            <a:picLocks noChangeAspect="1"/>
          </p:cNvPicPr>
          <p:nvPr/>
        </p:nvPicPr>
        <p:blipFill>
          <a:blip r:embed="rId4"/>
          <a:stretch>
            <a:fillRect/>
          </a:stretch>
        </p:blipFill>
        <p:spPr>
          <a:xfrm>
            <a:off x="8622792" y="1828800"/>
            <a:ext cx="274320" cy="274320"/>
          </a:xfrm>
          <a:prstGeom prst="rect">
            <a:avLst/>
          </a:prstGeom>
        </p:spPr>
      </p:pic>
      <p:sp>
        <p:nvSpPr>
          <p:cNvPr id="21" name="Text 15"/>
          <p:cNvSpPr txBox="1"/>
          <p:nvPr/>
        </p:nvSpPr>
        <p:spPr>
          <a:xfrm>
            <a:off x="9171432" y="1691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Input warnings</a:t>
            </a:r>
            <a:endParaRPr lang="en-US" sz="1700" dirty="0"/>
          </a:p>
        </p:txBody>
      </p:sp>
      <p:sp>
        <p:nvSpPr>
          <p:cNvPr id="22" name="Text 16"/>
          <p:cNvSpPr txBox="1"/>
          <p:nvPr/>
        </p:nvSpPr>
        <p:spPr>
          <a:xfrm>
            <a:off x="8485632" y="2423160"/>
            <a:ext cx="2880360" cy="868680"/>
          </a:xfrm>
          <a:prstGeom prst="rect">
            <a:avLst/>
          </a:prstGeom>
          <a:noFill/>
          <a:ln/>
        </p:spPr>
        <p:txBody>
          <a:bodyPr wrap="square" lIns="0" tIns="0" rIns="0" bIns="0" rtlCol="0" anchor="t"/>
          <a:lstStyle/>
          <a:p>
            <a:pPr indent="0" marL="0">
              <a:buNone/>
            </a:pPr>
            <a:r>
              <a:rPr lang="en-US" sz="1400" dirty="0">
                <a:solidFill>
                  <a:schemeClr val="tx1"/>
                </a:solidFill>
              </a:rPr>
              <a:t>1,088 of 1,589 open-deal scores flagged for a missing account</a:t>
            </a:r>
            <a:endParaRPr lang="en-US" sz="1400" dirty="0"/>
          </a:p>
        </p:txBody>
      </p:sp>
      <p:sp>
        <p:nvSpPr>
          <p:cNvPr id="23" name="novelty-4"/>
          <p:cNvSpPr/>
          <p:nvPr/>
        </p:nvSpPr>
        <p:spPr>
          <a:xfrm>
            <a:off x="2468880" y="3703320"/>
            <a:ext cx="3429000" cy="2011680"/>
          </a:xfrm>
          <a:prstGeom prst="roundRect">
            <a:avLst>
              <a:gd name="adj" fmla="val 3636"/>
            </a:avLst>
          </a:prstGeom>
          <a:solidFill>
            <a:schemeClr val="bg2"/>
          </a:solidFill>
          <a:ln/>
        </p:spPr>
        <p:txBody>
          <a:bodyPr/>
          <a:p/>
        </p:txBody>
      </p:sp>
      <p:sp>
        <p:nvSpPr>
          <p:cNvPr id="24" name="icon-bg-flask"/>
          <p:cNvSpPr/>
          <p:nvPr/>
        </p:nvSpPr>
        <p:spPr>
          <a:xfrm>
            <a:off x="2743200" y="3977640"/>
            <a:ext cx="548640" cy="548640"/>
          </a:xfrm>
          <a:prstGeom prst="ellipse">
            <a:avLst/>
          </a:prstGeom>
          <a:solidFill>
            <a:schemeClr val="accent1"/>
          </a:solidFill>
          <a:ln/>
        </p:spPr>
        <p:txBody>
          <a:bodyPr/>
          <a:p/>
        </p:txBody>
      </p:sp>
      <p:pic>
        <p:nvPicPr>
          <p:cNvPr id="25" name="icon-flask" descr="preencoded.png">    </p:cNvPr>
          <p:cNvPicPr>
            <a:picLocks noChangeAspect="1"/>
          </p:cNvPicPr>
          <p:nvPr/>
        </p:nvPicPr>
        <p:blipFill>
          <a:blip r:embed="rId5"/>
          <a:stretch>
            <a:fillRect/>
          </a:stretch>
        </p:blipFill>
        <p:spPr>
          <a:xfrm>
            <a:off x="2880360" y="4114800"/>
            <a:ext cx="274320" cy="274320"/>
          </a:xfrm>
          <a:prstGeom prst="rect">
            <a:avLst/>
          </a:prstGeom>
        </p:spPr>
      </p:pic>
      <p:sp>
        <p:nvSpPr>
          <p:cNvPr id="26" name="Text 19"/>
          <p:cNvSpPr txBox="1"/>
          <p:nvPr/>
        </p:nvSpPr>
        <p:spPr>
          <a:xfrm>
            <a:off x="3429000" y="3977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Known-truth simulation</a:t>
            </a:r>
            <a:endParaRPr lang="en-US" sz="1700" dirty="0"/>
          </a:p>
        </p:txBody>
      </p:sp>
      <p:sp>
        <p:nvSpPr>
          <p:cNvPr id="27" name="Text 20"/>
          <p:cNvSpPr txBox="1"/>
          <p:nvPr/>
        </p:nvSpPr>
        <p:spPr>
          <a:xfrm>
            <a:off x="2743200"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Pipeline reaches 0.869 vs an oracle of 0.878 when signal exists</a:t>
            </a:r>
            <a:endParaRPr lang="en-US" sz="1400" dirty="0"/>
          </a:p>
        </p:txBody>
      </p:sp>
      <p:sp>
        <p:nvSpPr>
          <p:cNvPr id="28" name="novelty-5"/>
          <p:cNvSpPr/>
          <p:nvPr/>
        </p:nvSpPr>
        <p:spPr>
          <a:xfrm>
            <a:off x="6300216" y="3703320"/>
            <a:ext cx="3429000" cy="2011680"/>
          </a:xfrm>
          <a:prstGeom prst="roundRect">
            <a:avLst>
              <a:gd name="adj" fmla="val 3636"/>
            </a:avLst>
          </a:prstGeom>
          <a:solidFill>
            <a:schemeClr val="bg2"/>
          </a:solidFill>
          <a:ln/>
        </p:spPr>
        <p:txBody>
          <a:bodyPr/>
          <a:p/>
        </p:txBody>
      </p:sp>
      <p:sp>
        <p:nvSpPr>
          <p:cNvPr id="29" name="icon-bg-cogs"/>
          <p:cNvSpPr/>
          <p:nvPr/>
        </p:nvSpPr>
        <p:spPr>
          <a:xfrm>
            <a:off x="6574536" y="3977640"/>
            <a:ext cx="548640" cy="548640"/>
          </a:xfrm>
          <a:prstGeom prst="ellipse">
            <a:avLst/>
          </a:prstGeom>
          <a:solidFill>
            <a:schemeClr val="accent1"/>
          </a:solidFill>
          <a:ln/>
        </p:spPr>
        <p:txBody>
          <a:bodyPr/>
          <a:p/>
        </p:txBody>
      </p:sp>
      <p:pic>
        <p:nvPicPr>
          <p:cNvPr id="30" name="icon-cogs" descr="preencoded.png">    </p:cNvPr>
          <p:cNvPicPr>
            <a:picLocks noChangeAspect="1"/>
          </p:cNvPicPr>
          <p:nvPr/>
        </p:nvPicPr>
        <p:blipFill>
          <a:blip r:embed="rId6"/>
          <a:stretch>
            <a:fillRect/>
          </a:stretch>
        </p:blipFill>
        <p:spPr>
          <a:xfrm>
            <a:off x="6711696" y="4114800"/>
            <a:ext cx="274320" cy="274320"/>
          </a:xfrm>
          <a:prstGeom prst="rect">
            <a:avLst/>
          </a:prstGeom>
        </p:spPr>
      </p:pic>
      <p:sp>
        <p:nvSpPr>
          <p:cNvPr id="31" name="Text 23"/>
          <p:cNvSpPr txBox="1"/>
          <p:nvPr/>
        </p:nvSpPr>
        <p:spPr>
          <a:xfrm>
            <a:off x="7260336" y="3977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Reproducible on CPU</a:t>
            </a:r>
            <a:endParaRPr lang="en-US" sz="1700" dirty="0"/>
          </a:p>
        </p:txBody>
      </p:sp>
      <p:sp>
        <p:nvSpPr>
          <p:cNvPr id="32" name="Text 24"/>
          <p:cNvSpPr txBox="1"/>
          <p:nvPr/>
        </p:nvSpPr>
        <p:spPr>
          <a:xfrm>
            <a:off x="6574536"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Separate train, evaluate and predict steps, as commands or step-by-step notebooks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Limitations and future work</a:t>
            </a:r>
            <a:endParaRPr lang="en-US" sz="3400" dirty="0"/>
          </a:p>
        </p:txBody>
      </p:sp>
      <p:sp>
        <p:nvSpPr>
          <p:cNvPr id="3" name="icon-bg-warn"/>
          <p:cNvSpPr/>
          <p:nvPr/>
        </p:nvSpPr>
        <p:spPr>
          <a:xfrm>
            <a:off x="548640" y="1417320"/>
            <a:ext cx="548640" cy="548640"/>
          </a:xfrm>
          <a:prstGeom prst="ellipse">
            <a:avLst/>
          </a:prstGeom>
          <a:solidFill>
            <a:schemeClr val="accent3"/>
          </a:solidFill>
          <a:ln/>
        </p:spPr>
        <p:txBody>
          <a:bodyPr/>
          <a:p/>
        </p:txBody>
      </p:sp>
      <p:pic>
        <p:nvPicPr>
          <p:cNvPr id="4" name="icon-warn" descr="preencoded.png">    </p:cNvPr>
          <p:cNvPicPr>
            <a:picLocks noChangeAspect="1"/>
          </p:cNvPicPr>
          <p:nvPr/>
        </p:nvPicPr>
        <p:blipFill>
          <a:blip r:embed="rId1"/>
          <a:stretch>
            <a:fillRect/>
          </a:stretch>
        </p:blipFill>
        <p:spPr>
          <a:xfrm>
            <a:off x="685800" y="1554480"/>
            <a:ext cx="274320" cy="274320"/>
          </a:xfrm>
          <a:prstGeom prst="rect">
            <a:avLst/>
          </a:prstGeom>
        </p:spPr>
      </p:pic>
      <p:sp>
        <p:nvSpPr>
          <p:cNvPr id="5" name="Text 2"/>
          <p:cNvSpPr txBox="1"/>
          <p:nvPr/>
        </p:nvSpPr>
        <p:spPr>
          <a:xfrm>
            <a:off x="1280160"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Limitations</a:t>
            </a:r>
            <a:endParaRPr lang="en-US" sz="2000" dirty="0"/>
          </a:p>
        </p:txBody>
      </p:sp>
      <p:sp>
        <p:nvSpPr>
          <p:cNvPr id="6" name="Text 3"/>
          <p:cNvSpPr txBox="1"/>
          <p:nvPr/>
        </p:nvSpPr>
        <p:spPr>
          <a:xfrm>
            <a:off x="548640" y="2240280"/>
            <a:ext cx="5318608"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Trained on closed deals only: selection bias</a:t>
            </a:r>
            <a:endParaRPr lang="en-US" sz="1500" dirty="0"/>
          </a:p>
          <a:p>
            <a:pPr marL="203200" indent="-203200">
              <a:spcAft>
                <a:spcPts val="800"/>
              </a:spcAft>
              <a:buSzPct val="100000"/>
              <a:buChar char="•"/>
            </a:pPr>
            <a:r>
              <a:rPr lang="en-US" sz="1500" dirty="0">
                <a:solidFill>
                  <a:schemeClr val="tx1"/>
                </a:solidFill>
              </a:rPr>
              <a:t>Validation reused for model, threshold and calibration</a:t>
            </a:r>
            <a:endParaRPr lang="en-US" sz="1500" dirty="0"/>
          </a:p>
          <a:p>
            <a:pPr marL="203200" indent="-203200">
              <a:spcAft>
                <a:spcPts val="800"/>
              </a:spcAft>
              <a:buSzPct val="100000"/>
              <a:buChar char="•"/>
            </a:pPr>
            <a:r>
              <a:rPr lang="en-US" sz="1500" dirty="0">
                <a:solidFill>
                  <a:schemeClr val="tx1"/>
                </a:solidFill>
              </a:rPr>
              <a:t>Account, team and product tables are static snapshots</a:t>
            </a:r>
            <a:endParaRPr lang="en-US" sz="1500" dirty="0"/>
          </a:p>
          <a:p>
            <a:pPr marL="203200" indent="-203200">
              <a:spcAft>
                <a:spcPts val="800"/>
              </a:spcAft>
              <a:buSzPct val="100000"/>
              <a:buChar char="•"/>
            </a:pPr>
            <a:r>
              <a:rPr lang="en-US" sz="1500" dirty="0">
                <a:solidFill>
                  <a:schemeClr val="tx1"/>
                </a:solidFill>
              </a:rPr>
              <a:t>Accounts repeat across periods</a:t>
            </a:r>
            <a:endParaRPr lang="en-US" sz="1500" dirty="0"/>
          </a:p>
          <a:p>
            <a:pPr marL="203200" indent="-203200">
              <a:spcAft>
                <a:spcPts val="800"/>
              </a:spcAft>
              <a:buSzPct val="100000"/>
              <a:buChar char="•"/>
            </a:pPr>
            <a:r>
              <a:rPr lang="en-US" sz="1500" dirty="0">
                <a:solidFill>
                  <a:schemeClr val="tx1"/>
                </a:solidFill>
              </a:rPr>
              <a:t>Data was examined earlier, so the test set is not pristine</a:t>
            </a:r>
            <a:endParaRPr lang="en-US" sz="1500" dirty="0"/>
          </a:p>
          <a:p>
            <a:pPr marL="203200" indent="-203200">
              <a:spcAft>
                <a:spcPts val="800"/>
              </a:spcAft>
              <a:buSzPct val="100000"/>
              <a:buChar char="•"/>
            </a:pPr>
            <a:r>
              <a:rPr lang="en-US" sz="1500" dirty="0">
                <a:solidFill>
                  <a:schemeClr val="tx1"/>
                </a:solidFill>
              </a:rPr>
              <a:t>Simulated win rule is invented: says nothing about real sales</a:t>
            </a:r>
            <a:endParaRPr lang="en-US" sz="1500" dirty="0"/>
          </a:p>
        </p:txBody>
      </p:sp>
      <p:sp>
        <p:nvSpPr>
          <p:cNvPr id="7" name="icon-bg-search"/>
          <p:cNvSpPr/>
          <p:nvPr/>
        </p:nvSpPr>
        <p:spPr>
          <a:xfrm>
            <a:off x="6324448" y="1417320"/>
            <a:ext cx="548640" cy="548640"/>
          </a:xfrm>
          <a:prstGeom prst="ellipse">
            <a:avLst/>
          </a:prstGeom>
          <a:solidFill>
            <a:schemeClr val="accent1"/>
          </a:solidFill>
          <a:ln/>
        </p:spPr>
        <p:txBody>
          <a:bodyPr/>
          <a:p/>
        </p:txBody>
      </p:sp>
      <p:pic>
        <p:nvPicPr>
          <p:cNvPr id="8" name="icon-search" descr="preencoded.png">    </p:cNvPr>
          <p:cNvPicPr>
            <a:picLocks noChangeAspect="1"/>
          </p:cNvPicPr>
          <p:nvPr/>
        </p:nvPicPr>
        <p:blipFill>
          <a:blip r:embed="rId2"/>
          <a:stretch>
            <a:fillRect/>
          </a:stretch>
        </p:blipFill>
        <p:spPr>
          <a:xfrm>
            <a:off x="6461608" y="1554480"/>
            <a:ext cx="274320" cy="274320"/>
          </a:xfrm>
          <a:prstGeom prst="rect">
            <a:avLst/>
          </a:prstGeom>
        </p:spPr>
      </p:pic>
      <p:sp>
        <p:nvSpPr>
          <p:cNvPr id="9" name="Text 5"/>
          <p:cNvSpPr txBox="1"/>
          <p:nvPr/>
        </p:nvSpPr>
        <p:spPr>
          <a:xfrm>
            <a:off x="7055968"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Future work</a:t>
            </a:r>
            <a:endParaRPr lang="en-US" sz="2000" dirty="0"/>
          </a:p>
        </p:txBody>
      </p:sp>
      <p:sp>
        <p:nvSpPr>
          <p:cNvPr id="10" name="Text 6"/>
          <p:cNvSpPr txBox="1"/>
          <p:nvPr/>
        </p:nvSpPr>
        <p:spPr>
          <a:xfrm>
            <a:off x="6324448" y="2240280"/>
            <a:ext cx="5318608"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Collect engagement signals: calls, emails, response time, budget</a:t>
            </a:r>
            <a:endParaRPr lang="en-US" sz="1500" dirty="0"/>
          </a:p>
          <a:p>
            <a:pPr marL="203200" indent="-203200">
              <a:spcAft>
                <a:spcPts val="800"/>
              </a:spcAft>
              <a:buSzPct val="100000"/>
              <a:buChar char="•"/>
            </a:pPr>
            <a:r>
              <a:rPr lang="en-US" sz="1500" dirty="0">
                <a:solidFill>
                  <a:schemeClr val="tx1"/>
                </a:solidFill>
              </a:rPr>
              <a:t>Score deals as of each historical date</a:t>
            </a:r>
            <a:endParaRPr lang="en-US" sz="1500" dirty="0"/>
          </a:p>
          <a:p>
            <a:pPr marL="203200" indent="-203200">
              <a:spcAft>
                <a:spcPts val="800"/>
              </a:spcAft>
              <a:buSzPct val="100000"/>
              <a:buChar char="•"/>
            </a:pPr>
            <a:r>
              <a:rPr lang="en-US" sz="1500" dirty="0">
                <a:solidFill>
                  <a:schemeClr val="tx1"/>
                </a:solidFill>
              </a:rPr>
              <a:t>Test on accounts never seen in training</a:t>
            </a:r>
            <a:endParaRPr lang="en-US" sz="1500" dirty="0"/>
          </a:p>
          <a:p>
            <a:pPr marL="203200" indent="-203200">
              <a:spcAft>
                <a:spcPts val="800"/>
              </a:spcAft>
              <a:buSzPct val="100000"/>
              <a:buChar char="•"/>
            </a:pPr>
            <a:r>
              <a:rPr lang="en-US" sz="1500" dirty="0">
                <a:solidFill>
                  <a:schemeClr val="tx1"/>
                </a:solidFill>
              </a:rPr>
              <a:t>Validate priority bands with the sales team</a:t>
            </a:r>
            <a:endParaRPr lang="en-US" sz="1500" dirty="0"/>
          </a:p>
          <a:p>
            <a:pPr marL="203200" indent="-203200">
              <a:spcAft>
                <a:spcPts val="800"/>
              </a:spcAft>
              <a:buSzPct val="100000"/>
              <a:buChar char="•"/>
            </a:pPr>
            <a:r>
              <a:rPr lang="en-US" sz="1500" dirty="0">
                <a:solidFill>
                  <a:schemeClr val="tx1"/>
                </a:solidFill>
              </a:rPr>
              <a:t>Train-on-synthetic, test-on-real check with a data-driven generator</a:t>
            </a:r>
            <a:endParaRPr lang="en-US" sz="1500" dirty="0"/>
          </a:p>
        </p:txBody>
      </p:sp>
      <p:sp>
        <p:nvSpPr>
          <p:cNvPr id="11" name="takeaway"/>
          <p:cNvSpPr/>
          <p:nvPr/>
        </p:nvSpPr>
        <p:spPr>
          <a:xfrm>
            <a:off x="548640" y="5074920"/>
            <a:ext cx="11094415" cy="914400"/>
          </a:xfrm>
          <a:prstGeom prst="roundRect">
            <a:avLst>
              <a:gd name="adj" fmla="val 8000"/>
            </a:avLst>
          </a:prstGeom>
          <a:solidFill>
            <a:schemeClr val="bg2"/>
          </a:solidFill>
          <a:ln/>
        </p:spPr>
        <p:txBody>
          <a:bodyPr/>
          <a:p/>
        </p:txBody>
      </p:sp>
      <p:sp>
        <p:nvSpPr>
          <p:cNvPr id="12" name="icon-bg-check"/>
          <p:cNvSpPr/>
          <p:nvPr/>
        </p:nvSpPr>
        <p:spPr>
          <a:xfrm>
            <a:off x="777240" y="5257800"/>
            <a:ext cx="548640" cy="548640"/>
          </a:xfrm>
          <a:prstGeom prst="ellipse">
            <a:avLst/>
          </a:prstGeom>
          <a:solidFill>
            <a:schemeClr val="accent1"/>
          </a:solidFill>
          <a:ln/>
        </p:spPr>
        <p:txBody>
          <a:bodyPr/>
          <a:p/>
        </p:txBody>
      </p:sp>
      <p:pic>
        <p:nvPicPr>
          <p:cNvPr id="13" name="icon-check" descr="preencoded.png">    </p:cNvPr>
          <p:cNvPicPr>
            <a:picLocks noChangeAspect="1"/>
          </p:cNvPicPr>
          <p:nvPr/>
        </p:nvPicPr>
        <p:blipFill>
          <a:blip r:embed="rId3"/>
          <a:stretch>
            <a:fillRect/>
          </a:stretch>
        </p:blipFill>
        <p:spPr>
          <a:xfrm>
            <a:off x="914400" y="5394960"/>
            <a:ext cx="274320" cy="274320"/>
          </a:xfrm>
          <a:prstGeom prst="rect">
            <a:avLst/>
          </a:prstGeom>
        </p:spPr>
      </p:pic>
      <p:sp>
        <p:nvSpPr>
          <p:cNvPr id="14" name="Text 9"/>
          <p:cNvSpPr txBox="1"/>
          <p:nvPr/>
        </p:nvSpPr>
        <p:spPr>
          <a:xfrm>
            <a:off x="1508760" y="5120640"/>
            <a:ext cx="9905695" cy="822960"/>
          </a:xfrm>
          <a:prstGeom prst="rect">
            <a:avLst/>
          </a:prstGeom>
          <a:noFill/>
          <a:ln/>
        </p:spPr>
        <p:txBody>
          <a:bodyPr wrap="square" lIns="0" tIns="0" rIns="0" bIns="0" rtlCol="0" anchor="ctr"/>
          <a:lstStyle/>
          <a:p>
            <a:pPr indent="0" marL="0">
              <a:buNone/>
            </a:pPr>
            <a:r>
              <a:rPr lang="en-US" sz="1700" b="1" dirty="0">
                <a:solidFill>
                  <a:schemeClr val="tx2"/>
                </a:solidFill>
              </a:rPr>
              <a:t>Takeaway: a rigorous, time-aware pipeline that works; the current CRM fields are not enough to rank deals.</a:t>
            </a:r>
            <a:pPr indent="0" marL="0">
              <a:buNone/>
            </a:pPr>
            <a:r>
              <a:rPr lang="en-US" sz="1700" dirty="0">
                <a:solidFill>
                  <a:schemeClr val="tx1"/>
                </a:solidFill>
              </a:rPr>
              <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Thank you — questions?</a:t>
            </a: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lIns="0" tIns="0" rIns="0" bIns="0" rtlCol="0" anchor="t"/>
          <a:lstStyle/>
          <a:p>
            <a:pPr indent="0" marL="0">
              <a:buNone/>
            </a:pPr>
            <a:r>
              <a:rPr lang="en-US" sz="1800" dirty="0">
                <a:solidFill>
                  <a:schemeClr val="bg1"/>
                </a:solidFill>
              </a:rPr>
              <a:t>Hong Thai Phan · Nguyen Khanh An Tran · Hoang Thien Bao Bui</a:t>
            </a:r>
            <a:endParaRPr lang="en-US" sz="1800" dirty="0"/>
          </a:p>
          <a:p>
            <a:pPr indent="0" marL="0">
              <a:buNone/>
            </a:pPr>
            <a:r>
              <a:rPr lang="en-US" sz="1200" dirty="0">
                <a:solidFill>
                  <a:schemeClr val="accent5"/>
                </a:solidFill>
              </a:rPr>
              <a:t>References: J. Yan et al., Sales Pipeline Win Propensity Prediction, IFIP/IEEE IM 2015 · A. Rezazadeh, A Generalized Flow for B2B Sales Predictive Modeling, Forecasting 2020 · S. O. Arik and T. Pfister, TabNet, AAAI 2021</a:t>
            </a:r>
            <a:endParaRPr lang="en-US" sz="1800" dirty="0"/>
          </a:p>
        </p:txBody>
      </p:sp>
    </p:spTree>
  </p:cSld>
  <p:clrMapOvr>
    <a:masterClrMapping/>
  </p:clrMapOvr>
</p:sld>
</file>

<file path=ppt/theme/theme1.xml><?xml version="1.0" encoding="utf-8"?>
<a:theme xmlns:a="http://schemas.openxmlformats.org/drawingml/2006/main" name="CRM Pipeline">
  <a:themeElements>
    <a:clrScheme name="CRM Pipeline">
      <a:dk1>
        <a:srgbClr val="16232E"/>
      </a:dk1>
      <a:lt1>
        <a:srgbClr val="FFFFFF"/>
      </a:lt1>
      <a:dk2>
        <a:srgbClr val="0E3B43"/>
      </a:dk2>
      <a:lt2>
        <a:srgbClr val="EEF4F3"/>
      </a:lt2>
      <a:accent1>
        <a:srgbClr val="0F7A6C"/>
      </a:accent1>
      <a:accent2>
        <a:srgbClr val="E39B2E"/>
      </a:accent2>
      <a:accent3>
        <a:srgbClr val="D2554E"/>
      </a:accent3>
      <a:accent4>
        <a:srgbClr val="5B7083"/>
      </a:accent4>
      <a:accent5>
        <a:srgbClr val="9CC5BB"/>
      </a:accent5>
      <a:accent6>
        <a:srgbClr val="2F4858"/>
      </a:accent6>
      <a:hlink>
        <a:srgbClr val="0F7A6C"/>
      </a:hlink>
      <a:folHlink>
        <a:srgbClr val="5B7083"/>
      </a:folHlink>
    </a:clrScheme>
    <a:fontScheme name="CRM Pipel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CS 582 Group 2</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CRM Sales Opportunities Using Machine Learning</dc:title>
  <dc:subject>PptxGenJS Presentation</dc:subject>
  <dc:creator>CS 582 Group 2</dc:creator>
  <cp:lastModifiedBy>CS 582 Group 2</cp:lastModifiedBy>
  <cp:revision>1</cp:revision>
  <dcterms:created xsi:type="dcterms:W3CDTF">2026-10-10T01:24:04Z</dcterms:created>
  <dcterms:modified xsi:type="dcterms:W3CDTF">2026-10-10T01:24:04Z</dcterms:modified>
</cp:coreProperties>
</file>