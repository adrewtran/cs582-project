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0" r:id="rId6"/>
    <p:sldId id="261" r:id="rId7"/>
    <p:sldId id="276" r:id="rId27"/>
    <p:sldId id="268" r:id="rId14"/>
    <p:sldId id="263" r:id="rId9"/>
    <p:sldId id="269" r:id="rId15"/>
    <p:sldId id="270" r:id="rId16"/>
    <p:sldId id="265" r:id="rId11"/>
    <p:sldId id="278" r:id="rId12"/>
    <p:sldId id="279" r:id="rId10"/>
    <p:sldId id="280" r:id="rId8"/>
    <p:sldId id="281" r:id="rId5"/>
    <p:sldId id="277" r:id="rId28"/>
    <p:sldId id="282" r:id="rId29"/>
    <p:sldId id="283" r:id="rId30"/>
    <p:sldId id="271" r:id="rId17"/>
    <p:sldId id="272" r:id="rId18"/>
    <p:sldId id="273" r:id="rId19"/>
    <p:sldId id="275" r:id="rId26"/>
    <p:sldId id="274" r:id="rId25"/>
    <p:sldId id="267" r:id="rId13"/>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a960240-e348-6fb5-4431-30c03be043be}">
          <p14:sldIdLst>
            <p14:sldId id="256"/>
            <p14:sldId id="257"/>
          </p14:sldIdLst>
        </p14:section>
        <p14:section name="Scenario A: original data" id="{a27f2ef0-0e70-fff2-48f3-b7d3a864b71d}">
          <p14:sldIdLst>
            <p14:sldId id="258"/>
            <p14:sldId id="259"/>
            <p14:sldId id="260"/>
            <p14:sldId id="261"/>
            <p14:sldId id="262"/>
            <p14:sldId id="263"/>
            <p14:sldId id="264"/>
            <p14:sldId id="265"/>
            <p14:sldId id="266"/>
          </p14:sldIdLst>
        </p14:section>
        <p14:section name="Scenario B: simulated data" id="{543797b1-51cb-0dff-4a40-e5f6e881e2b2}">
          <p14:sldIdLst>
            <p14:sldId id="267"/>
            <p14:sldId id="268"/>
            <p14:sldId id="269"/>
            <p14:sldId id="270"/>
          </p14:sldIdLst>
        </p14:section>
        <p14:section name="Conclusion" id="{68cb6e84-4f43-2850-4527-6d43a96d3a5a}">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22.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21.xml"/><Relationship Id="rId9" Type="http://schemas.openxmlformats.org/officeDocument/2006/relationships/slide" Target="slides/slide11.xml"/><Relationship Id="rId10" Type="http://schemas.openxmlformats.org/officeDocument/2006/relationships/slide" Target="slides/slide20.xml"/><Relationship Id="rId11" Type="http://schemas.openxmlformats.org/officeDocument/2006/relationships/slide" Target="slides/slide12.xml"/><Relationship Id="rId12" Type="http://schemas.openxmlformats.org/officeDocument/2006/relationships/slide" Target="slides/slide19.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3.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4.xml"/><Relationship Id="rId26" Type="http://schemas.openxmlformats.org/officeDocument/2006/relationships/slide" Target="slides/slide6.xml"/><Relationship Id="rId27" Type="http://schemas.openxmlformats.org/officeDocument/2006/relationships/slide" Target="slides/slide7.xml"/><Relationship Id="rId28" Type="http://schemas.openxmlformats.org/officeDocument/2006/relationships/slide" Target="slides/slide10.xml"/><Relationship Id="rId29" Type="http://schemas.openxmlformats.org/officeDocument/2006/relationships/slide" Target="slides/slide23.xml"/><Relationship Id="rId30"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Deal stage of all 8,800 opportunities</a:t>
            </a:r>
          </a:p>
        </c:rich>
      </c:tx>
      <c:layout/>
      <c:overlay val="0"/>
    </c:title>
    <c:autoTitleDeleted val="0"/>
    <c:plotArea>
      <c:layout/>
      <c:doughnutChart>
        <c:varyColors val="1"/>
        <c:ser>
          <c:idx val="0"/>
          <c:order val="0"/>
          <c:tx>
            <c:strRef>
              <c:f>Sheet1!$B$1</c:f>
              <c:strCache>
                <c:ptCount val="1"/>
                <c:pt idx="0">
                  <c:v>Deal stage</c:v>
                </c:pt>
              </c:strCache>
            </c:strRef>
          </c:tx>
          <c:spPr>
            <a:solidFill>
              <a:schemeClr val="accent1"/>
            </a:solidFill>
            <a:ln w="9525" cap="flat">
              <a:solidFill>
                <a:srgbClr val="F9F9F9"/>
              </a:solidFill>
              <a:prstDash val="solid"/>
              <a:round/>
            </a:ln>
            <a:effectLst/>
          </c:spPr>
          <c:dPt>
            <c:idx val="0"/>
            <c:bubble3D val="0"/>
            <c:spPr>
              <a:solidFill>
                <a:srgbClr val="0F7A6C"/>
              </a:solidFill>
              <a:effectLst/>
            </c:spPr>
          </c:dPt>
          <c:dPt>
            <c:idx val="1"/>
            <c:bubble3D val="0"/>
            <c:spPr>
              <a:solidFill>
                <a:srgbClr val="D2554E"/>
              </a:solidFill>
              <a:effectLst/>
            </c:spPr>
          </c:dPt>
          <c:dPt>
            <c:idx val="2"/>
            <c:bubble3D val="0"/>
            <c:spPr>
              <a:solidFill>
                <a:srgbClr val="E39B2E"/>
              </a:solidFill>
              <a:effectLst/>
            </c:spPr>
          </c:dPt>
          <c:dPt>
            <c:idx val="3"/>
            <c:bubble3D val="0"/>
            <c:spPr>
              <a:solidFill>
                <a:srgbClr val="9CC5BB"/>
              </a:solidFill>
              <a:effectLst/>
            </c:spPr>
          </c:dPt>
          <c:dLbls>
            <c:dLbl>
              <c:idx val="0"/>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1"/>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2"/>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3"/>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Won</c:v>
                </c:pt>
                <c:pt idx="1">
                  <c:v>Lost</c:v>
                </c:pt>
                <c:pt idx="2">
                  <c:v>Engaging (open)</c:v>
                </c:pt>
                <c:pt idx="3">
                  <c:v>Prospecting (open)</c:v>
                </c:pt>
              </c:strCache>
            </c:strRef>
          </c:cat>
          <c:val>
            <c:numRef>
              <c:f>Sheet1!$B$2:$B$5</c:f>
              <c:numCache>
                <c:ptCount val="4"/>
                <c:pt idx="0">
                  <c:v>4238</c:v>
                </c:pt>
                <c:pt idx="1">
                  <c:v>2473</c:v>
                </c:pt>
                <c:pt idx="2">
                  <c:v>1589</c:v>
                </c:pt>
                <c:pt idx="3">
                  <c:v>500</c:v>
                </c:pt>
              </c:numCache>
            </c:numRef>
          </c:val>
        </c:ser>
        <c:firstSliceAng val="0"/>
        <c:holeSize val="55"/>
      </c:doughnutChart>
      <c:spPr>
        <a:noFill/>
        <a:ln>
          <a:noFill/>
        </a:ln>
        <a:effectLst/>
      </c:spPr>
    </c:plotArea>
    <c:legend>
      <c:legendPos val="r"/>
      <c:overlay val="0"/>
      <c:txPr>
        <a:bodyPr/>
        <a:lstStyle/>
        <a:p>
          <a:pPr>
            <a:defRPr sz="1300">
              <a:solidFill>
                <a:srgbClr val="1623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Test ROC-AUC on simulated data (Dummy 0.500)</a:t>
            </a:r>
          </a:p>
        </c:rich>
      </c:tx>
      <c:layout/>
      <c:overlay val="0"/>
    </c:title>
    <c:autoTitleDeleted val="0"/>
    <c:plotArea>
      <c:layout/>
      <c:barChart>
        <c:barDir val="col"/>
        <c:grouping val="clustered"/>
        <c:varyColors val="0"/>
        <c:ser>
          <c:idx val="0"/>
          <c:order val="0"/>
          <c:tx>
            <c:strRef>
              <c:f>Sheet1!$B$1</c:f>
              <c:strCache>
                <c:ptCount val="1"/>
                <c:pt idx="0">
                  <c:v>Test ROC-AUC</c:v>
                </c:pt>
              </c:strCache>
            </c:strRef>
          </c:tx>
          <c:spPr>
            <a:solidFill>
              <a:srgbClr val="0F7A6C"/>
            </a:solidFill>
            <a:effectLst/>
          </c:spPr>
          <c:invertIfNegative val="0"/>
          <c:dPt>
            <c:idx val="4"/>
            <c:spPr>
              <a:solidFill>
                <a:srgbClr val="9AA5A3"/>
              </a:solidFill>
            </c:spPr>
          </c:dPt>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strRef>
              <c:f>Sheet1!$A$2:$A$6</c:f>
              <c:strCache>
                <c:ptCount val="5"/>
                <c:pt idx="0">
                  <c:v>Logistic Regression</c:v>
                </c:pt>
                <c:pt idx="1">
                  <c:v>Random Forest</c:v>
                </c:pt>
                <c:pt idx="2">
                  <c:v>MLP</c:v>
                </c:pt>
                <c:pt idx="3">
                  <c:v>TabNet</c:v>
                </c:pt>
                <c:pt idx="4">
                  <c:v>Oracle</c:v>
                </c:pt>
              </c:strCache>
            </c:strRef>
          </c:cat>
          <c:val>
            <c:numRef>
              <c:f>Sheet1!$B$2:$B$6</c:f>
              <c:numCache>
                <c:formatCode>General</c:formatCode>
                <c:ptCount val="5"/>
                <c:pt idx="0">
                  <c:v>0.809</c:v>
                </c:pt>
                <c:pt idx="1">
                  <c:v>0.864</c:v>
                </c:pt>
                <c:pt idx="2">
                  <c:v>0.866</c:v>
                </c:pt>
                <c:pt idx="3">
                  <c:v>0.869</c:v>
                </c:pt>
                <c:pt idx="4">
                  <c:v>0.878</c:v>
                </c:pt>
              </c:numCache>
            </c:numRef>
          </c:val>
        </c:ser>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7083"/>
                </a:solidFill>
                <a:latin typeface="+mn-lt"/>
              </a:defRPr>
            </a:pPr>
            <a:endParaRPr lang="en-US"/>
          </a:p>
        </c:txPr>
        <c:crossAx val="2094734552"/>
        <c:crosses val="autoZero"/>
        <c:auto val="1"/>
        <c:lblAlgn val="ctr"/>
        <c:noMultiLvlLbl val="1"/>
      </c:catAx>
      <c:valAx>
        <c:axId val="2094734552"/>
        <c:scaling>
          <c:orientation val="minMax"/>
          <c:max val="0.9"/>
          <c:min val="0.5"/>
        </c:scaling>
        <c:delete val="0"/>
        <c:axPos val="l"/>
        <c:majorGridlines>
          <c:spPr>
            <a:ln w="9525" cap="flat">
              <a:solidFill>
                <a:srgbClr val="DCE5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Hello everyone. We are Group 2. Our project is "Predicting CRM Sales Opportunities Using Machine Learning". We predict whether a sales deal will be won or lost. Then we built an agent that uses this prediction carefully and safely.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input is four CRM tables: the sales pipeline, accounts, products and sales teams. We train six models. The output is a win probability for each open deal and the factors behind it. On top of that, an agent collects evidence, checks it, and decides the next safe step. We use two data scenarios. Scenario A is the real CRM data, and these are our reported results. Scenario B is simulated data with a known formula. We only use it to check that our pipeline can learn when there is a signal.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 is the Maven Analytics CRM dataset. It is a fictitious company that sells computer hardware to other businesses. It has 8,800 deals, 85 accounts, 7 products and 35 sales agents. We train only on 6,711 closed deals. Open deals are scored, but we never label them as lost.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will run it live. Everything is already trained, so this takes a few seconds. (One person operates the demo, following the 3–5 minute table in `docs/EXCELLENT_PROJECT_DEMO_STEP_BY_STEP.md`.)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split the data by time, not at random. Train has 2,975 deals, validation 583, and test 1,361. We removed 1,792 deals whose outcome was not yet known at the cutoff. So the model never learns from the future. We also checked a random split. It is at most 0.04 higher in ROC-AUC, and it is still near chance.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trained six models: a Dummy control, Logistic Regression, Random Forest, MLP, TabNet and CatBoost. Each model is trained on two feature sets. The raw set has 18 inputs. The history set adds past win rates of the agent, the account and the product. These use only deals that closed before the new deal started. That is twelve candidates. We picked one using validation data only, and we locked it before looking at the test data. The winner was Logistic Regression with history features, with a validation ROC-AUC of 0.569.</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data has very little signal. The win rate is almost the same for every product and every sector. There is no information about calls, emails, budget or competitors. So we also made simulated data with a signal that we wrote ourselves. Then we know the true answer and the best possible score.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 is the main result on the real data. All twelve learned models have a test ROC-AUC between 0.480 and 0.542. A value of 0.5 means random ranking. The selected model has 0.5168. One model, CatBoost on raw features, looks a little better on test. But we do not change our choice after looking at the test data. That would be cheating. The Dummy gets 60 percent accuracy just by always saying "Won". So accuracy alone is misleading.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traditional pipeline stops here. It gives a number and some factors. Then a person must check everything by hand. And there are hidden problems. In 827 of the 1,589 open deals, at least one input is outside the range the model saw in training. The pipeline gives no warning for that. With a weak model, missing data and hidden extrapolation, a single score is not enough to decide what to 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scored 1,589 open deals. But 1,088 of them have no account information. That is 68 percent. The model never saw deals like this in training. For each deal we also show the factors that move the score. These are associations, not causes.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comparing results, here is how the two deep models differ. An MLP is a stack of fully connected layers. Every neuron looks at every input, and the network learns interactions inside its weighted sums. Ours has two hidden layers, 64 and 32 units. It has no built-in idea of which inputs matter, so we explain it with methods like permutation importance or SHAP. TabNet was designed for tabular data. It works in several steps. At each step, an attention module chooses a small set of inputs for that particular deal, using a sparse mask. Only those inputs are processed in that step, and the results of all steps are added together. This makes TabNet behave a bit like a sequence of decision-tree splits, and the masks show which inputs it used for each deal. The cost is more hyperparameters and slower training.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Low scores could mean the data has no signal, or that our pipeline is broken. To tell these apart, we ran the same pipeline on simulated data where we know the signal exists.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simulated data reuses the real accounts, agents and products. We added new products, competitors and industry trends. Each deal's win chance comes from a formula, including interactions. Because we wrote the formula, we know the best possible score. We call it the oracle. It is never used as a feature. Now my teammate will show the results.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simulated data, the same pipeline works well. TabNet reaches 0.869, and the best possible score is 0.878. So our pipeline can learn when there is a real signal.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Let us put the two results together. On the real data, every model is near chance. On the simulated data with a signal, the same code reaches about 0.87. So the low real score comes from the data, not from a broken pipeline. We never mix the simulated numbers into our real results.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novelty is not a new learning algorithm. It is the agent architecture. One: it plans which evidence to collect, using value of information. Two: it gates its decisions on evidence quality and model reliability. Three: it acts on its own only inside safe, local limits. Four: every decision has a trace that we can replay. Each point is measured against two baselines and with ablations.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are clear limits. The real data has little signal, so the prediction is weak. The agent's thresholds are design choices, not learned from feedback. We did not measure any increase in sales. In the future, we need engagement data like calls and emails, a test with a real sales team, and real feedback so the agent could learn.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for listening. We are happy to answer your questions.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MLP and TabNet are neural networks, so this is the fairest deep-learning comparison. On the real data TabNet scores 0.502 and the MLP 0.499. The 95 percent confidence interval for the difference goes from minus 0.045 to plus 0.051, so it is not a real win. On simulated data they are within 0.002 AUC: TabNet is ahead in four of five seeds with interactions, and three of five with smooth signals. TabNet is about 7 times slower to train here, and 35 times slower on 100,000 deals. What TabNet does give us is built-in attention, which shows the features each decision step used. The MLP needs a separate method for that.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built an agent on top of the frozen model. It works in a loop. First it sets a goal. Then it observes the deal. Then it plans: every tool gets a score, need minus cost. It calls the best tool, and it evaluates the result. When no tool is worth calling, it decides. It can only read data, compute, and write local files. It can never email a customer or change the CRM. Every step goes into a trace.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compares the three systems on the same deals. The traditional pipeline gives a score. The rule-based assistant adds fixed rules, in the same order every time. Our agent chooses its own tools, based on whether the evidence could change the decision. It refuses to give a confident label when the evidence is weak. It blocks unsafe actions. And it records everything, so the decision can be replayed. Now my teammate will show it running.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real deal, 01XZ9CRY. The agent looked up the record and the account. It checked the data quality and found inputs outside the training range. It got the score, which is below the threshold. It checked the history and the explanation, and it asked the other models if they agree. The evidence was strong enough, so it created a high-priority review task. It took twelve steps, and it stopped by itself.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compared the three systems on the same 1,589 real open deals and the same frozen model. The traditional pipeline gave a directional label to every out-of-support or borderline deal. That is 1,242 unsupported labels. The rule assistant gave 487. Our agent gave zero. The agent found all known data problems, while the rule assistant found 64 percent of them. Every one of the agent's evidence claims was checked again from the raw files, and all of them matched. The cost is small: about 79 milliseconds per deal, compared with 52 for the rule assistant.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turned off one part at a time. Without the reliability checks, 80 percent of the decisions change, and unsupported labels come back. Without planning, the decisions stay the same, but the agent calls about two more tools per deal and is almost three times slower. So planning saves cost. We also replayed the agent on 1,361 closed test deals with the outcome hidden. The deals it flagged as at risk were won 62 percent of the time, and the base rate is 60 percent. So the agent does not find losing deals better than chance. That is honest: it cannot be better than the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9601200" cy="1737360"/>
          </a:xfrm>
          <a:prstGeom prst="rect">
            <a:avLst/>
          </a:prstGeom>
          <a:noFill/>
          <a:ln/>
        </p:spPr>
        <p:txBody>
          <a:bodyPr wrap="square" rtlCol="0"/>
          <a:lstStyle>
            <a:lvl1pPr algn="l" indent="0" marL="0">
              <a:buNone/>
              <a:defRPr lang="en-US" sz="4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200" dirty="0"/>
          </a:p>
        </p:txBody>
      </p:sp>
      <p:sp>
        <p:nvSpPr>
          <p:cNvPr id="3" name="Text 0"/>
          <p:cNvSpPr/>
          <p:nvPr>
            <p:ph idx="101" type="body" hasCustomPrompt="1"/>
          </p:nvPr>
        </p:nvSpPr>
        <p:spPr>
          <a:xfrm>
            <a:off x="548640" y="3794760"/>
            <a:ext cx="9601200" cy="146304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0"/>
            <a:ext cx="1051560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3657600"/>
            <a:ext cx="10515600" cy="1097280"/>
          </a:xfrm>
          <a:prstGeom prst="rect">
            <a:avLst/>
          </a:prstGeom>
          <a:noFill/>
          <a:ln/>
        </p:spPr>
        <p:txBody>
          <a:bodyPr wrap="square" rtlCol="0"/>
          <a:lstStyle>
            <a:lvl1pPr indent="0" marL="0">
              <a:buNone/>
              <a:defRPr lang="en-US" sz="2000" dirty="0">
                <a:solidFill>
                  <a:schemeClr val="accent5"/>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CS 582 · Group 2 · Predicting CRM Sales Opportunities</a:t>
            </a:r>
            <a:endParaRPr 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image" Target="../media/image-6-3.png"/><Relationship Id="rId6"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image" Target="../media/image-13-3.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9.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 Id="rId5" Type="http://schemas.openxmlformats.org/officeDocument/2006/relationships/image" Target="../media/image-6-4.png"/></Relationships>
</file>

<file path=ppt/slides/_rels/slide13.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4.xml"/><Relationship Id="rId8" Type="http://schemas.openxmlformats.org/officeDocument/2006/relationships/notesSlide" Target="../notesSlides/notesSlide16.xml"/><Relationship Id="rId9" Type="http://schemas.openxmlformats.org/officeDocument/2006/relationships/image" Target="../media/image-10-2.png"/></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2.png"/><Relationship Id="rId3"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9601200" cy="1737360"/>
          </a:xfrm>
          <a:prstGeom prst="rect">
            <a:avLst/>
          </a:prstGeom>
          <a:noFill/>
          <a:ln/>
        </p:spPr>
        <p:txBody>
          <a:bodyPr wrap="square" lIns="0" tIns="0" rIns="0" bIns="0" rtlCol="0" anchor="b"/>
          <a:lstStyle/>
          <a:p>
            <a:pPr algn="l" indent="0" marL="0">
              <a:buNone/>
            </a:pPr>
            <a:r>
              <a:rPr lang="en-US" sz="4200" b="1" dirty="0">
                <a:solidFill>
                  <a:schemeClr val="bg1"/>
                </a:solidFill>
                <a:latin typeface="Cambria" pitchFamily="34" charset="0"/>
                <a:ea typeface="Cambria" pitchFamily="34" charset="-122"/>
                <a:cs typeface="Cambria" pitchFamily="34" charset="-120"/>
              </a:rPr>
              <a:t>Predicting CRM Sales Opportunities Using Machine Learning</a:t>
            </a:r>
            <a:endParaRPr lang="en-US" sz="4200" dirty="0"/>
          </a:p>
        </p:txBody>
      </p:sp>
      <p:sp>
        <p:nvSpPr>
          <p:cNvPr id="3" name="Text 0"/>
          <p:cNvSpPr/>
          <p:nvPr>
            <p:ph idx="101" type="body" hasCustomPrompt="1"/>
          </p:nvPr>
        </p:nvSpPr>
        <p:spPr>
          <a:xfrm>
            <a:off x="548640" y="3794760"/>
            <a:ext cx="9601200" cy="1463040"/>
          </a:xfrm>
          <a:prstGeom prst="rect">
            <a:avLst/>
          </a:prstGeom>
          <a:noFill/>
          <a:ln/>
        </p:spPr>
        <p:txBody>
          <a:bodyPr wrap="square" lIns="0" tIns="0" rIns="0" bIns="0" rtlCol="0" anchor="t"/>
          <a:lstStyle/>
          <a:p>
            <a:pPr indent="0" marL="0">
              <a:buNone/>
            </a:pPr>
            <a:r>
              <a:rPr lang="en-US" sz="1800" dirty="0">
                <a:solidFill>
                  <a:schemeClr val="accent5"/>
                </a:solidFill>
              </a:rPr>
              <a:t>CS 582 Machine Learning · Group 2 · Final presentation</a:t>
            </a:r>
            <a:endParaRPr lang="en-US" sz="1800" dirty="0"/>
          </a:p>
          <a:p>
            <a:pPr indent="0" marL="0">
              <a:buNone/>
            </a:pPr>
            <a:r>
              <a:rPr lang="en-US" sz="1800" dirty="0">
                <a:solidFill>
                  <a:schemeClr val="bg1"/>
                </a:solidFill>
              </a:rPr>
              <a:t>Hong Thai Phan · Nguyen Khanh An Tran · Hoang Thien Bao Bui</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Goal: a win probability and its reasons</a:t>
            </a:r>
            <a:endParaRPr lang="en-US" sz="3400" dirty="0"/>
          </a:p>
        </p:txBody>
      </p:sp>
      <p:sp>
        <p:nvSpPr>
          <p:cNvPr id="3" name="goal-card-0"/>
          <p:cNvSpPr/>
          <p:nvPr/>
        </p:nvSpPr>
        <p:spPr>
          <a:xfrm>
            <a:off x="548640" y="1600200"/>
            <a:ext cx="3291840" cy="2377440"/>
          </a:xfrm>
          <a:prstGeom prst="roundRect">
            <a:avLst>
              <a:gd name="adj" fmla="val 3077"/>
            </a:avLst>
          </a:prstGeom>
          <a:solidFill>
            <a:schemeClr val="bg2"/>
          </a:solidFill>
          <a:ln/>
        </p:spPr>
        <p:txBody>
          <a:bodyPr/>
          <a:p/>
        </p:txBody>
      </p:sp>
      <p:sp>
        <p:nvSpPr>
          <p:cNvPr id="4" name="icon-bg-table"/>
          <p:cNvSpPr/>
          <p:nvPr/>
        </p:nvSpPr>
        <p:spPr>
          <a:xfrm>
            <a:off x="868680" y="1920240"/>
            <a:ext cx="640080" cy="640080"/>
          </a:xfrm>
          <a:prstGeom prst="ellipse">
            <a:avLst/>
          </a:prstGeom>
          <a:solidFill>
            <a:schemeClr val="accent1"/>
          </a:solidFill>
          <a:ln/>
        </p:spPr>
        <p:txBody>
          <a:bodyPr/>
          <a:p/>
        </p:txBody>
      </p:sp>
      <p:pic>
        <p:nvPicPr>
          <p:cNvPr id="5" name="icon-table" descr="preencoded.png">    </p:cNvPr>
          <p:cNvPicPr>
            <a:picLocks noChangeAspect="1"/>
          </p:cNvPicPr>
          <p:nvPr/>
        </p:nvPicPr>
        <p:blipFill>
          <a:blip r:embed="rId1"/>
          <a:stretch>
            <a:fillRect/>
          </a:stretch>
        </p:blipFill>
        <p:spPr>
          <a:xfrm>
            <a:off x="1028700" y="2080260"/>
            <a:ext cx="320040" cy="320040"/>
          </a:xfrm>
          <a:prstGeom prst="rect">
            <a:avLst/>
          </a:prstGeom>
        </p:spPr>
      </p:pic>
      <p:sp>
        <p:nvSpPr>
          <p:cNvPr id="6" name="Text 3"/>
          <p:cNvSpPr txBox="1"/>
          <p:nvPr/>
        </p:nvSpPr>
        <p:spPr>
          <a:xfrm>
            <a:off x="868680" y="2697480"/>
            <a:ext cx="2651760" cy="365760"/>
          </a:xfrm>
          <a:prstGeom prst="rect">
            <a:avLst/>
          </a:prstGeom>
          <a:noFill/>
          <a:ln/>
        </p:spPr>
        <p:txBody>
          <a:bodyPr wrap="square" lIns="0" tIns="0" rIns="0" bIns="0" rtlCol="0" anchor="t"/>
          <a:lstStyle/>
          <a:p>
            <a:pPr indent="0" marL="0">
              <a:buNone/>
            </a:pPr>
            <a:r>
              <a:rPr lang="en-US" sz="2000" b="1" dirty="0">
                <a:solidFill>
                  <a:schemeClr val="tx2"/>
                </a:solidFill>
              </a:rPr>
              <a:t>Input</a:t>
            </a:r>
            <a:endParaRPr lang="en-US" sz="2000" dirty="0"/>
          </a:p>
        </p:txBody>
      </p:sp>
      <p:sp>
        <p:nvSpPr>
          <p:cNvPr id="7" name="Text 4"/>
          <p:cNvSpPr txBox="1"/>
          <p:nvPr/>
        </p:nvSpPr>
        <p:spPr>
          <a:xfrm>
            <a:off x="868680" y="3108960"/>
            <a:ext cx="2651760" cy="777240"/>
          </a:xfrm>
          <a:prstGeom prst="rect">
            <a:avLst/>
          </a:prstGeom>
          <a:noFill/>
          <a:ln/>
        </p:spPr>
        <p:txBody>
          <a:bodyPr wrap="square" lIns="0" tIns="0" rIns="0" bIns="0" rtlCol="0" anchor="t"/>
          <a:lstStyle/>
          <a:p>
            <a:pPr indent="0" marL="0">
              <a:buNone/>
            </a:pPr>
            <a:r>
              <a:rPr lang="en-US" sz="1500" dirty="0">
                <a:solidFill>
                  <a:schemeClr val="tx1"/>
                </a:solidFill>
              </a:rPr>
              <a:t>Four CRM tables: sales pipeline, accounts, products, sales teams</a:t>
            </a:r>
            <a:endParaRPr lang="en-US" sz="1500" dirty="0"/>
          </a:p>
        </p:txBody>
      </p:sp>
      <p:sp>
        <p:nvSpPr>
          <p:cNvPr id="8" name="goal-arrow-0"/>
          <p:cNvSpPr/>
          <p:nvPr/>
        </p:nvSpPr>
        <p:spPr>
          <a:xfrm>
            <a:off x="3959352" y="2606040"/>
            <a:ext cx="365760" cy="365760"/>
          </a:xfrm>
          <a:prstGeom prst="rightArrow">
            <a:avLst/>
          </a:prstGeom>
          <a:solidFill>
            <a:schemeClr val="accent2"/>
          </a:solidFill>
          <a:ln/>
        </p:spPr>
        <p:txBody>
          <a:bodyPr/>
          <a:p/>
        </p:txBody>
      </p:sp>
      <p:sp>
        <p:nvSpPr>
          <p:cNvPr id="9" name="goal-card-1"/>
          <p:cNvSpPr/>
          <p:nvPr/>
        </p:nvSpPr>
        <p:spPr>
          <a:xfrm>
            <a:off x="4434840" y="1600200"/>
            <a:ext cx="3291840" cy="2377440"/>
          </a:xfrm>
          <a:prstGeom prst="roundRect">
            <a:avLst>
              <a:gd name="adj" fmla="val 3077"/>
            </a:avLst>
          </a:prstGeom>
          <a:solidFill>
            <a:schemeClr val="bg2"/>
          </a:solidFill>
          <a:ln/>
        </p:spPr>
        <p:txBody>
          <a:bodyPr/>
          <a:p/>
        </p:txBody>
      </p:sp>
      <p:sp>
        <p:nvSpPr>
          <p:cNvPr id="10" name="icon-bg-brain"/>
          <p:cNvSpPr/>
          <p:nvPr/>
        </p:nvSpPr>
        <p:spPr>
          <a:xfrm>
            <a:off x="4754880" y="1920240"/>
            <a:ext cx="640080" cy="640080"/>
          </a:xfrm>
          <a:prstGeom prst="ellipse">
            <a:avLst/>
          </a:prstGeom>
          <a:solidFill>
            <a:schemeClr val="accent1"/>
          </a:solidFill>
          <a:ln/>
        </p:spPr>
        <p:txBody>
          <a:bodyPr/>
          <a:p/>
        </p:txBody>
      </p:sp>
      <p:pic>
        <p:nvPicPr>
          <p:cNvPr id="11" name="icon-brain" descr="preencoded.png">    </p:cNvPr>
          <p:cNvPicPr>
            <a:picLocks noChangeAspect="1"/>
          </p:cNvPicPr>
          <p:nvPr/>
        </p:nvPicPr>
        <p:blipFill>
          <a:blip r:embed="rId2"/>
          <a:stretch>
            <a:fillRect/>
          </a:stretch>
        </p:blipFill>
        <p:spPr>
          <a:xfrm>
            <a:off x="4914900" y="2080260"/>
            <a:ext cx="320040" cy="320040"/>
          </a:xfrm>
          <a:prstGeom prst="rect">
            <a:avLst/>
          </a:prstGeom>
        </p:spPr>
      </p:pic>
      <p:sp>
        <p:nvSpPr>
          <p:cNvPr id="12" name="Text 8"/>
          <p:cNvSpPr txBox="1"/>
          <p:nvPr/>
        </p:nvSpPr>
        <p:spPr>
          <a:xfrm>
            <a:off x="4754880" y="2697480"/>
            <a:ext cx="2651760" cy="365760"/>
          </a:xfrm>
          <a:prstGeom prst="rect">
            <a:avLst/>
          </a:prstGeom>
          <a:noFill/>
          <a:ln/>
        </p:spPr>
        <p:txBody>
          <a:bodyPr wrap="square" lIns="0" tIns="0" rIns="0" bIns="0" rtlCol="0" anchor="t"/>
          <a:lstStyle/>
          <a:p>
            <a:pPr indent="0" marL="0">
              <a:buNone/>
            </a:pPr>
            <a:r>
              <a:rPr lang="en-US" sz="2000" b="1" dirty="0">
                <a:solidFill>
                  <a:schemeClr val="tx2"/>
                </a:solidFill>
              </a:rPr>
              <a:t>Models</a:t>
            </a:r>
            <a:endParaRPr lang="en-US" sz="2000" dirty="0"/>
          </a:p>
        </p:txBody>
      </p:sp>
      <p:sp>
        <p:nvSpPr>
          <p:cNvPr id="13" name="Text 9"/>
          <p:cNvSpPr txBox="1"/>
          <p:nvPr/>
        </p:nvSpPr>
        <p:spPr>
          <a:xfrm>
            <a:off x="4754880" y="3108960"/>
            <a:ext cx="2651760" cy="777240"/>
          </a:xfrm>
          <a:prstGeom prst="rect">
            <a:avLst/>
          </a:prstGeom>
          <a:noFill/>
          <a:ln/>
        </p:spPr>
        <p:txBody>
          <a:bodyPr wrap="square" lIns="0" tIns="0" rIns="0" bIns="0" rtlCol="0" anchor="t"/>
          <a:lstStyle/>
          <a:p>
            <a:pPr indent="0" marL="0">
              <a:buNone/>
            </a:pPr>
            <a:r>
              <a:rPr lang="en-US" sz="1500" dirty="0">
                <a:solidFill>
                  <a:schemeClr val="tx1"/>
                </a:solidFill>
              </a:rPr>
              <a:t>Six models (incl. CatBoost) on raw and history features</a:t>
            </a:r>
            <a:endParaRPr lang="en-US" sz="1500" dirty="0"/>
          </a:p>
        </p:txBody>
      </p:sp>
      <p:sp>
        <p:nvSpPr>
          <p:cNvPr id="14" name="goal-arrow-1"/>
          <p:cNvSpPr/>
          <p:nvPr/>
        </p:nvSpPr>
        <p:spPr>
          <a:xfrm>
            <a:off x="7845552" y="2606040"/>
            <a:ext cx="365760" cy="365760"/>
          </a:xfrm>
          <a:prstGeom prst="rightArrow">
            <a:avLst/>
          </a:prstGeom>
          <a:solidFill>
            <a:schemeClr val="accent2"/>
          </a:solidFill>
          <a:ln/>
        </p:spPr>
        <p:txBody>
          <a:bodyPr/>
          <a:p/>
        </p:txBody>
      </p:sp>
      <p:sp>
        <p:nvSpPr>
          <p:cNvPr id="15" name="goal-card-2"/>
          <p:cNvSpPr/>
          <p:nvPr/>
        </p:nvSpPr>
        <p:spPr>
          <a:xfrm>
            <a:off x="8321040" y="1600200"/>
            <a:ext cx="3291840" cy="2377440"/>
          </a:xfrm>
          <a:prstGeom prst="roundRect">
            <a:avLst>
              <a:gd name="adj" fmla="val 3077"/>
            </a:avLst>
          </a:prstGeom>
          <a:solidFill>
            <a:schemeClr val="bg2"/>
          </a:solidFill>
          <a:ln/>
        </p:spPr>
        <p:txBody>
          <a:bodyPr/>
          <a:p/>
        </p:txBody>
      </p:sp>
      <p:sp>
        <p:nvSpPr>
          <p:cNvPr id="16" name="icon-bg-chart"/>
          <p:cNvSpPr/>
          <p:nvPr/>
        </p:nvSpPr>
        <p:spPr>
          <a:xfrm>
            <a:off x="8641080" y="1920240"/>
            <a:ext cx="640080" cy="640080"/>
          </a:xfrm>
          <a:prstGeom prst="ellipse">
            <a:avLst/>
          </a:prstGeom>
          <a:solidFill>
            <a:schemeClr val="accent1"/>
          </a:solidFill>
          <a:ln/>
        </p:spPr>
        <p:txBody>
          <a:bodyPr/>
          <a:p/>
        </p:txBody>
      </p:sp>
      <p:pic>
        <p:nvPicPr>
          <p:cNvPr id="17" name="icon-chart" descr="preencoded.png">    </p:cNvPr>
          <p:cNvPicPr>
            <a:picLocks noChangeAspect="1"/>
          </p:cNvPicPr>
          <p:nvPr/>
        </p:nvPicPr>
        <p:blipFill>
          <a:blip r:embed="rId3"/>
          <a:stretch>
            <a:fillRect/>
          </a:stretch>
        </p:blipFill>
        <p:spPr>
          <a:xfrm>
            <a:off x="8801100" y="2080260"/>
            <a:ext cx="320040" cy="320040"/>
          </a:xfrm>
          <a:prstGeom prst="rect">
            <a:avLst/>
          </a:prstGeom>
        </p:spPr>
      </p:pic>
      <p:sp>
        <p:nvSpPr>
          <p:cNvPr id="18" name="Text 13"/>
          <p:cNvSpPr txBox="1"/>
          <p:nvPr/>
        </p:nvSpPr>
        <p:spPr>
          <a:xfrm>
            <a:off x="8641080" y="2697480"/>
            <a:ext cx="2651760" cy="365760"/>
          </a:xfrm>
          <a:prstGeom prst="rect">
            <a:avLst/>
          </a:prstGeom>
          <a:noFill/>
          <a:ln/>
        </p:spPr>
        <p:txBody>
          <a:bodyPr wrap="square" lIns="0" tIns="0" rIns="0" bIns="0" rtlCol="0" anchor="t"/>
          <a:lstStyle/>
          <a:p>
            <a:pPr indent="0" marL="0">
              <a:buNone/>
            </a:pPr>
            <a:r>
              <a:rPr lang="en-US" sz="2000" b="1" dirty="0">
                <a:solidFill>
                  <a:schemeClr val="tx2"/>
                </a:solidFill>
              </a:rPr>
              <a:t>Output</a:t>
            </a:r>
            <a:endParaRPr lang="en-US" sz="2000" dirty="0"/>
          </a:p>
        </p:txBody>
      </p:sp>
      <p:sp>
        <p:nvSpPr>
          <p:cNvPr id="19" name="Text 14"/>
          <p:cNvSpPr txBox="1"/>
          <p:nvPr/>
        </p:nvSpPr>
        <p:spPr>
          <a:xfrm>
            <a:off x="8641080" y="3108960"/>
            <a:ext cx="2651760" cy="777240"/>
          </a:xfrm>
          <a:prstGeom prst="rect">
            <a:avLst/>
          </a:prstGeom>
          <a:noFill/>
          <a:ln/>
        </p:spPr>
        <p:txBody>
          <a:bodyPr wrap="square" lIns="0" tIns="0" rIns="0" bIns="0" rtlCol="0" anchor="t"/>
          <a:lstStyle/>
          <a:p>
            <a:pPr indent="0" marL="0">
              <a:buNone/>
            </a:pPr>
            <a:r>
              <a:rPr lang="en-US" sz="1500" dirty="0">
                <a:solidFill>
                  <a:schemeClr val="tx1"/>
                </a:solidFill>
              </a:rPr>
              <a:t>P(Won), its factors, and an agent that picks a safe next step</a:t>
            </a:r>
            <a:endParaRPr lang="en-US" sz="1500" dirty="0"/>
          </a:p>
        </p:txBody>
      </p:sp>
      <p:sp>
        <p:nvSpPr>
          <p:cNvPr id="20" name="scenario-frame"/>
          <p:cNvSpPr/>
          <p:nvPr/>
        </p:nvSpPr>
        <p:spPr>
          <a:xfrm>
            <a:off x="548640" y="4343400"/>
            <a:ext cx="11094415" cy="1600200"/>
          </a:xfrm>
          <a:prstGeom prst="roundRect">
            <a:avLst>
              <a:gd name="adj" fmla="val 4571"/>
            </a:avLst>
          </a:prstGeom>
          <a:solidFill>
            <a:schemeClr val="bg1"/>
          </a:solidFill>
          <a:ln/>
        </p:spPr>
        <p:txBody>
          <a:bodyPr/>
          <a:p/>
        </p:txBody>
      </p:sp>
      <p:sp>
        <p:nvSpPr>
          <p:cNvPr id="21" name="Text 16"/>
          <p:cNvSpPr txBox="1"/>
          <p:nvPr/>
        </p:nvSpPr>
        <p:spPr>
          <a:xfrm>
            <a:off x="548640" y="4343400"/>
            <a:ext cx="11094415" cy="365760"/>
          </a:xfrm>
          <a:prstGeom prst="rect">
            <a:avLst/>
          </a:prstGeom>
          <a:noFill/>
          <a:ln/>
        </p:spPr>
        <p:txBody>
          <a:bodyPr wrap="square" lIns="0" tIns="0" rIns="0" bIns="0" rtlCol="0" anchor="t"/>
          <a:lstStyle/>
          <a:p>
            <a:pPr indent="0" marL="0">
              <a:buNone/>
            </a:pPr>
            <a:r>
              <a:rPr lang="en-US" sz="1800" b="1" dirty="0">
                <a:solidFill>
                  <a:schemeClr val="tx2"/>
                </a:solidFill>
              </a:rPr>
              <a:t>Two scenarios, same pipeline</a:t>
            </a:r>
            <a:endParaRPr lang="en-US" sz="1800" dirty="0"/>
          </a:p>
        </p:txBody>
      </p:sp>
      <p:sp>
        <p:nvSpPr>
          <p:cNvPr id="22" name="Text 17"/>
          <p:cNvSpPr txBox="1"/>
          <p:nvPr/>
        </p:nvSpPr>
        <p:spPr>
          <a:xfrm>
            <a:off x="548640" y="4800600"/>
            <a:ext cx="11094415" cy="100584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A · Original Maven CRM data: </a:t>
            </a:r>
            <a:pPr indent="0" marL="0">
              <a:spcAft>
                <a:spcPts val="600"/>
              </a:spcAft>
              <a:buNone/>
            </a:pPr>
            <a:r>
              <a:rPr lang="en-US" sz="1600" dirty="0">
                <a:solidFill>
                  <a:schemeClr val="tx1"/>
                </a:solidFill>
              </a:rPr>
              <a:t>the project's reported results.</a:t>
            </a:r>
            <a:endParaRPr lang="en-US" sz="1600" dirty="0"/>
          </a:p>
          <a:p>
            <a:pPr indent="0" marL="0">
              <a:spcAft>
                <a:spcPts val="600"/>
              </a:spcAft>
              <a:buNone/>
            </a:pPr>
            <a:r>
              <a:rPr lang="en-US" sz="1600" b="1" dirty="0">
                <a:solidFill>
                  <a:schemeClr val="accent2"/>
                </a:solidFill>
              </a:rPr>
              <a:t>B · Simulated data with a known formula: </a:t>
            </a:r>
            <a:pPr indent="0" marL="0">
              <a:spcAft>
                <a:spcPts val="600"/>
              </a:spcAft>
              <a:buNone/>
            </a:pPr>
            <a:r>
              <a:rPr lang="en-US" sz="1600" dirty="0">
                <a:solidFill>
                  <a:schemeClr val="tx1"/>
                </a:solidFill>
              </a:rPr>
              <a:t>a check that the pipeline finds signal when signal exists.</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Data: a fictitious B2B hardware seller</a:t>
            </a:r>
            <a:endParaRPr lang="en-US" sz="3400" dirty="0"/>
          </a:p>
        </p:txBody>
      </p:sp>
      <p:sp>
        <p:nvSpPr>
          <p:cNvPr id="3" name="Text 1"/>
          <p:cNvSpPr txBox="1"/>
          <p:nvPr/>
        </p:nvSpPr>
        <p:spPr>
          <a:xfrm>
            <a:off x="548640" y="146304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8,800</a:t>
            </a:r>
            <a:endParaRPr lang="en-US" sz="4400" dirty="0"/>
          </a:p>
        </p:txBody>
      </p:sp>
      <p:sp>
        <p:nvSpPr>
          <p:cNvPr id="4" name="Text 2"/>
          <p:cNvSpPr txBox="1"/>
          <p:nvPr/>
        </p:nvSpPr>
        <p:spPr>
          <a:xfrm>
            <a:off x="548640" y="224028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sales opportunities</a:t>
            </a:r>
            <a:endParaRPr lang="en-US" sz="1300" dirty="0"/>
          </a:p>
        </p:txBody>
      </p:sp>
      <p:sp>
        <p:nvSpPr>
          <p:cNvPr id="5" name="Text 3"/>
          <p:cNvSpPr txBox="1"/>
          <p:nvPr/>
        </p:nvSpPr>
        <p:spPr>
          <a:xfrm>
            <a:off x="3291840" y="146304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85</a:t>
            </a:r>
            <a:endParaRPr lang="en-US" sz="4400" dirty="0"/>
          </a:p>
        </p:txBody>
      </p:sp>
      <p:sp>
        <p:nvSpPr>
          <p:cNvPr id="6" name="Text 4"/>
          <p:cNvSpPr txBox="1"/>
          <p:nvPr/>
        </p:nvSpPr>
        <p:spPr>
          <a:xfrm>
            <a:off x="3291840" y="224028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customer accounts</a:t>
            </a:r>
            <a:endParaRPr lang="en-US" sz="1300" dirty="0"/>
          </a:p>
        </p:txBody>
      </p:sp>
      <p:sp>
        <p:nvSpPr>
          <p:cNvPr id="7" name="Text 5"/>
          <p:cNvSpPr txBox="1"/>
          <p:nvPr/>
        </p:nvSpPr>
        <p:spPr>
          <a:xfrm>
            <a:off x="548640" y="292608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7</a:t>
            </a:r>
            <a:endParaRPr lang="en-US" sz="4400" dirty="0"/>
          </a:p>
        </p:txBody>
      </p:sp>
      <p:sp>
        <p:nvSpPr>
          <p:cNvPr id="8" name="Text 6"/>
          <p:cNvSpPr txBox="1"/>
          <p:nvPr/>
        </p:nvSpPr>
        <p:spPr>
          <a:xfrm>
            <a:off x="548640" y="370332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products</a:t>
            </a:r>
            <a:endParaRPr lang="en-US" sz="1300" dirty="0"/>
          </a:p>
        </p:txBody>
      </p:sp>
      <p:sp>
        <p:nvSpPr>
          <p:cNvPr id="9" name="Text 7"/>
          <p:cNvSpPr txBox="1"/>
          <p:nvPr/>
        </p:nvSpPr>
        <p:spPr>
          <a:xfrm>
            <a:off x="3291840" y="292608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35</a:t>
            </a:r>
            <a:endParaRPr lang="en-US" sz="4400" dirty="0"/>
          </a:p>
        </p:txBody>
      </p:sp>
      <p:sp>
        <p:nvSpPr>
          <p:cNvPr id="10" name="Text 8"/>
          <p:cNvSpPr txBox="1"/>
          <p:nvPr/>
        </p:nvSpPr>
        <p:spPr>
          <a:xfrm>
            <a:off x="3291840" y="370332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sales agents</a:t>
            </a:r>
            <a:endParaRPr lang="en-US" sz="1300" dirty="0"/>
          </a:p>
        </p:txBody>
      </p:sp>
      <p:sp>
        <p:nvSpPr>
          <p:cNvPr id="11" name="Text 9"/>
          <p:cNvSpPr txBox="1"/>
          <p:nvPr/>
        </p:nvSpPr>
        <p:spPr>
          <a:xfrm>
            <a:off x="548640" y="4526280"/>
            <a:ext cx="5212080" cy="731520"/>
          </a:xfrm>
          <a:prstGeom prst="rect">
            <a:avLst/>
          </a:prstGeom>
          <a:noFill/>
          <a:ln/>
        </p:spPr>
        <p:txBody>
          <a:bodyPr wrap="square" lIns="0" tIns="0" rIns="0" bIns="0" rtlCol="0" anchor="t"/>
          <a:lstStyle/>
          <a:p>
            <a:pPr indent="0" marL="0">
              <a:buNone/>
            </a:pPr>
            <a:r>
              <a:rPr lang="en-US" sz="1600" dirty="0">
                <a:solidFill>
                  <a:schemeClr val="tx1"/>
                </a:solidFill>
              </a:rPr>
              <a:t>Train only on 6,711 closed deals (63% Won). </a:t>
            </a:r>
            <a:pPr indent="0" marL="0">
              <a:buNone/>
            </a:pPr>
            <a:r>
              <a:rPr lang="en-US" sz="1600" dirty="0">
                <a:solidFill>
                  <a:schemeClr val="tx1"/>
                </a:solidFill>
              </a:rPr>
              <a:t>Open deals are scored, never labelled Lost.</a:t>
            </a:r>
            <a:endParaRPr lang="en-US" sz="1600" dirty="0"/>
          </a:p>
        </p:txBody>
      </p:sp>
      <p:sp>
        <p:nvSpPr>
          <p:cNvPr id="12" name="Text 10"/>
          <p:cNvSpPr txBox="1"/>
          <p:nvPr/>
        </p:nvSpPr>
        <p:spPr>
          <a:xfrm>
            <a:off x="548640" y="5669280"/>
            <a:ext cx="5303520" cy="457200"/>
          </a:xfrm>
          <a:prstGeom prst="rect">
            <a:avLst/>
          </a:prstGeom>
          <a:noFill/>
          <a:ln/>
        </p:spPr>
        <p:txBody>
          <a:bodyPr wrap="square" lIns="0" tIns="0" rIns="0" bIns="0" rtlCol="0" anchor="t"/>
          <a:lstStyle/>
          <a:p>
            <a:pPr indent="0" marL="0">
              <a:buNone/>
            </a:pPr>
            <a:r>
              <a:rPr lang="en-US" sz="1100" dirty="0">
                <a:solidFill>
                  <a:schemeClr val="accent4"/>
                </a:solidFill>
              </a:rPr>
              <a:t>Source: Maven Analytics CRM Sales Opportunities (public practice dataset)</a:t>
            </a:r>
            <a:endParaRPr lang="en-US" sz="1100" dirty="0"/>
          </a:p>
        </p:txBody>
      </p:sp>
      <p:graphicFrame>
        <p:nvGraphicFramePr>
          <p:cNvPr id="13" name="stage-chart" descr=""/>
          <p:cNvGraphicFramePr/>
          <p:nvPr/>
        </p:nvGraphicFramePr>
        <p:xfrm>
          <a:off x="6309360" y="1325880"/>
          <a:ext cx="5303520"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Time-based split: no peeking at the future</a:t>
            </a:r>
            <a:endParaRPr lang="en-US" sz="3400" dirty="0"/>
          </a:p>
        </p:txBody>
      </p:sp>
      <p:sp>
        <p:nvSpPr>
          <p:cNvPr id="3" name="split-Train"/>
          <p:cNvSpPr/>
          <p:nvPr/>
        </p:nvSpPr>
        <p:spPr>
          <a:xfrm>
            <a:off x="548640" y="1600200"/>
            <a:ext cx="6353526" cy="1005840"/>
          </a:xfrm>
          <a:prstGeom prst="roundRect">
            <a:avLst>
              <a:gd name="adj" fmla="val 7273"/>
            </a:avLst>
          </a:prstGeom>
          <a:solidFill>
            <a:schemeClr val="accent1"/>
          </a:solidFill>
          <a:ln/>
        </p:spPr>
        <p:txBody>
          <a:bodyPr/>
          <a:p/>
        </p:txBody>
      </p:sp>
      <p:sp>
        <p:nvSpPr>
          <p:cNvPr id="4" name="Text 2"/>
          <p:cNvSpPr txBox="1"/>
          <p:nvPr/>
        </p:nvSpPr>
        <p:spPr>
          <a:xfrm>
            <a:off x="731520" y="1691640"/>
            <a:ext cx="6079206" cy="822960"/>
          </a:xfrm>
          <a:prstGeom prst="rect">
            <a:avLst/>
          </a:prstGeom>
          <a:noFill/>
          <a:ln/>
        </p:spPr>
        <p:txBody>
          <a:bodyPr wrap="square" lIns="0" tIns="0" rIns="0" bIns="0" rtlCol="0" anchor="ctr"/>
          <a:lstStyle/>
          <a:p>
            <a:pPr indent="0" marL="0">
              <a:buNone/>
            </a:pPr>
            <a:r>
              <a:rPr lang="en-US" sz="1800" b="1" dirty="0">
                <a:solidFill>
                  <a:schemeClr val="bg1"/>
                </a:solidFill>
              </a:rPr>
              <a:t>Train</a:t>
            </a:r>
            <a:endParaRPr lang="en-US" sz="1800" dirty="0"/>
          </a:p>
          <a:p>
            <a:pPr indent="0" marL="0">
              <a:buNone/>
            </a:pPr>
            <a:r>
              <a:rPr lang="en-US" sz="1800" dirty="0">
                <a:solidFill>
                  <a:schemeClr val="bg1"/>
                </a:solidFill>
              </a:rPr>
              <a:t>2,975 deals</a:t>
            </a:r>
            <a:endParaRPr lang="en-US" sz="1800" dirty="0"/>
          </a:p>
        </p:txBody>
      </p:sp>
      <p:sp>
        <p:nvSpPr>
          <p:cNvPr id="5" name="Text 3"/>
          <p:cNvSpPr txBox="1"/>
          <p:nvPr/>
        </p:nvSpPr>
        <p:spPr>
          <a:xfrm>
            <a:off x="548640" y="2697480"/>
            <a:ext cx="6353526" cy="320040"/>
          </a:xfrm>
          <a:prstGeom prst="rect">
            <a:avLst/>
          </a:prstGeom>
          <a:noFill/>
          <a:ln/>
        </p:spPr>
        <p:txBody>
          <a:bodyPr wrap="square" lIns="0" tIns="0" rIns="0" bIns="0" rtlCol="0" anchor="t"/>
          <a:lstStyle/>
          <a:p>
            <a:pPr indent="0" marL="0">
              <a:buNone/>
            </a:pPr>
            <a:r>
              <a:rPr lang="en-US" sz="1300" dirty="0">
                <a:solidFill>
                  <a:schemeClr val="accent4"/>
                </a:solidFill>
              </a:rPr>
              <a:t>Engaged Oct 2016 – Jul 2017</a:t>
            </a:r>
            <a:endParaRPr lang="en-US" sz="1300" dirty="0"/>
          </a:p>
        </p:txBody>
      </p:sp>
      <p:sp>
        <p:nvSpPr>
          <p:cNvPr id="6" name="split-Validation"/>
          <p:cNvSpPr/>
          <p:nvPr/>
        </p:nvSpPr>
        <p:spPr>
          <a:xfrm>
            <a:off x="6993606" y="1600200"/>
            <a:ext cx="1426693" cy="1005840"/>
          </a:xfrm>
          <a:prstGeom prst="roundRect">
            <a:avLst>
              <a:gd name="adj" fmla="val 7273"/>
            </a:avLst>
          </a:prstGeom>
          <a:solidFill>
            <a:schemeClr val="accent2"/>
          </a:solidFill>
          <a:ln/>
        </p:spPr>
        <p:txBody>
          <a:bodyPr/>
          <a:p/>
        </p:txBody>
      </p:sp>
      <p:sp>
        <p:nvSpPr>
          <p:cNvPr id="7" name="Text 5"/>
          <p:cNvSpPr txBox="1"/>
          <p:nvPr/>
        </p:nvSpPr>
        <p:spPr>
          <a:xfrm>
            <a:off x="7176486" y="1691640"/>
            <a:ext cx="1152373" cy="822960"/>
          </a:xfrm>
          <a:prstGeom prst="rect">
            <a:avLst/>
          </a:prstGeom>
          <a:noFill/>
          <a:ln/>
        </p:spPr>
        <p:txBody>
          <a:bodyPr wrap="square" lIns="0" tIns="0" rIns="0" bIns="0" rtlCol="0" anchor="ctr"/>
          <a:lstStyle/>
          <a:p>
            <a:pPr indent="0" marL="0">
              <a:buNone/>
            </a:pPr>
            <a:r>
              <a:rPr lang="en-US" sz="1800" b="1" dirty="0">
                <a:solidFill>
                  <a:schemeClr val="bg1"/>
                </a:solidFill>
              </a:rPr>
              <a:t>Validation</a:t>
            </a:r>
            <a:endParaRPr lang="en-US" sz="1800" dirty="0"/>
          </a:p>
          <a:p>
            <a:pPr indent="0" marL="0">
              <a:buNone/>
            </a:pPr>
            <a:r>
              <a:rPr lang="en-US" sz="1800" dirty="0">
                <a:solidFill>
                  <a:schemeClr val="bg1"/>
                </a:solidFill>
              </a:rPr>
              <a:t>583 deals</a:t>
            </a:r>
            <a:endParaRPr lang="en-US" sz="1800" dirty="0"/>
          </a:p>
        </p:txBody>
      </p:sp>
      <p:sp>
        <p:nvSpPr>
          <p:cNvPr id="8" name="Text 6"/>
          <p:cNvSpPr txBox="1"/>
          <p:nvPr/>
        </p:nvSpPr>
        <p:spPr>
          <a:xfrm>
            <a:off x="6993606" y="2697480"/>
            <a:ext cx="1426693" cy="320040"/>
          </a:xfrm>
          <a:prstGeom prst="rect">
            <a:avLst/>
          </a:prstGeom>
          <a:noFill/>
          <a:ln/>
        </p:spPr>
        <p:txBody>
          <a:bodyPr wrap="square" lIns="0" tIns="0" rIns="0" bIns="0" rtlCol="0" anchor="t"/>
          <a:lstStyle/>
          <a:p>
            <a:pPr indent="0" marL="0">
              <a:buNone/>
            </a:pPr>
            <a:r>
              <a:rPr lang="en-US" sz="1300" dirty="0">
                <a:solidFill>
                  <a:schemeClr val="accent4"/>
                </a:solidFill>
              </a:rPr>
              <a:t>Jul – Sep 2017</a:t>
            </a:r>
            <a:endParaRPr lang="en-US" sz="1300" dirty="0"/>
          </a:p>
        </p:txBody>
      </p:sp>
      <p:sp>
        <p:nvSpPr>
          <p:cNvPr id="9" name="split-Test"/>
          <p:cNvSpPr/>
          <p:nvPr/>
        </p:nvSpPr>
        <p:spPr>
          <a:xfrm>
            <a:off x="8511739" y="1600200"/>
            <a:ext cx="2856997" cy="1005840"/>
          </a:xfrm>
          <a:prstGeom prst="roundRect">
            <a:avLst>
              <a:gd name="adj" fmla="val 7273"/>
            </a:avLst>
          </a:prstGeom>
          <a:solidFill>
            <a:schemeClr val="tx2"/>
          </a:solidFill>
          <a:ln/>
        </p:spPr>
        <p:txBody>
          <a:bodyPr/>
          <a:p/>
        </p:txBody>
      </p:sp>
      <p:sp>
        <p:nvSpPr>
          <p:cNvPr id="10" name="Text 8"/>
          <p:cNvSpPr txBox="1"/>
          <p:nvPr/>
        </p:nvSpPr>
        <p:spPr>
          <a:xfrm>
            <a:off x="8694619" y="1691640"/>
            <a:ext cx="2582677" cy="822960"/>
          </a:xfrm>
          <a:prstGeom prst="rect">
            <a:avLst/>
          </a:prstGeom>
          <a:noFill/>
          <a:ln/>
        </p:spPr>
        <p:txBody>
          <a:bodyPr wrap="square" lIns="0" tIns="0" rIns="0" bIns="0" rtlCol="0" anchor="ctr"/>
          <a:lstStyle/>
          <a:p>
            <a:pPr indent="0" marL="0">
              <a:buNone/>
            </a:pPr>
            <a:r>
              <a:rPr lang="en-US" sz="1800" b="1" dirty="0">
                <a:solidFill>
                  <a:schemeClr val="bg1"/>
                </a:solidFill>
              </a:rPr>
              <a:t>Test</a:t>
            </a:r>
            <a:endParaRPr lang="en-US" sz="1800" dirty="0"/>
          </a:p>
          <a:p>
            <a:pPr indent="0" marL="0">
              <a:buNone/>
            </a:pPr>
            <a:r>
              <a:rPr lang="en-US" sz="1800" dirty="0">
                <a:solidFill>
                  <a:schemeClr val="bg1"/>
                </a:solidFill>
              </a:rPr>
              <a:t>1,361 deals</a:t>
            </a:r>
            <a:endParaRPr lang="en-US" sz="1800" dirty="0"/>
          </a:p>
        </p:txBody>
      </p:sp>
      <p:sp>
        <p:nvSpPr>
          <p:cNvPr id="11" name="Text 9"/>
          <p:cNvSpPr txBox="1"/>
          <p:nvPr/>
        </p:nvSpPr>
        <p:spPr>
          <a:xfrm>
            <a:off x="8511739" y="2697480"/>
            <a:ext cx="2856997" cy="320040"/>
          </a:xfrm>
          <a:prstGeom prst="rect">
            <a:avLst/>
          </a:prstGeom>
          <a:noFill/>
          <a:ln/>
        </p:spPr>
        <p:txBody>
          <a:bodyPr wrap="square" lIns="0" tIns="0" rIns="0" bIns="0" rtlCol="0" anchor="t"/>
          <a:lstStyle/>
          <a:p>
            <a:pPr indent="0" marL="0">
              <a:buNone/>
            </a:pPr>
            <a:r>
              <a:rPr lang="en-US" sz="1300" dirty="0">
                <a:solidFill>
                  <a:schemeClr val="accent4"/>
                </a:solidFill>
              </a:rPr>
              <a:t>Engaged Sep – Dec 2017</a:t>
            </a:r>
            <a:endParaRPr lang="en-US" sz="1300" dirty="0"/>
          </a:p>
        </p:txBody>
      </p:sp>
      <p:sp>
        <p:nvSpPr>
          <p:cNvPr id="12" name="time-axis"/>
          <p:cNvSpPr/>
          <p:nvPr/>
        </p:nvSpPr>
        <p:spPr>
          <a:xfrm>
            <a:off x="548640" y="3154680"/>
            <a:ext cx="10911535" cy="0"/>
          </a:xfrm>
          <a:prstGeom prst="line">
            <a:avLst/>
          </a:prstGeom>
          <a:noFill/>
          <a:ln w="15875">
            <a:solidFill>
              <a:schemeClr val="accent4"/>
            </a:solidFill>
            <a:prstDash val="solid"/>
            <a:tailEnd type="triangle"/>
          </a:ln>
        </p:spPr>
        <p:txBody>
          <a:bodyPr/>
          <a:p/>
        </p:txBody>
      </p:sp>
      <p:sp>
        <p:nvSpPr>
          <p:cNvPr id="13" name="Text 11"/>
          <p:cNvSpPr txBox="1"/>
          <p:nvPr/>
        </p:nvSpPr>
        <p:spPr>
          <a:xfrm>
            <a:off x="9631375" y="3246120"/>
            <a:ext cx="2011680" cy="274320"/>
          </a:xfrm>
          <a:prstGeom prst="rect">
            <a:avLst/>
          </a:prstGeom>
          <a:noFill/>
          <a:ln/>
        </p:spPr>
        <p:txBody>
          <a:bodyPr wrap="square" lIns="0" tIns="0" rIns="0" bIns="0" rtlCol="0" anchor="t"/>
          <a:lstStyle/>
          <a:p>
            <a:pPr algn="r" indent="0" marL="0">
              <a:buNone/>
            </a:pPr>
            <a:r>
              <a:rPr lang="en-US" sz="1100" dirty="0">
                <a:solidFill>
                  <a:schemeClr val="accent4"/>
                </a:solidFill>
              </a:rPr>
              <a:t>time (engage date)</a:t>
            </a:r>
            <a:endParaRPr lang="en-US" sz="1100" dirty="0"/>
          </a:p>
        </p:txBody>
      </p:sp>
      <p:sp>
        <p:nvSpPr>
          <p:cNvPr id="14" name="Text 12"/>
          <p:cNvSpPr txBox="1"/>
          <p:nvPr/>
        </p:nvSpPr>
        <p:spPr>
          <a:xfrm>
            <a:off x="548640" y="3703320"/>
            <a:ext cx="3291840" cy="731520"/>
          </a:xfrm>
          <a:prstGeom prst="rect">
            <a:avLst/>
          </a:prstGeom>
          <a:noFill/>
          <a:ln/>
        </p:spPr>
        <p:txBody>
          <a:bodyPr wrap="square" lIns="0" tIns="0" rIns="0" bIns="0" rtlCol="0" anchor="b"/>
          <a:lstStyle/>
          <a:p>
            <a:pPr indent="0" marL="0">
              <a:buNone/>
            </a:pPr>
            <a:r>
              <a:rPr lang="en-US" sz="4400" b="1" dirty="0">
                <a:solidFill>
                  <a:schemeClr val="accent3"/>
                </a:solidFill>
                <a:latin typeface="Cambria" pitchFamily="34" charset="0"/>
                <a:ea typeface="Cambria" pitchFamily="34" charset="-122"/>
                <a:cs typeface="Cambria" pitchFamily="34" charset="-120"/>
              </a:rPr>
              <a:t>1,792</a:t>
            </a:r>
            <a:endParaRPr lang="en-US" sz="4400" dirty="0"/>
          </a:p>
        </p:txBody>
      </p:sp>
      <p:sp>
        <p:nvSpPr>
          <p:cNvPr id="15" name="Text 13"/>
          <p:cNvSpPr txBox="1"/>
          <p:nvPr/>
        </p:nvSpPr>
        <p:spPr>
          <a:xfrm>
            <a:off x="548640" y="4480560"/>
            <a:ext cx="3291840" cy="548640"/>
          </a:xfrm>
          <a:prstGeom prst="rect">
            <a:avLst/>
          </a:prstGeom>
          <a:noFill/>
          <a:ln/>
        </p:spPr>
        <p:txBody>
          <a:bodyPr wrap="square" lIns="0" tIns="0" rIns="0" bIns="0" rtlCol="0" anchor="t"/>
          <a:lstStyle/>
          <a:p>
            <a:pPr indent="0" marL="0">
              <a:buNone/>
            </a:pPr>
            <a:r>
              <a:rPr lang="en-US" sz="1300" dirty="0">
                <a:solidFill>
                  <a:schemeClr val="accent4"/>
                </a:solidFill>
              </a:rPr>
              <a:t>closed deals purged: their outcome was not yet known at the cutoff</a:t>
            </a:r>
            <a:endParaRPr lang="en-US" sz="1300" dirty="0"/>
          </a:p>
        </p:txBody>
      </p:sp>
      <p:sp>
        <p:nvSpPr>
          <p:cNvPr id="16" name="Text 14"/>
          <p:cNvSpPr txBox="1"/>
          <p:nvPr/>
        </p:nvSpPr>
        <p:spPr>
          <a:xfrm>
            <a:off x="4480560" y="3886200"/>
            <a:ext cx="7132320" cy="21031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Deals engaged on the same date always stay in the same period</a:t>
            </a:r>
            <a:endParaRPr lang="en-US" sz="1600" dirty="0"/>
          </a:p>
          <a:p>
            <a:pPr marL="203200" indent="-203200">
              <a:spcAft>
                <a:spcPts val="800"/>
              </a:spcAft>
              <a:buSzPct val="100000"/>
              <a:buChar char="•"/>
            </a:pPr>
            <a:r>
              <a:rPr lang="en-US" sz="1500" dirty="0">
                <a:solidFill>
                  <a:schemeClr val="tx1"/>
                </a:solidFill>
              </a:rPr>
              <a:t>Train and validation outcomes must be known before the next period starts</a:t>
            </a:r>
            <a:endParaRPr lang="en-US" sz="1600" dirty="0"/>
          </a:p>
          <a:p>
            <a:pPr marL="203200" indent="-203200">
              <a:spcAft>
                <a:spcPts val="800"/>
              </a:spcAft>
              <a:buSzPct val="100000"/>
              <a:buChar char="•"/>
            </a:pPr>
            <a:r>
              <a:rPr lang="en-US" sz="1500" dirty="0">
                <a:solidFill>
                  <a:schemeClr val="tx1"/>
                </a:solidFill>
              </a:rPr>
              <a:t>Imputation, encoding and scaling are fit on training rows only</a:t>
            </a:r>
            <a:endParaRPr lang="en-US" sz="1600" dirty="0"/>
          </a:p>
          <a:p>
            <a:pPr marL="203200" indent="-203200">
              <a:spcAft>
                <a:spcPts val="800"/>
              </a:spcAft>
              <a:buSzPct val="100000"/>
              <a:buChar char="•"/>
            </a:pPr>
            <a:r>
              <a:rPr lang="en-US" sz="1500" dirty="0">
                <a:solidFill>
                  <a:schemeClr val="tx1"/>
                </a:solidFill>
              </a:rPr>
              <a:t>Check: a random split scores at most 0.04 AUC higher, still near chance</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Six models, two feature sets, one pipeline</a:t>
            </a:r>
            <a:endParaRPr lang="en-US" sz="3400" dirty="0"/>
          </a:p>
        </p:txBody>
      </p:sp>
      <p:sp>
        <p:nvSpPr>
          <p:cNvPr id="3" name="model-0"/>
          <p:cNvSpPr/>
          <p:nvPr/>
        </p:nvSpPr>
        <p:spPr>
          <a:xfrm>
            <a:off x="548640" y="1463040"/>
            <a:ext cx="1711452" cy="1600200"/>
          </a:xfrm>
          <a:prstGeom prst="roundRect">
            <a:avLst>
              <a:gd name="adj" fmla="val 4571"/>
            </a:avLst>
          </a:prstGeom>
          <a:solidFill>
            <a:schemeClr val="bg2"/>
          </a:solidFill>
          <a:ln/>
        </p:spPr>
        <p:txBody>
          <a:bodyPr/>
          <a:p/>
        </p:txBody>
      </p:sp>
      <p:sp>
        <p:nvSpPr>
          <p:cNvPr id="4" name="Text 2"/>
          <p:cNvSpPr txBox="1"/>
          <p:nvPr/>
        </p:nvSpPr>
        <p:spPr>
          <a:xfrm>
            <a:off x="731520" y="1645920"/>
            <a:ext cx="1345692" cy="640080"/>
          </a:xfrm>
          <a:prstGeom prst="rect">
            <a:avLst/>
          </a:prstGeom>
          <a:noFill/>
          <a:ln/>
        </p:spPr>
        <p:txBody>
          <a:bodyPr wrap="square" lIns="0" tIns="0" rIns="0" bIns="0" rtlCol="0" anchor="t"/>
          <a:lstStyle/>
          <a:p>
            <a:pPr indent="0" marL="0">
              <a:buNone/>
            </a:pPr>
            <a:r>
              <a:rPr lang="en-US" sz="1500" b="1" dirty="0">
                <a:solidFill>
                  <a:schemeClr val="accent4"/>
                </a:solidFill>
              </a:rPr>
              <a:t>Dummy prior</a:t>
            </a:r>
            <a:endParaRPr lang="en-US" sz="1800" dirty="0"/>
          </a:p>
        </p:txBody>
      </p:sp>
      <p:sp>
        <p:nvSpPr>
          <p:cNvPr id="5" name="Text 3"/>
          <p:cNvSpPr txBox="1"/>
          <p:nvPr/>
        </p:nvSpPr>
        <p:spPr>
          <a:xfrm>
            <a:off x="731520" y="2331720"/>
            <a:ext cx="1345692" cy="777240"/>
          </a:xfrm>
          <a:prstGeom prst="rect">
            <a:avLst/>
          </a:prstGeom>
          <a:noFill/>
          <a:ln/>
        </p:spPr>
        <p:txBody>
          <a:bodyPr wrap="square" lIns="0" tIns="0" rIns="0" bIns="0" rtlCol="0" anchor="t"/>
          <a:lstStyle/>
          <a:p>
            <a:pPr indent="0" marL="0">
              <a:buNone/>
            </a:pPr>
            <a:r>
              <a:rPr lang="en-US" sz="1300" dirty="0">
                <a:solidFill>
                  <a:schemeClr val="tx1"/>
                </a:solidFill>
              </a:rPr>
              <a:t>Control: always predicts the training win rate</a:t>
            </a:r>
            <a:endParaRPr lang="en-US" sz="1300" dirty="0"/>
          </a:p>
        </p:txBody>
      </p:sp>
      <p:sp>
        <p:nvSpPr>
          <p:cNvPr id="6" name="model-1"/>
          <p:cNvSpPr/>
          <p:nvPr/>
        </p:nvSpPr>
        <p:spPr>
          <a:xfrm>
            <a:off x="2424684" y="1463040"/>
            <a:ext cx="1711452" cy="1600200"/>
          </a:xfrm>
          <a:prstGeom prst="roundRect">
            <a:avLst>
              <a:gd name="adj" fmla="val 4571"/>
            </a:avLst>
          </a:prstGeom>
          <a:solidFill>
            <a:schemeClr val="bg2"/>
          </a:solidFill>
          <a:ln/>
        </p:spPr>
        <p:txBody>
          <a:bodyPr/>
          <a:p/>
        </p:txBody>
      </p:sp>
      <p:sp>
        <p:nvSpPr>
          <p:cNvPr id="7" name="Text 5"/>
          <p:cNvSpPr txBox="1"/>
          <p:nvPr/>
        </p:nvSpPr>
        <p:spPr>
          <a:xfrm>
            <a:off x="2607564" y="1645920"/>
            <a:ext cx="1345692" cy="640080"/>
          </a:xfrm>
          <a:prstGeom prst="rect">
            <a:avLst/>
          </a:prstGeom>
          <a:noFill/>
          <a:ln/>
        </p:spPr>
        <p:txBody>
          <a:bodyPr wrap="square" lIns="0" tIns="0" rIns="0" bIns="0" rtlCol="0" anchor="t"/>
          <a:lstStyle/>
          <a:p>
            <a:pPr indent="0" marL="0">
              <a:buNone/>
            </a:pPr>
            <a:r>
              <a:rPr lang="en-US" sz="1500" b="1" dirty="0">
                <a:solidFill>
                  <a:schemeClr val="tx2"/>
                </a:solidFill>
              </a:rPr>
              <a:t>Logistic Regression</a:t>
            </a:r>
            <a:endParaRPr lang="en-US" sz="1800" dirty="0"/>
          </a:p>
        </p:txBody>
      </p:sp>
      <p:sp>
        <p:nvSpPr>
          <p:cNvPr id="8" name="Text 6"/>
          <p:cNvSpPr txBox="1"/>
          <p:nvPr/>
        </p:nvSpPr>
        <p:spPr>
          <a:xfrm>
            <a:off x="2607564" y="2331720"/>
            <a:ext cx="1345692" cy="777240"/>
          </a:xfrm>
          <a:prstGeom prst="rect">
            <a:avLst/>
          </a:prstGeom>
          <a:noFill/>
          <a:ln/>
        </p:spPr>
        <p:txBody>
          <a:bodyPr wrap="square" lIns="0" tIns="0" rIns="0" bIns="0" rtlCol="0" anchor="t"/>
          <a:lstStyle/>
          <a:p>
            <a:pPr indent="0" marL="0">
              <a:buNone/>
            </a:pPr>
            <a:r>
              <a:rPr lang="en-US" sz="1300" dirty="0">
                <a:solidFill>
                  <a:schemeClr val="tx1"/>
                </a:solidFill>
              </a:rPr>
              <a:t>Linear baseline</a:t>
            </a:r>
            <a:endParaRPr lang="en-US" sz="1300" dirty="0"/>
          </a:p>
        </p:txBody>
      </p:sp>
      <p:sp>
        <p:nvSpPr>
          <p:cNvPr id="9" name="model-2"/>
          <p:cNvSpPr/>
          <p:nvPr/>
        </p:nvSpPr>
        <p:spPr>
          <a:xfrm>
            <a:off x="4300728" y="1463040"/>
            <a:ext cx="1711452" cy="1600200"/>
          </a:xfrm>
          <a:prstGeom prst="roundRect">
            <a:avLst>
              <a:gd name="adj" fmla="val 4571"/>
            </a:avLst>
          </a:prstGeom>
          <a:solidFill>
            <a:schemeClr val="bg2"/>
          </a:solidFill>
          <a:ln/>
        </p:spPr>
        <p:txBody>
          <a:bodyPr/>
          <a:p/>
        </p:txBody>
      </p:sp>
      <p:sp>
        <p:nvSpPr>
          <p:cNvPr id="10" name="Text 8"/>
          <p:cNvSpPr txBox="1"/>
          <p:nvPr/>
        </p:nvSpPr>
        <p:spPr>
          <a:xfrm>
            <a:off x="4483608" y="1645920"/>
            <a:ext cx="1345692" cy="640080"/>
          </a:xfrm>
          <a:prstGeom prst="rect">
            <a:avLst/>
          </a:prstGeom>
          <a:noFill/>
          <a:ln/>
        </p:spPr>
        <p:txBody>
          <a:bodyPr wrap="square" lIns="0" tIns="0" rIns="0" bIns="0" rtlCol="0" anchor="t"/>
          <a:lstStyle/>
          <a:p>
            <a:pPr indent="0" marL="0">
              <a:buNone/>
            </a:pPr>
            <a:r>
              <a:rPr lang="en-US" sz="1500" b="1" dirty="0">
                <a:solidFill>
                  <a:schemeClr val="tx2"/>
                </a:solidFill>
              </a:rPr>
              <a:t>Random Forest</a:t>
            </a:r>
            <a:endParaRPr lang="en-US" sz="1800" dirty="0"/>
          </a:p>
        </p:txBody>
      </p:sp>
      <p:sp>
        <p:nvSpPr>
          <p:cNvPr id="11" name="Text 9"/>
          <p:cNvSpPr txBox="1"/>
          <p:nvPr/>
        </p:nvSpPr>
        <p:spPr>
          <a:xfrm>
            <a:off x="4483608" y="2331720"/>
            <a:ext cx="1345692" cy="777240"/>
          </a:xfrm>
          <a:prstGeom prst="rect">
            <a:avLst/>
          </a:prstGeom>
          <a:noFill/>
          <a:ln/>
        </p:spPr>
        <p:txBody>
          <a:bodyPr wrap="square" lIns="0" tIns="0" rIns="0" bIns="0" rtlCol="0" anchor="t"/>
          <a:lstStyle/>
          <a:p>
            <a:pPr indent="0" marL="0">
              <a:buNone/>
            </a:pPr>
            <a:r>
              <a:rPr lang="en-US" sz="1300" dirty="0">
                <a:solidFill>
                  <a:schemeClr val="tx1"/>
                </a:solidFill>
              </a:rPr>
              <a:t>300 trees, min leaf 5</a:t>
            </a:r>
            <a:endParaRPr lang="en-US" sz="1300" dirty="0"/>
          </a:p>
        </p:txBody>
      </p:sp>
      <p:sp>
        <p:nvSpPr>
          <p:cNvPr id="12" name="model-3"/>
          <p:cNvSpPr/>
          <p:nvPr/>
        </p:nvSpPr>
        <p:spPr>
          <a:xfrm>
            <a:off x="6176772" y="1463040"/>
            <a:ext cx="1711452" cy="1600200"/>
          </a:xfrm>
          <a:prstGeom prst="roundRect">
            <a:avLst>
              <a:gd name="adj" fmla="val 4571"/>
            </a:avLst>
          </a:prstGeom>
          <a:solidFill>
            <a:schemeClr val="bg2"/>
          </a:solidFill>
          <a:ln/>
        </p:spPr>
        <p:txBody>
          <a:bodyPr/>
          <a:p/>
        </p:txBody>
      </p:sp>
      <p:sp>
        <p:nvSpPr>
          <p:cNvPr id="13" name="Text 11"/>
          <p:cNvSpPr txBox="1"/>
          <p:nvPr/>
        </p:nvSpPr>
        <p:spPr>
          <a:xfrm>
            <a:off x="6359652" y="1645920"/>
            <a:ext cx="1345692" cy="640080"/>
          </a:xfrm>
          <a:prstGeom prst="rect">
            <a:avLst/>
          </a:prstGeom>
          <a:noFill/>
          <a:ln/>
        </p:spPr>
        <p:txBody>
          <a:bodyPr wrap="square" lIns="0" tIns="0" rIns="0" bIns="0" rtlCol="0" anchor="t"/>
          <a:lstStyle/>
          <a:p>
            <a:pPr indent="0" marL="0">
              <a:buNone/>
            </a:pPr>
            <a:r>
              <a:rPr lang="en-US" sz="1500" b="1" dirty="0">
                <a:solidFill>
                  <a:schemeClr val="tx2"/>
                </a:solidFill>
              </a:rPr>
              <a:t>MLP</a:t>
            </a:r>
            <a:endParaRPr lang="en-US" sz="1800" dirty="0"/>
          </a:p>
        </p:txBody>
      </p:sp>
      <p:sp>
        <p:nvSpPr>
          <p:cNvPr id="14" name="Text 12"/>
          <p:cNvSpPr txBox="1"/>
          <p:nvPr/>
        </p:nvSpPr>
        <p:spPr>
          <a:xfrm>
            <a:off x="6359652" y="2331720"/>
            <a:ext cx="1345692" cy="777240"/>
          </a:xfrm>
          <a:prstGeom prst="rect">
            <a:avLst/>
          </a:prstGeom>
          <a:noFill/>
          <a:ln/>
        </p:spPr>
        <p:txBody>
          <a:bodyPr wrap="square" lIns="0" tIns="0" rIns="0" bIns="0" rtlCol="0" anchor="t"/>
          <a:lstStyle/>
          <a:p>
            <a:pPr indent="0" marL="0">
              <a:buNone/>
            </a:pPr>
            <a:r>
              <a:rPr lang="en-US" sz="1300" dirty="0">
                <a:solidFill>
                  <a:schemeClr val="tx1"/>
                </a:solidFill>
              </a:rPr>
              <a:t>Hidden layers 64 → 32, early stopping</a:t>
            </a:r>
            <a:endParaRPr lang="en-US" sz="1300" dirty="0"/>
          </a:p>
        </p:txBody>
      </p:sp>
      <p:sp>
        <p:nvSpPr>
          <p:cNvPr id="15" name="model-4"/>
          <p:cNvSpPr/>
          <p:nvPr/>
        </p:nvSpPr>
        <p:spPr>
          <a:xfrm>
            <a:off x="8052816" y="1463040"/>
            <a:ext cx="1711452" cy="1600200"/>
          </a:xfrm>
          <a:prstGeom prst="roundRect">
            <a:avLst>
              <a:gd name="adj" fmla="val 4571"/>
            </a:avLst>
          </a:prstGeom>
          <a:solidFill>
            <a:schemeClr val="bg2"/>
          </a:solidFill>
          <a:ln/>
        </p:spPr>
        <p:txBody>
          <a:bodyPr/>
          <a:p/>
        </p:txBody>
      </p:sp>
      <p:sp>
        <p:nvSpPr>
          <p:cNvPr id="16" name="Text 14"/>
          <p:cNvSpPr txBox="1"/>
          <p:nvPr/>
        </p:nvSpPr>
        <p:spPr>
          <a:xfrm>
            <a:off x="8235696" y="1645920"/>
            <a:ext cx="1345692" cy="640080"/>
          </a:xfrm>
          <a:prstGeom prst="rect">
            <a:avLst/>
          </a:prstGeom>
          <a:noFill/>
          <a:ln/>
        </p:spPr>
        <p:txBody>
          <a:bodyPr wrap="square" lIns="0" tIns="0" rIns="0" bIns="0" rtlCol="0" anchor="t"/>
          <a:lstStyle/>
          <a:p>
            <a:pPr indent="0" marL="0">
              <a:buNone/>
            </a:pPr>
            <a:r>
              <a:rPr lang="en-US" sz="1500" b="1" dirty="0">
                <a:solidFill>
                  <a:schemeClr val="tx2"/>
                </a:solidFill>
              </a:rPr>
              <a:t>TabNet</a:t>
            </a:r>
            <a:endParaRPr lang="en-US" sz="1800" dirty="0"/>
          </a:p>
        </p:txBody>
      </p:sp>
      <p:sp>
        <p:nvSpPr>
          <p:cNvPr id="17" name="Text 15"/>
          <p:cNvSpPr txBox="1"/>
          <p:nvPr/>
        </p:nvSpPr>
        <p:spPr>
          <a:xfrm>
            <a:off x="8235696" y="2331720"/>
            <a:ext cx="1345692" cy="777240"/>
          </a:xfrm>
          <a:prstGeom prst="rect">
            <a:avLst/>
          </a:prstGeom>
          <a:noFill/>
          <a:ln/>
        </p:spPr>
        <p:txBody>
          <a:bodyPr wrap="square" lIns="0" tIns="0" rIns="0" bIns="0" rtlCol="0" anchor="t"/>
          <a:lstStyle/>
          <a:p>
            <a:pPr indent="0" marL="0">
              <a:buNone/>
            </a:pPr>
            <a:r>
              <a:rPr lang="en-US" sz="1300" dirty="0">
                <a:solidFill>
                  <a:schemeClr val="tx1"/>
                </a:solidFill>
              </a:rPr>
              <a:t>Attentive deep model for tabular data</a:t>
            </a:r>
            <a:endParaRPr lang="en-US" sz="1300" dirty="0"/>
          </a:p>
        </p:txBody>
      </p:sp>
      <p:sp>
        <p:nvSpPr>
          <p:cNvPr id="18" name="icon-bg-bullseye"/>
          <p:cNvSpPr/>
          <p:nvPr/>
        </p:nvSpPr>
        <p:spPr>
          <a:xfrm>
            <a:off x="548640" y="3886200"/>
            <a:ext cx="594360" cy="594360"/>
          </a:xfrm>
          <a:prstGeom prst="ellipse">
            <a:avLst/>
          </a:prstGeom>
          <a:solidFill>
            <a:schemeClr val="accent1"/>
          </a:solidFill>
          <a:ln/>
        </p:spPr>
        <p:txBody>
          <a:bodyPr/>
          <a:p/>
        </p:txBody>
      </p:sp>
      <p:pic>
        <p:nvPicPr>
          <p:cNvPr id="19" name="icon-bullseye" descr="preencoded.png">    </p:cNvPr>
          <p:cNvPicPr>
            <a:picLocks noChangeAspect="1"/>
          </p:cNvPicPr>
          <p:nvPr/>
        </p:nvPicPr>
        <p:blipFill>
          <a:blip r:embed="rId1"/>
          <a:stretch>
            <a:fillRect/>
          </a:stretch>
        </p:blipFill>
        <p:spPr>
          <a:xfrm>
            <a:off x="697230" y="4034790"/>
            <a:ext cx="297180" cy="297180"/>
          </a:xfrm>
          <a:prstGeom prst="rect">
            <a:avLst/>
          </a:prstGeom>
        </p:spPr>
      </p:pic>
      <p:sp>
        <p:nvSpPr>
          <p:cNvPr id="20" name="Text 17"/>
          <p:cNvSpPr txBox="1"/>
          <p:nvPr/>
        </p:nvSpPr>
        <p:spPr>
          <a:xfrm>
            <a:off x="1280160"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Select pair</a:t>
            </a:r>
            <a:endParaRPr lang="en-US" sz="1700" dirty="0"/>
          </a:p>
        </p:txBody>
      </p:sp>
      <p:sp>
        <p:nvSpPr>
          <p:cNvPr id="21" name="Text 18"/>
          <p:cNvSpPr txBox="1"/>
          <p:nvPr/>
        </p:nvSpPr>
        <p:spPr>
          <a:xfrm>
            <a:off x="1280160"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feature set + model by validation ROC-AUC</a:t>
            </a:r>
            <a:endParaRPr lang="en-US" sz="1300" dirty="0"/>
          </a:p>
        </p:txBody>
      </p:sp>
      <p:sp>
        <p:nvSpPr>
          <p:cNvPr id="22" name="icon-bg-sync"/>
          <p:cNvSpPr/>
          <p:nvPr/>
        </p:nvSpPr>
        <p:spPr>
          <a:xfrm>
            <a:off x="3408578" y="3886200"/>
            <a:ext cx="594360" cy="594360"/>
          </a:xfrm>
          <a:prstGeom prst="ellipse">
            <a:avLst/>
          </a:prstGeom>
          <a:solidFill>
            <a:schemeClr val="accent1"/>
          </a:solidFill>
          <a:ln/>
        </p:spPr>
        <p:txBody>
          <a:bodyPr/>
          <a:p/>
        </p:txBody>
      </p:sp>
      <p:pic>
        <p:nvPicPr>
          <p:cNvPr id="23" name="icon-sync" descr="preencoded.png">    </p:cNvPr>
          <p:cNvPicPr>
            <a:picLocks noChangeAspect="1"/>
          </p:cNvPicPr>
          <p:nvPr/>
        </p:nvPicPr>
        <p:blipFill>
          <a:blip r:embed="rId2"/>
          <a:stretch>
            <a:fillRect/>
          </a:stretch>
        </p:blipFill>
        <p:spPr>
          <a:xfrm>
            <a:off x="3557168" y="4034790"/>
            <a:ext cx="297180" cy="297180"/>
          </a:xfrm>
          <a:prstGeom prst="rect">
            <a:avLst/>
          </a:prstGeom>
        </p:spPr>
      </p:pic>
      <p:sp>
        <p:nvSpPr>
          <p:cNvPr id="24" name="Text 20"/>
          <p:cNvSpPr txBox="1"/>
          <p:nvPr/>
        </p:nvSpPr>
        <p:spPr>
          <a:xfrm>
            <a:off x="4140098"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Pick threshold</a:t>
            </a:r>
            <a:endParaRPr lang="en-US" sz="1700" dirty="0"/>
          </a:p>
        </p:txBody>
      </p:sp>
      <p:sp>
        <p:nvSpPr>
          <p:cNvPr id="25" name="Text 21"/>
          <p:cNvSpPr txBox="1"/>
          <p:nvPr/>
        </p:nvSpPr>
        <p:spPr>
          <a:xfrm>
            <a:off x="4140098"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maximise validation macro-F1</a:t>
            </a:r>
            <a:endParaRPr lang="en-US" sz="1300" dirty="0"/>
          </a:p>
        </p:txBody>
      </p:sp>
      <p:sp>
        <p:nvSpPr>
          <p:cNvPr id="26" name="icon-bg-layers"/>
          <p:cNvSpPr/>
          <p:nvPr/>
        </p:nvSpPr>
        <p:spPr>
          <a:xfrm>
            <a:off x="6268517" y="3886200"/>
            <a:ext cx="594360" cy="594360"/>
          </a:xfrm>
          <a:prstGeom prst="ellipse">
            <a:avLst/>
          </a:prstGeom>
          <a:solidFill>
            <a:schemeClr val="accent1"/>
          </a:solidFill>
          <a:ln/>
        </p:spPr>
        <p:txBody>
          <a:bodyPr/>
          <a:p/>
        </p:txBody>
      </p:sp>
      <p:pic>
        <p:nvPicPr>
          <p:cNvPr id="27" name="icon-layers" descr="preencoded.png">    </p:cNvPr>
          <p:cNvPicPr>
            <a:picLocks noChangeAspect="1"/>
          </p:cNvPicPr>
          <p:nvPr/>
        </p:nvPicPr>
        <p:blipFill>
          <a:blip r:embed="rId3"/>
          <a:stretch>
            <a:fillRect/>
          </a:stretch>
        </p:blipFill>
        <p:spPr>
          <a:xfrm>
            <a:off x="6417107" y="4034790"/>
            <a:ext cx="297180" cy="297180"/>
          </a:xfrm>
          <a:prstGeom prst="rect">
            <a:avLst/>
          </a:prstGeom>
        </p:spPr>
      </p:pic>
      <p:sp>
        <p:nvSpPr>
          <p:cNvPr id="28" name="Text 23"/>
          <p:cNvSpPr txBox="1"/>
          <p:nvPr/>
        </p:nvSpPr>
        <p:spPr>
          <a:xfrm>
            <a:off x="7000037"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Calibrate</a:t>
            </a:r>
            <a:endParaRPr lang="en-US" sz="1700" dirty="0"/>
          </a:p>
        </p:txBody>
      </p:sp>
      <p:sp>
        <p:nvSpPr>
          <p:cNvPr id="29" name="Text 24"/>
          <p:cNvSpPr txBox="1"/>
          <p:nvPr/>
        </p:nvSpPr>
        <p:spPr>
          <a:xfrm>
            <a:off x="7000037"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sigmoid on validation; base model frozen</a:t>
            </a:r>
            <a:endParaRPr lang="en-US" sz="1300" dirty="0"/>
          </a:p>
        </p:txBody>
      </p:sp>
      <p:sp>
        <p:nvSpPr>
          <p:cNvPr id="30" name="icon-bg-check"/>
          <p:cNvSpPr/>
          <p:nvPr/>
        </p:nvSpPr>
        <p:spPr>
          <a:xfrm>
            <a:off x="9128455" y="3886200"/>
            <a:ext cx="594360" cy="594360"/>
          </a:xfrm>
          <a:prstGeom prst="ellipse">
            <a:avLst/>
          </a:prstGeom>
          <a:solidFill>
            <a:schemeClr val="tx2"/>
          </a:solidFill>
          <a:ln/>
        </p:spPr>
        <p:txBody>
          <a:bodyPr/>
          <a:p/>
        </p:txBody>
      </p:sp>
      <p:pic>
        <p:nvPicPr>
          <p:cNvPr id="31" name="icon-check" descr="preencoded.png">    </p:cNvPr>
          <p:cNvPicPr>
            <a:picLocks noChangeAspect="1"/>
          </p:cNvPicPr>
          <p:nvPr/>
        </p:nvPicPr>
        <p:blipFill>
          <a:blip r:embed="rId4"/>
          <a:stretch>
            <a:fillRect/>
          </a:stretch>
        </p:blipFill>
        <p:spPr>
          <a:xfrm>
            <a:off x="9277045" y="4034790"/>
            <a:ext cx="297180" cy="297180"/>
          </a:xfrm>
          <a:prstGeom prst="rect">
            <a:avLst/>
          </a:prstGeom>
        </p:spPr>
      </p:pic>
      <p:sp>
        <p:nvSpPr>
          <p:cNvPr id="32" name="Text 26"/>
          <p:cNvSpPr txBox="1"/>
          <p:nvPr/>
        </p:nvSpPr>
        <p:spPr>
          <a:xfrm>
            <a:off x="9859975"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Test once</a:t>
            </a:r>
            <a:endParaRPr lang="en-US" sz="1700" dirty="0"/>
          </a:p>
        </p:txBody>
      </p:sp>
      <p:sp>
        <p:nvSpPr>
          <p:cNvPr id="33" name="Text 27"/>
          <p:cNvSpPr txBox="1"/>
          <p:nvPr/>
        </p:nvSpPr>
        <p:spPr>
          <a:xfrm>
            <a:off x="9859975"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exploratory holdout</a:t>
            </a:r>
            <a:endParaRPr lang="en-US" sz="1300" dirty="0"/>
          </a:p>
        </p:txBody>
      </p:sp>
      <p:sp>
        <p:nvSpPr>
          <p:cNvPr id="34" name="Text 28"/>
          <p:cNvSpPr txBox="1"/>
          <p:nvPr/>
        </p:nvSpPr>
        <p:spPr>
          <a:xfrm>
            <a:off x="548640" y="5394960"/>
            <a:ext cx="11094415" cy="594360"/>
          </a:xfrm>
          <a:prstGeom prst="rect">
            <a:avLst/>
          </a:prstGeom>
          <a:noFill/>
          <a:ln/>
        </p:spPr>
        <p:txBody>
          <a:bodyPr wrap="square" lIns="0" tIns="0" rIns="0" bIns="0" rtlCol="0" anchor="t"/>
          <a:lstStyle/>
          <a:p>
            <a:pPr indent="0" marL="0">
              <a:buNone/>
            </a:pPr>
            <a:r>
              <a:rPr lang="en-US" sz="1500" i="1" dirty="0">
                <a:solidFill>
                  <a:schemeClr val="accent4"/>
                </a:solidFill>
              </a:rPr>
              <a:t>Raw = 18 inputs; history = + prior win rates of agent, account and product (closed before engagement). 12 candidates, same rows and split, CPU, seed 42.</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
        <p:nvSpPr>
          <p:cNvPr id="15" name="model-4"/>
          <p:cNvSpPr/>
          <p:nvPr/>
        </p:nvSpPr>
        <p:spPr>
          <a:xfrm>
            <a:off x="9928860" y="1463040"/>
            <a:ext cx="1711452" cy="1600200"/>
          </a:xfrm>
          <a:prstGeom prst="roundRect">
            <a:avLst>
              <a:gd name="adj" fmla="val 4571"/>
            </a:avLst>
          </a:prstGeom>
          <a:solidFill>
            <a:schemeClr val="bg2"/>
          </a:solidFill>
          <a:ln/>
        </p:spPr>
        <p:txBody>
          <a:bodyPr/>
          <a:p/>
        </p:txBody>
      </p:sp>
      <p:sp>
        <p:nvSpPr>
          <p:cNvPr id="16" name="Text 14"/>
          <p:cNvSpPr txBox="1"/>
          <p:nvPr/>
        </p:nvSpPr>
        <p:spPr>
          <a:xfrm>
            <a:off x="10111740" y="1645920"/>
            <a:ext cx="1345692" cy="640080"/>
          </a:xfrm>
          <a:prstGeom prst="rect">
            <a:avLst/>
          </a:prstGeom>
          <a:noFill/>
          <a:ln/>
        </p:spPr>
        <p:txBody>
          <a:bodyPr wrap="square" lIns="0" tIns="0" rIns="0" bIns="0" rtlCol="0" anchor="t"/>
          <a:lstStyle/>
          <a:p>
            <a:pPr indent="0" marL="0">
              <a:buNone/>
            </a:pPr>
            <a:r>
              <a:rPr lang="en-US" sz="1500" b="1" dirty="0">
                <a:solidFill>
                  <a:schemeClr val="tx2"/>
                </a:solidFill>
              </a:rPr>
              <a:t>CatBoost</a:t>
            </a:r>
            <a:endParaRPr lang="en-US" sz="1800" dirty="0"/>
          </a:p>
        </p:txBody>
      </p:sp>
      <p:sp>
        <p:nvSpPr>
          <p:cNvPr id="17" name="Text 15"/>
          <p:cNvSpPr txBox="1"/>
          <p:nvPr/>
        </p:nvSpPr>
        <p:spPr>
          <a:xfrm>
            <a:off x="10111740" y="2331720"/>
            <a:ext cx="1345692" cy="777240"/>
          </a:xfrm>
          <a:prstGeom prst="rect">
            <a:avLst/>
          </a:prstGeom>
          <a:noFill/>
          <a:ln/>
        </p:spPr>
        <p:txBody>
          <a:bodyPr wrap="square" lIns="0" tIns="0" rIns="0" bIns="0" rtlCol="0" anchor="t"/>
          <a:lstStyle/>
          <a:p>
            <a:pPr indent="0" marL="0">
              <a:buNone/>
            </a:pPr>
            <a:r>
              <a:rPr lang="en-US" sz="1300" dirty="0">
                <a:solidFill>
                  <a:schemeClr val="tx1"/>
                </a:solidFill>
              </a:rPr>
              <a:t>Boosted trees, native categories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How MLP and TabNet work</a:t>
            </a:r>
            <a:endParaRPr lang="en-US" sz="3400" dirty="0"/>
          </a:p>
        </p:txBody>
      </p:sp>
      <p:sp>
        <p:nvSpPr>
          <p:cNvPr id="3" name="icon-bg-warn"/>
          <p:cNvSpPr/>
          <p:nvPr/>
        </p:nvSpPr>
        <p:spPr>
          <a:xfrm>
            <a:off x="548640" y="1417320"/>
            <a:ext cx="548640" cy="548640"/>
          </a:xfrm>
          <a:prstGeom prst="ellipse">
            <a:avLst/>
          </a:prstGeom>
          <a:solidFill>
            <a:schemeClr val="accent3"/>
          </a:solidFill>
          <a:ln/>
        </p:spPr>
        <p:txBody>
          <a:bodyPr/>
          <a:p/>
        </p:txBody>
      </p:sp>
      <p:pic>
        <p:nvPicPr>
          <p:cNvPr id="4" name="icon-warn" descr="preencoded.png">    </p:cNvPr>
          <p:cNvPicPr>
            <a:picLocks noChangeAspect="1"/>
          </p:cNvPicPr>
          <p:nvPr/>
        </p:nvPicPr>
        <p:blipFill>
          <a:blip r:embed="rId5"/>
          <a:stretch>
            <a:fillRect/>
          </a:stretch>
        </p:blipFill>
        <p:spPr>
          <a:xfrm>
            <a:off x="685800" y="1554480"/>
            <a:ext cx="274320" cy="274320"/>
          </a:xfrm>
          <a:prstGeom prst="rect">
            <a:avLst/>
          </a:prstGeom>
        </p:spPr>
      </p:pic>
      <p:sp>
        <p:nvSpPr>
          <p:cNvPr id="5" name="Text 2"/>
          <p:cNvSpPr txBox="1"/>
          <p:nvPr/>
        </p:nvSpPr>
        <p:spPr>
          <a:xfrm>
            <a:off x="1280160"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MLP (multilayer perceptron)</a:t>
            </a:r>
            <a:endParaRPr lang="en-US" sz="2000" dirty="0"/>
          </a:p>
        </p:txBody>
      </p:sp>
      <p:sp>
        <p:nvSpPr>
          <p:cNvPr id="6" name="Text 3"/>
          <p:cNvSpPr txBox="1"/>
          <p:nvPr/>
        </p:nvSpPr>
        <p:spPr>
          <a:xfrm>
            <a:off x="548640" y="2011680"/>
            <a:ext cx="5318608" cy="2377440"/>
          </a:xfrm>
          <a:prstGeom prst="rect">
            <a:avLst/>
          </a:prstGeom>
          <a:noFill/>
          <a:ln/>
        </p:spPr>
        <p:txBody>
          <a:bodyPr wrap="square" lIns="0" tIns="0" rIns="0" bIns="0" rtlCol="0" anchor="t"/>
          <a:lstStyle/>
          <a:p>
            <a:pPr marL="203200" indent="-203200">
              <a:spcAft>
                <a:spcPts val="400"/>
              </a:spcAft>
              <a:buSzPct val="100000"/>
              <a:buChar char="•"/>
            </a:pPr>
            <a:r>
              <a:rPr lang="en-US" sz="1300" dirty="0">
                <a:solidFill>
                  <a:schemeClr val="tx1"/>
                </a:solidFill>
              </a:rPr>
              <a:t>Fully connected layers: every neuron sees every input at once</a:t>
            </a:r>
            <a:endParaRPr lang="en-US" sz="1500" dirty="0"/>
          </a:p>
          <a:p>
            <a:pPr marL="203200" indent="-203200">
              <a:spcAft>
                <a:spcPts val="400"/>
              </a:spcAft>
              <a:buSzPct val="100000"/>
              <a:buChar char="•"/>
            </a:pPr>
            <a:r>
              <a:rPr lang="en-US" sz="1300" dirty="0">
                <a:solidFill>
                  <a:schemeClr val="tx1"/>
                </a:solidFill>
              </a:rPr>
              <a:t>Our network: inputs → 64 ReLU → 32 ReLU → sigmoid P(Won)</a:t>
            </a:r>
            <a:endParaRPr lang="en-US" sz="1500" dirty="0"/>
          </a:p>
          <a:p>
            <a:pPr marL="203200" indent="-203200">
              <a:spcAft>
                <a:spcPts val="400"/>
              </a:spcAft>
              <a:buSzPct val="100000"/>
              <a:buChar char="•"/>
            </a:pPr>
            <a:r>
              <a:rPr lang="en-US" sz="1300" dirty="0">
                <a:solidFill>
                  <a:schemeClr val="tx1"/>
                </a:solidFill>
              </a:rPr>
              <a:t>Feature interactions are learned implicitly inside weighted sums</a:t>
            </a:r>
            <a:endParaRPr lang="en-US" sz="1500" dirty="0"/>
          </a:p>
          <a:p>
            <a:pPr marL="203200" indent="-203200">
              <a:spcAft>
                <a:spcPts val="400"/>
              </a:spcAft>
              <a:buSzPct val="100000"/>
              <a:buChar char="•"/>
            </a:pPr>
            <a:r>
              <a:rPr lang="en-US" sz="1300" dirty="0">
                <a:solidFill>
                  <a:schemeClr val="tx1"/>
                </a:solidFill>
              </a:rPr>
              <a:t>Regularised by L2 weight decay and early stopping</a:t>
            </a:r>
            <a:endParaRPr lang="en-US" sz="1500" dirty="0"/>
          </a:p>
          <a:p>
            <a:pPr marL="203200" indent="-203200">
              <a:spcAft>
                <a:spcPts val="400"/>
              </a:spcAft>
              <a:buSzPct val="100000"/>
              <a:buChar char="•"/>
            </a:pPr>
            <a:r>
              <a:rPr lang="en-US" sz="1300" dirty="0">
                <a:solidFill>
                  <a:schemeClr val="tx1"/>
                </a:solidFill>
              </a:rPr>
              <a:t>No built-in view of which inputs matter: needs post-hoc methods (permutation, SHAP)</a:t>
            </a:r>
            <a:endParaRPr lang="en-US" sz="1500" dirty="0"/>
          </a:p>
        </p:txBody>
      </p:sp>
      <p:sp>
        <p:nvSpPr>
          <p:cNvPr id="7" name="icon-bg-search"/>
          <p:cNvSpPr/>
          <p:nvPr/>
        </p:nvSpPr>
        <p:spPr>
          <a:xfrm>
            <a:off x="6324448" y="1417320"/>
            <a:ext cx="548640" cy="548640"/>
          </a:xfrm>
          <a:prstGeom prst="ellipse">
            <a:avLst/>
          </a:prstGeom>
          <a:solidFill>
            <a:schemeClr val="accent1"/>
          </a:solidFill>
          <a:ln/>
        </p:spPr>
        <p:txBody>
          <a:bodyPr/>
          <a:p/>
        </p:txBody>
      </p:sp>
      <p:pic>
        <p:nvPicPr>
          <p:cNvPr id="8" name="icon-search" descr="preencoded.png">    </p:cNvPr>
          <p:cNvPicPr>
            <a:picLocks noChangeAspect="1"/>
          </p:cNvPicPr>
          <p:nvPr/>
        </p:nvPicPr>
        <p:blipFill>
          <a:blip r:embed="rId2"/>
          <a:stretch>
            <a:fillRect/>
          </a:stretch>
        </p:blipFill>
        <p:spPr>
          <a:xfrm>
            <a:off x="6461608" y="1554480"/>
            <a:ext cx="274320" cy="274320"/>
          </a:xfrm>
          <a:prstGeom prst="rect">
            <a:avLst/>
          </a:prstGeom>
        </p:spPr>
      </p:pic>
      <p:sp>
        <p:nvSpPr>
          <p:cNvPr id="9" name="Text 5"/>
          <p:cNvSpPr txBox="1"/>
          <p:nvPr/>
        </p:nvSpPr>
        <p:spPr>
          <a:xfrm>
            <a:off x="7055968"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TabNet (Arik &amp; Pfister, 2021)</a:t>
            </a:r>
            <a:endParaRPr lang="en-US" sz="2000" dirty="0"/>
          </a:p>
        </p:txBody>
      </p:sp>
      <p:sp>
        <p:nvSpPr>
          <p:cNvPr id="10" name="Text 6"/>
          <p:cNvSpPr txBox="1"/>
          <p:nvPr/>
        </p:nvSpPr>
        <p:spPr>
          <a:xfrm>
            <a:off x="6324448" y="2011680"/>
            <a:ext cx="5318608" cy="2377440"/>
          </a:xfrm>
          <a:prstGeom prst="rect">
            <a:avLst/>
          </a:prstGeom>
          <a:noFill/>
          <a:ln/>
        </p:spPr>
        <p:txBody>
          <a:bodyPr wrap="square" lIns="0" tIns="0" rIns="0" bIns="0" rtlCol="0" anchor="t"/>
          <a:lstStyle/>
          <a:p>
            <a:pPr marL="203200" indent="-203200">
              <a:spcAft>
                <a:spcPts val="400"/>
              </a:spcAft>
              <a:buSzPct val="100000"/>
              <a:buChar char="•"/>
            </a:pPr>
            <a:r>
              <a:rPr lang="en-US" sz="1300" dirty="0">
                <a:solidFill>
                  <a:schemeClr val="tx1"/>
                </a:solidFill>
              </a:rPr>
              <a:t>Several sequential decision steps (we use 3)</a:t>
            </a:r>
            <a:endParaRPr lang="en-US" sz="1500" dirty="0"/>
          </a:p>
          <a:p>
            <a:pPr marL="203200" indent="-203200">
              <a:spcAft>
                <a:spcPts val="400"/>
              </a:spcAft>
              <a:buSzPct val="100000"/>
              <a:buChar char="•"/>
            </a:pPr>
            <a:r>
              <a:rPr lang="en-US" sz="1300" dirty="0">
                <a:solidFill>
                  <a:schemeClr val="tx1"/>
                </a:solidFill>
              </a:rPr>
              <a:t>At each step an attentive transformer outputs a sparse mask (sparsemax) that selects a few inputs, separately for every deal</a:t>
            </a:r>
            <a:endParaRPr lang="en-US" sz="1500" dirty="0"/>
          </a:p>
          <a:p>
            <a:pPr marL="203200" indent="-203200">
              <a:spcAft>
                <a:spcPts val="400"/>
              </a:spcAft>
              <a:buSzPct val="100000"/>
              <a:buChar char="•"/>
            </a:pPr>
            <a:r>
              <a:rPr lang="en-US" sz="1300" dirty="0">
                <a:solidFill>
                  <a:schemeClr val="tx1"/>
                </a:solidFill>
              </a:rPr>
              <a:t>A feature transformer (shared + step-specific GLU blocks) processes only the selected inputs; step outputs are added up</a:t>
            </a:r>
            <a:endParaRPr lang="en-US" sz="1500" dirty="0"/>
          </a:p>
          <a:p>
            <a:pPr marL="203200" indent="-203200">
              <a:spcAft>
                <a:spcPts val="400"/>
              </a:spcAft>
              <a:buSzPct val="100000"/>
              <a:buChar char="•"/>
            </a:pPr>
            <a:r>
              <a:rPr lang="en-US" sz="1300" dirty="0">
                <a:solidFill>
                  <a:schemeClr val="tx1"/>
                </a:solidFill>
              </a:rPr>
              <a:t>A prior term discourages reusing the same input in every step; a sparsity loss keeps masks small</a:t>
            </a:r>
            <a:endParaRPr lang="en-US" sz="1500" dirty="0"/>
          </a:p>
          <a:p>
            <a:pPr marL="203200" indent="-203200">
              <a:spcAft>
                <a:spcPts val="400"/>
              </a:spcAft>
              <a:buSzPct val="100000"/>
              <a:buChar char="•"/>
            </a:pPr>
            <a:r>
              <a:rPr lang="en-US" sz="1300" dirty="0">
                <a:solidFill>
                  <a:schemeClr val="tx1"/>
                </a:solidFill>
              </a:rPr>
              <a:t>The masks are a built-in, per-deal explanation of which inputs were used</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graphicFrame>
        <p:nvGraphicFramePr>
          <p:cNvPr id="26" name="metrics-table"/>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1700784"/>
        </p:xfrm>
        <a:graphic>
          <a:graphicData uri="http://schemas.openxmlformats.org/drawingml/2006/table">
            <a:tbl>
              <a:tblPr/>
              <a:tblGrid>
                <a:gridCol w="2377440"/>
                <a:gridCol w="4023360"/>
                <a:gridCol w="4690872"/>
              </a:tblGrid>
              <a:tr h="283464">
                <a:tc>
                  <a:txBody>
                    <a:bodyPr/>
                    <a:lstStyle/>
                    <a:p>
                      <a:pPr algn="l" indent="0" marL="0">
                        <a:buNone/>
                      </a:pPr>
                      <a:r>
                        <a:rPr lang="en-US" sz="1200" b="1" dirty="0">
                          <a:solidFill>
                            <a:schemeClr val="bg1"/>
                          </a:solidFill>
                        </a:rPr>
                        <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l" indent="0" marL="0">
                        <a:buNone/>
                      </a:pPr>
                      <a:r>
                        <a:rPr lang="en-US" sz="1200" b="1" dirty="0">
                          <a:solidFill>
                            <a:schemeClr val="bg1"/>
                          </a:solidFill>
                        </a:rPr>
                        <a:t>MLP</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l" indent="0" marL="0">
                        <a:buNone/>
                      </a:pPr>
                      <a:r>
                        <a:rPr lang="en-US" sz="1200" b="1" dirty="0">
                          <a:solidFill>
                            <a:schemeClr val="bg1"/>
                          </a:solidFill>
                        </a:rPr>
                        <a:t>TabNet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r>
              <a:tr h="283464">
                <a:tc>
                  <a:txBody>
                    <a:bodyPr/>
                    <a:lstStyle/>
                    <a:p>
                      <a:pPr algn="l" indent="0" marL="0">
                        <a:buNone/>
                      </a:pPr>
                      <a:r>
                        <a:rPr lang="en-US" sz="1200" dirty="0">
                          <a:solidFill>
                            <a:schemeClr val="tx1"/>
                          </a:solidFill>
                        </a:rPr>
                        <a:t>Which inputs are used</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All inputs, in every layer</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A learned subset per step, per deal</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283464">
                <a:tc>
                  <a:txBody>
                    <a:bodyPr/>
                    <a:lstStyle/>
                    <a:p>
                      <a:pPr algn="l" indent="0" marL="0">
                        <a:buNone/>
                      </a:pPr>
                      <a:r>
                        <a:rPr lang="en-US" sz="1200" dirty="0">
                          <a:solidFill>
                            <a:schemeClr val="tx1"/>
                          </a:solidFill>
                        </a:rPr>
                        <a:t>How it decides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One dense, smooth function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Sequential, tree-like feature selection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283464">
                <a:tc>
                  <a:txBody>
                    <a:bodyPr/>
                    <a:lstStyle/>
                    <a:p>
                      <a:pPr algn="l" indent="0" marL="0">
                        <a:buNone/>
                      </a:pPr>
                      <a:r>
                        <a:rPr lang="en-US" sz="1200" dirty="0">
                          <a:solidFill>
                            <a:schemeClr val="tx1"/>
                          </a:solidFill>
                        </a:rPr>
                        <a:t>Explanation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Post-hoc only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Attention masks built in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283464">
                <a:tc>
                  <a:txBody>
                    <a:bodyPr/>
                    <a:lstStyle/>
                    <a:p>
                      <a:pPr algn="l" indent="0" marL="0">
                        <a:buNone/>
                      </a:pPr>
                      <a:r>
                        <a:rPr lang="en-US" sz="1200" dirty="0">
                          <a:solidFill>
                            <a:schemeClr val="tx1"/>
                          </a:solidFill>
                        </a:rPr>
                        <a:t>Hyperparameters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Few (layers, width, decay)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More (steps, widths, γ, sparsity, virtual batch)</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283464">
                <a:tc>
                  <a:txBody>
                    <a:bodyPr/>
                    <a:lstStyle/>
                    <a:p>
                      <a:pPr algn="l" indent="0" marL="0">
                        <a:buNone/>
                      </a:pPr>
                      <a:r>
                        <a:rPr lang="en-US" sz="1200" dirty="0">
                          <a:solidFill>
                            <a:schemeClr val="tx1"/>
                          </a:solidFill>
                        </a:rPr>
                        <a:t>Training cost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Light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Heavier: attention and several steps per update</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Why simulate? Original vs simulated data</a:t>
            </a:r>
            <a:endParaRPr lang="en-US" sz="3400" dirty="0"/>
          </a:p>
        </p:txBody>
      </p:sp>
      <p:sp>
        <p:nvSpPr>
          <p:cNvPr id="3" name="icon-bg-warn"/>
          <p:cNvSpPr/>
          <p:nvPr/>
        </p:nvSpPr>
        <p:spPr>
          <a:xfrm>
            <a:off x="548640" y="1417320"/>
            <a:ext cx="548640" cy="548640"/>
          </a:xfrm>
          <a:prstGeom prst="ellipse">
            <a:avLst/>
          </a:prstGeom>
          <a:solidFill>
            <a:schemeClr val="accent3"/>
          </a:solidFill>
          <a:ln/>
        </p:spPr>
        <p:txBody>
          <a:bodyPr/>
          <a:p/>
        </p:txBody>
      </p:sp>
      <p:pic>
        <p:nvPicPr>
          <p:cNvPr id="4" name="icon-warn" descr="preencoded.png">    </p:cNvPr>
          <p:cNvPicPr>
            <a:picLocks noChangeAspect="1"/>
          </p:cNvPicPr>
          <p:nvPr/>
        </p:nvPicPr>
        <p:blipFill>
          <a:blip r:embed="rId1"/>
          <a:stretch>
            <a:fillRect/>
          </a:stretch>
        </p:blipFill>
        <p:spPr>
          <a:xfrm>
            <a:off x="685800" y="1554480"/>
            <a:ext cx="274320" cy="274320"/>
          </a:xfrm>
          <a:prstGeom prst="rect">
            <a:avLst/>
          </a:prstGeom>
        </p:spPr>
      </p:pic>
      <p:sp>
        <p:nvSpPr>
          <p:cNvPr id="5" name="Text 2"/>
          <p:cNvSpPr txBox="1"/>
          <p:nvPr/>
        </p:nvSpPr>
        <p:spPr>
          <a:xfrm>
            <a:off x="1280160"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Original data: little to learn from</a:t>
            </a:r>
            <a:endParaRPr lang="en-US" sz="2000" dirty="0"/>
          </a:p>
        </p:txBody>
      </p:sp>
      <p:sp>
        <p:nvSpPr>
          <p:cNvPr id="6" name="Text 3"/>
          <p:cNvSpPr txBox="1"/>
          <p:nvPr/>
        </p:nvSpPr>
        <p:spPr>
          <a:xfrm>
            <a:off x="548640" y="2011680"/>
            <a:ext cx="5318608" cy="21031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Win rate barely changes across groups (products 0.60–0.65)</a:t>
            </a:r>
            <a:endParaRPr lang="en-US" sz="1500" dirty="0"/>
          </a:p>
          <a:p>
            <a:pPr marL="203200" indent="-203200">
              <a:spcAft>
                <a:spcPts val="800"/>
              </a:spcAft>
              <a:buSzPct val="100000"/>
              <a:buChar char="•"/>
            </a:pPr>
            <a:r>
              <a:rPr lang="en-US" sz="1500" dirty="0">
                <a:solidFill>
                  <a:schemeClr val="tx1"/>
                </a:solidFill>
              </a:rPr>
              <a:t>No deal-level signals: no discount, contacts, budget or competitor</a:t>
            </a:r>
            <a:endParaRPr lang="en-US" sz="1500" dirty="0"/>
          </a:p>
          <a:p>
            <a:pPr marL="203200" indent="-203200">
              <a:spcAft>
                <a:spcPts val="800"/>
              </a:spcAft>
              <a:buSzPct val="100000"/>
              <a:buChar char="•"/>
            </a:pPr>
            <a:r>
              <a:rPr lang="en-US" sz="1500" dirty="0">
                <a:solidFill>
                  <a:schemeClr val="tx1"/>
                </a:solidFill>
              </a:rPr>
              <a:t>Only 2,975 training deals after the time-based split</a:t>
            </a:r>
            <a:endParaRPr lang="en-US" sz="1500" dirty="0"/>
          </a:p>
          <a:p>
            <a:pPr marL="203200" indent="-203200">
              <a:spcAft>
                <a:spcPts val="800"/>
              </a:spcAft>
              <a:buSzPct val="100000"/>
              <a:buChar char="•"/>
            </a:pPr>
            <a:r>
              <a:rPr lang="en-US" sz="1500" dirty="0">
                <a:solidFill>
                  <a:schemeClr val="tx1"/>
                </a:solidFill>
              </a:rPr>
              <a:t>68% of open deals have no account; no closed deal is missing one</a:t>
            </a:r>
            <a:endParaRPr lang="en-US" sz="1500" dirty="0"/>
          </a:p>
        </p:txBody>
      </p:sp>
      <p:sp>
        <p:nvSpPr>
          <p:cNvPr id="7" name="icon-bg-search"/>
          <p:cNvSpPr/>
          <p:nvPr/>
        </p:nvSpPr>
        <p:spPr>
          <a:xfrm>
            <a:off x="6324448" y="1417320"/>
            <a:ext cx="548640" cy="548640"/>
          </a:xfrm>
          <a:prstGeom prst="ellipse">
            <a:avLst/>
          </a:prstGeom>
          <a:solidFill>
            <a:schemeClr val="accent1"/>
          </a:solidFill>
          <a:ln/>
        </p:spPr>
        <p:txBody>
          <a:bodyPr/>
          <a:p/>
        </p:txBody>
      </p:sp>
      <p:pic>
        <p:nvPicPr>
          <p:cNvPr id="8" name="icon-search" descr="preencoded.png">    </p:cNvPr>
          <p:cNvPicPr>
            <a:picLocks noChangeAspect="1"/>
          </p:cNvPicPr>
          <p:nvPr/>
        </p:nvPicPr>
        <p:blipFill>
          <a:blip r:embed="rId5"/>
          <a:stretch>
            <a:fillRect/>
          </a:stretch>
        </p:blipFill>
        <p:spPr>
          <a:xfrm>
            <a:off x="6461608" y="1554480"/>
            <a:ext cx="274320" cy="274320"/>
          </a:xfrm>
          <a:prstGeom prst="rect">
            <a:avLst/>
          </a:prstGeom>
        </p:spPr>
      </p:pic>
      <p:sp>
        <p:nvSpPr>
          <p:cNvPr id="9" name="Text 5"/>
          <p:cNvSpPr txBox="1"/>
          <p:nvPr/>
        </p:nvSpPr>
        <p:spPr>
          <a:xfrm>
            <a:off x="7055968"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Simulated data: signal we control</a:t>
            </a:r>
            <a:endParaRPr lang="en-US" sz="2000" dirty="0"/>
          </a:p>
        </p:txBody>
      </p:sp>
      <p:sp>
        <p:nvSpPr>
          <p:cNvPr id="10" name="Text 6"/>
          <p:cNvSpPr txBox="1"/>
          <p:nvPr/>
        </p:nvSpPr>
        <p:spPr>
          <a:xfrm>
            <a:off x="6324448" y="2011680"/>
            <a:ext cx="5318608" cy="21031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A planted win formula, so the true win probability is known (oracle)</a:t>
            </a:r>
            <a:endParaRPr lang="en-US" sz="1500" dirty="0"/>
          </a:p>
          <a:p>
            <a:pPr marL="203200" indent="-203200">
              <a:spcAft>
                <a:spcPts val="800"/>
              </a:spcAft>
              <a:buSzPct val="100000"/>
              <a:buChar char="•"/>
            </a:pPr>
            <a:r>
              <a:rPr lang="en-US" sz="1500" dirty="0">
                <a:solidFill>
                  <a:schemeClr val="tx1"/>
                </a:solidFill>
              </a:rPr>
              <a:t>Deal-level features: sector match, industry trend, competitor</a:t>
            </a:r>
            <a:endParaRPr lang="en-US" sz="1500" dirty="0"/>
          </a:p>
          <a:p>
            <a:pPr marL="203200" indent="-203200">
              <a:spcAft>
                <a:spcPts val="800"/>
              </a:spcAft>
              <a:buSzPct val="100000"/>
              <a:buChar char="•"/>
            </a:pPr>
            <a:r>
              <a:rPr lang="en-US" sz="1500" dirty="0">
                <a:solidFill>
                  <a:schemeClr val="tx1"/>
                </a:solidFill>
              </a:rPr>
              <a:t>100,000 deals, same format, same 85 accounts and dates</a:t>
            </a:r>
            <a:endParaRPr lang="en-US" sz="1500" dirty="0"/>
          </a:p>
          <a:p>
            <a:pPr marL="203200" indent="-203200">
              <a:spcAft>
                <a:spcPts val="800"/>
              </a:spcAft>
              <a:buSzPct val="100000"/>
              <a:buChar char="•"/>
            </a:pPr>
            <a:r>
              <a:rPr lang="en-US" sz="1500" dirty="0">
                <a:solidFill>
                  <a:schemeClr val="tx1"/>
                </a:solidFill>
              </a:rPr>
              <a:t>Signal strength and interaction type can be adjusted</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graphicFrame>
        <p:nvGraphicFramePr>
          <p:cNvPr id="26" name="metrics-table"/>
          <p:cNvGraphicFramePr>
            <a:graphicFrameLocks noGrp="1"/>
          </p:cNvGraphicFramePr>
          <p:nvPr>
            <p:extLst>
              <p:ext uri="{D42A27DB-BD31-4B8C-83A1-F6EECF244321}">
                <p14:modId xmlns:p14="http://schemas.microsoft.com/office/powerpoint/2010/main" val="1579011935"/>
              </p:ext>
            </p:extLst>
          </p:nvPr>
        </p:nvGraphicFramePr>
        <p:xfrm>
          <a:off x="548640" y="4251960"/>
          <a:ext cx="11091672" cy="1737360"/>
        </p:xfrm>
        <a:graphic>
          <a:graphicData uri="http://schemas.openxmlformats.org/drawingml/2006/table">
            <a:tbl>
              <a:tblPr/>
              <a:tblGrid>
                <a:gridCol w="4142232"/>
                <a:gridCol w="3474720"/>
                <a:gridCol w="3474720"/>
              </a:tblGrid>
              <a:tr h="347472">
                <a:tc>
                  <a:txBody>
                    <a:bodyPr/>
                    <a:lstStyle/>
                    <a:p>
                      <a:pPr algn="l" indent="0" marL="0">
                        <a:buNone/>
                      </a:pPr>
                      <a:r>
                        <a:rPr lang="en-US" sz="1400" b="1" dirty="0">
                          <a:solidFill>
                            <a:schemeClr val="bg1"/>
                          </a:solidFill>
                        </a:rPr>
                        <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Original</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Simulated</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r>
              <a:tr h="347472">
                <a:tc>
                  <a:txBody>
                    <a:bodyPr/>
                    <a:lstStyle/>
                    <a:p>
                      <a:pPr algn="l" indent="0" marL="0">
                        <a:buNone/>
                      </a:pPr>
                      <a:r>
                        <a:rPr lang="en-US" sz="1400" dirty="0">
                          <a:solidFill>
                            <a:schemeClr val="tx1"/>
                          </a:solidFill>
                        </a:rPr>
                        <a:t>Win rate across products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0.60 – 0.65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0.27 – 0.93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347472">
                <a:tc>
                  <a:txBody>
                    <a:bodyPr/>
                    <a:lstStyle/>
                    <a:p>
                      <a:pPr algn="l" indent="0" marL="0">
                        <a:buNone/>
                      </a:pPr>
                      <a:r>
                        <a:rPr lang="en-US" sz="1400" dirty="0">
                          <a:solidFill>
                            <a:schemeClr val="tx1"/>
                          </a:solidFill>
                        </a:rPr>
                        <a:t>Best single-feature AUC</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0.56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0.76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347472">
                <a:tc>
                  <a:txBody>
                    <a:bodyPr/>
                    <a:lstStyle/>
                    <a:p>
                      <a:pPr algn="l" indent="0" marL="0">
                        <a:buNone/>
                      </a:pPr>
                      <a:r>
                        <a:rPr lang="en-US" sz="1400" dirty="0">
                          <a:solidFill>
                            <a:schemeClr val="tx1"/>
                          </a:solidFill>
                        </a:rPr>
                        <a:t>Closed deals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6,711</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71,463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347472">
                <a:tc>
                  <a:txBody>
                    <a:bodyPr/>
                    <a:lstStyle/>
                    <a:p>
                      <a:pPr algn="l" indent="0" marL="0">
                        <a:buNone/>
                      </a:pPr>
                      <a:r>
                        <a:rPr lang="en-US" sz="1400" dirty="0">
                          <a:solidFill>
                            <a:schemeClr val="tx1"/>
                          </a:solidFill>
                        </a:rPr>
                        <a:t>Best possible AUC (oracle)</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unknown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0.877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0"/>
            <a:ext cx="10515600" cy="12801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Scenario B: does the pipeline learn when signal exists?</a:t>
            </a:r>
            <a:endParaRPr lang="en-US" sz="4000" dirty="0"/>
          </a:p>
        </p:txBody>
      </p:sp>
      <p:sp>
        <p:nvSpPr>
          <p:cNvPr id="3" name="Text 0"/>
          <p:cNvSpPr/>
          <p:nvPr>
            <p:ph idx="101" type="body" hasCustomPrompt="1"/>
          </p:nvPr>
        </p:nvSpPr>
        <p:spPr>
          <a:xfrm>
            <a:off x="548640" y="3657600"/>
            <a:ext cx="10515600" cy="1097280"/>
          </a:xfrm>
          <a:prstGeom prst="rect">
            <a:avLst/>
          </a:prstGeom>
          <a:noFill/>
          <a:ln/>
        </p:spPr>
        <p:txBody>
          <a:bodyPr wrap="square" lIns="0" tIns="0" rIns="0" bIns="0" rtlCol="0" anchor="t"/>
          <a:lstStyle/>
          <a:p>
            <a:pPr indent="0" marL="0">
              <a:buNone/>
            </a:pPr>
            <a:r>
              <a:rPr lang="en-US" sz="2000" dirty="0">
                <a:solidFill>
                  <a:schemeClr val="accent5"/>
                </a:solidFill>
              </a:rPr>
              <a:t>Same loader, split, preprocessing, threshold rule and metrics on 100,000 simulated deals</a:t>
            </a: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How we simulated 100,000 deals</a:t>
            </a:r>
            <a:endParaRPr lang="en-US" sz="3400" dirty="0"/>
          </a:p>
        </p:txBody>
      </p:sp>
      <p:sp>
        <p:nvSpPr>
          <p:cNvPr id="3" name="sim-col-0"/>
          <p:cNvSpPr/>
          <p:nvPr/>
        </p:nvSpPr>
        <p:spPr>
          <a:xfrm>
            <a:off x="548640" y="1417320"/>
            <a:ext cx="3429000" cy="2743200"/>
          </a:xfrm>
          <a:prstGeom prst="roundRect">
            <a:avLst>
              <a:gd name="adj" fmla="val 2667"/>
            </a:avLst>
          </a:prstGeom>
          <a:solidFill>
            <a:schemeClr val="bg2"/>
          </a:solidFill>
          <a:ln/>
        </p:spPr>
        <p:txBody>
          <a:bodyPr/>
          <a:p/>
        </p:txBody>
      </p:sp>
      <p:sp>
        <p:nvSpPr>
          <p:cNvPr id="4" name="icon-bg-table"/>
          <p:cNvSpPr/>
          <p:nvPr/>
        </p:nvSpPr>
        <p:spPr>
          <a:xfrm>
            <a:off x="822960" y="1645920"/>
            <a:ext cx="594360" cy="594360"/>
          </a:xfrm>
          <a:prstGeom prst="ellipse">
            <a:avLst/>
          </a:prstGeom>
          <a:solidFill>
            <a:schemeClr val="accent1"/>
          </a:solidFill>
          <a:ln/>
        </p:spPr>
        <p:txBody>
          <a:bodyPr/>
          <a:p/>
        </p:txBody>
      </p:sp>
      <p:pic>
        <p:nvPicPr>
          <p:cNvPr id="5" name="icon-table" descr="preencoded.png">    </p:cNvPr>
          <p:cNvPicPr>
            <a:picLocks noChangeAspect="1"/>
          </p:cNvPicPr>
          <p:nvPr/>
        </p:nvPicPr>
        <p:blipFill>
          <a:blip r:embed="rId1"/>
          <a:stretch>
            <a:fillRect/>
          </a:stretch>
        </p:blipFill>
        <p:spPr>
          <a:xfrm>
            <a:off x="971550" y="1794510"/>
            <a:ext cx="297180" cy="297180"/>
          </a:xfrm>
          <a:prstGeom prst="rect">
            <a:avLst/>
          </a:prstGeom>
        </p:spPr>
      </p:pic>
      <p:sp>
        <p:nvSpPr>
          <p:cNvPr id="6" name="Text 3"/>
          <p:cNvSpPr txBox="1"/>
          <p:nvPr/>
        </p:nvSpPr>
        <p:spPr>
          <a:xfrm>
            <a:off x="1554480" y="1719072"/>
            <a:ext cx="2240280" cy="457200"/>
          </a:xfrm>
          <a:prstGeom prst="rect">
            <a:avLst/>
          </a:prstGeom>
          <a:noFill/>
          <a:ln/>
        </p:spPr>
        <p:txBody>
          <a:bodyPr wrap="square" lIns="0" tIns="0" rIns="0" bIns="0" rtlCol="0" anchor="ctr"/>
          <a:lstStyle/>
          <a:p>
            <a:pPr indent="0" marL="0">
              <a:buNone/>
            </a:pPr>
            <a:r>
              <a:rPr lang="en-US" sz="1800" b="1" dirty="0">
                <a:solidFill>
                  <a:schemeClr val="tx2"/>
                </a:solidFill>
              </a:rPr>
              <a:t>Reused from real data</a:t>
            </a:r>
            <a:endParaRPr lang="en-US" sz="1800" dirty="0"/>
          </a:p>
        </p:txBody>
      </p:sp>
      <p:sp>
        <p:nvSpPr>
          <p:cNvPr id="7" name="Text 4"/>
          <p:cNvSpPr txBox="1"/>
          <p:nvPr/>
        </p:nvSpPr>
        <p:spPr>
          <a:xfrm>
            <a:off x="822960" y="2468880"/>
            <a:ext cx="2880360" cy="16002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85 accounts, 30 agents, 7 products</a:t>
            </a:r>
            <a:endParaRPr lang="en-US" sz="1500" dirty="0"/>
          </a:p>
          <a:p>
            <a:pPr marL="203200" indent="-203200">
              <a:spcAft>
                <a:spcPts val="800"/>
              </a:spcAft>
              <a:buSzPct val="100000"/>
              <a:buChar char="•"/>
            </a:pPr>
            <a:r>
              <a:rPr lang="en-US" sz="1600" dirty="0">
                <a:solidFill>
                  <a:schemeClr val="tx1"/>
                </a:solidFill>
              </a:rPr>
              <a:t>Date range and 63% win rate</a:t>
            </a:r>
            <a:endParaRPr lang="en-US" sz="1500" dirty="0"/>
          </a:p>
          <a:p>
            <a:pPr marL="203200" indent="-203200">
              <a:spcAft>
                <a:spcPts val="800"/>
              </a:spcAft>
              <a:buSzPct val="100000"/>
              <a:buChar char="•"/>
            </a:pPr>
            <a:r>
              <a:rPr lang="en-US" sz="1600" dirty="0">
                <a:solidFill>
                  <a:schemeClr val="tx1"/>
                </a:solidFill>
              </a:rPr>
              <a:t>Share of open and Prospecting deals</a:t>
            </a:r>
            <a:endParaRPr lang="en-US" sz="1500" dirty="0"/>
          </a:p>
        </p:txBody>
      </p:sp>
      <p:sp>
        <p:nvSpPr>
          <p:cNvPr id="8" name="sim-col-1"/>
          <p:cNvSpPr/>
          <p:nvPr/>
        </p:nvSpPr>
        <p:spPr>
          <a:xfrm>
            <a:off x="4381348" y="1417320"/>
            <a:ext cx="3429000" cy="2743200"/>
          </a:xfrm>
          <a:prstGeom prst="roundRect">
            <a:avLst>
              <a:gd name="adj" fmla="val 2667"/>
            </a:avLst>
          </a:prstGeom>
          <a:solidFill>
            <a:schemeClr val="bg2"/>
          </a:solidFill>
          <a:ln/>
        </p:spPr>
        <p:txBody>
          <a:bodyPr/>
          <a:p/>
        </p:txBody>
      </p:sp>
      <p:sp>
        <p:nvSpPr>
          <p:cNvPr id="9" name="icon-bg-dice"/>
          <p:cNvSpPr/>
          <p:nvPr/>
        </p:nvSpPr>
        <p:spPr>
          <a:xfrm>
            <a:off x="4655668" y="1645920"/>
            <a:ext cx="594360" cy="594360"/>
          </a:xfrm>
          <a:prstGeom prst="ellipse">
            <a:avLst/>
          </a:prstGeom>
          <a:solidFill>
            <a:schemeClr val="accent2"/>
          </a:solidFill>
          <a:ln/>
        </p:spPr>
        <p:txBody>
          <a:bodyPr/>
          <a:p/>
        </p:txBody>
      </p:sp>
      <p:pic>
        <p:nvPicPr>
          <p:cNvPr id="10" name="icon-dice" descr="preencoded.png">    </p:cNvPr>
          <p:cNvPicPr>
            <a:picLocks noChangeAspect="1"/>
          </p:cNvPicPr>
          <p:nvPr/>
        </p:nvPicPr>
        <p:blipFill>
          <a:blip r:embed="rId2"/>
          <a:stretch>
            <a:fillRect/>
          </a:stretch>
        </p:blipFill>
        <p:spPr>
          <a:xfrm>
            <a:off x="4804258" y="1794510"/>
            <a:ext cx="297180" cy="297180"/>
          </a:xfrm>
          <a:prstGeom prst="rect">
            <a:avLst/>
          </a:prstGeom>
        </p:spPr>
      </p:pic>
      <p:sp>
        <p:nvSpPr>
          <p:cNvPr id="11" name="Text 7"/>
          <p:cNvSpPr txBox="1"/>
          <p:nvPr/>
        </p:nvSpPr>
        <p:spPr>
          <a:xfrm>
            <a:off x="5387188" y="1719072"/>
            <a:ext cx="2240280" cy="457200"/>
          </a:xfrm>
          <a:prstGeom prst="rect">
            <a:avLst/>
          </a:prstGeom>
          <a:noFill/>
          <a:ln/>
        </p:spPr>
        <p:txBody>
          <a:bodyPr wrap="square" lIns="0" tIns="0" rIns="0" bIns="0" rtlCol="0" anchor="ctr"/>
          <a:lstStyle/>
          <a:p>
            <a:pPr indent="0" marL="0">
              <a:buNone/>
            </a:pPr>
            <a:r>
              <a:rPr lang="en-US" sz="1800" b="1" dirty="0">
                <a:solidFill>
                  <a:schemeClr val="tx2"/>
                </a:solidFill>
              </a:rPr>
              <a:t>Added by the team</a:t>
            </a:r>
            <a:endParaRPr lang="en-US" sz="1800" dirty="0"/>
          </a:p>
        </p:txBody>
      </p:sp>
      <p:sp>
        <p:nvSpPr>
          <p:cNvPr id="12" name="Text 8"/>
          <p:cNvSpPr txBox="1"/>
          <p:nvPr/>
        </p:nvSpPr>
        <p:spPr>
          <a:xfrm>
            <a:off x="4655668" y="2468880"/>
            <a:ext cx="2880360" cy="16002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9 new products, new GTS series</a:t>
            </a:r>
            <a:endParaRPr lang="en-US" sz="1500" dirty="0"/>
          </a:p>
          <a:p>
            <a:pPr marL="203200" indent="-203200">
              <a:spcAft>
                <a:spcPts val="800"/>
              </a:spcAft>
              <a:buSzPct val="100000"/>
              <a:buChar char="•"/>
            </a:pPr>
            <a:r>
              <a:rPr lang="en-US" sz="1600" dirty="0">
                <a:solidFill>
                  <a:schemeClr val="tx1"/>
                </a:solidFill>
              </a:rPr>
              <a:t>Competitor products</a:t>
            </a:r>
            <a:endParaRPr lang="en-US" sz="1500" dirty="0"/>
          </a:p>
          <a:p>
            <a:pPr marL="203200" indent="-203200">
              <a:spcAft>
                <a:spcPts val="800"/>
              </a:spcAft>
              <a:buSzPct val="100000"/>
              <a:buChar char="•"/>
            </a:pPr>
            <a:r>
              <a:rPr lang="en-US" sz="1600" dirty="0">
                <a:solidFill>
                  <a:schemeClr val="tx1"/>
                </a:solidFill>
              </a:rPr>
              <a:t>5-year industry trends</a:t>
            </a:r>
            <a:endParaRPr lang="en-US" sz="1500" dirty="0"/>
          </a:p>
        </p:txBody>
      </p:sp>
      <p:sp>
        <p:nvSpPr>
          <p:cNvPr id="13" name="sim-col-2"/>
          <p:cNvSpPr/>
          <p:nvPr/>
        </p:nvSpPr>
        <p:spPr>
          <a:xfrm>
            <a:off x="8214055" y="1417320"/>
            <a:ext cx="3429000" cy="2743200"/>
          </a:xfrm>
          <a:prstGeom prst="roundRect">
            <a:avLst>
              <a:gd name="adj" fmla="val 2667"/>
            </a:avLst>
          </a:prstGeom>
          <a:solidFill>
            <a:schemeClr val="bg2"/>
          </a:solidFill>
          <a:ln/>
        </p:spPr>
        <p:txBody>
          <a:bodyPr/>
          <a:p/>
        </p:txBody>
      </p:sp>
      <p:sp>
        <p:nvSpPr>
          <p:cNvPr id="14" name="icon-bg-flask"/>
          <p:cNvSpPr/>
          <p:nvPr/>
        </p:nvSpPr>
        <p:spPr>
          <a:xfrm>
            <a:off x="8488375" y="1645920"/>
            <a:ext cx="594360" cy="594360"/>
          </a:xfrm>
          <a:prstGeom prst="ellipse">
            <a:avLst/>
          </a:prstGeom>
          <a:solidFill>
            <a:schemeClr val="tx2"/>
          </a:solidFill>
          <a:ln/>
        </p:spPr>
        <p:txBody>
          <a:bodyPr/>
          <a:p/>
        </p:txBody>
      </p:sp>
      <p:pic>
        <p:nvPicPr>
          <p:cNvPr id="15" name="icon-flask" descr="preencoded.png">    </p:cNvPr>
          <p:cNvPicPr>
            <a:picLocks noChangeAspect="1"/>
          </p:cNvPicPr>
          <p:nvPr/>
        </p:nvPicPr>
        <p:blipFill>
          <a:blip r:embed="rId3"/>
          <a:stretch>
            <a:fillRect/>
          </a:stretch>
        </p:blipFill>
        <p:spPr>
          <a:xfrm>
            <a:off x="8636965" y="1794510"/>
            <a:ext cx="297180" cy="297180"/>
          </a:xfrm>
          <a:prstGeom prst="rect">
            <a:avLst/>
          </a:prstGeom>
        </p:spPr>
      </p:pic>
      <p:sp>
        <p:nvSpPr>
          <p:cNvPr id="16" name="Text 11"/>
          <p:cNvSpPr txBox="1"/>
          <p:nvPr/>
        </p:nvSpPr>
        <p:spPr>
          <a:xfrm>
            <a:off x="9219895" y="1719072"/>
            <a:ext cx="2240280" cy="457200"/>
          </a:xfrm>
          <a:prstGeom prst="rect">
            <a:avLst/>
          </a:prstGeom>
          <a:noFill/>
          <a:ln/>
        </p:spPr>
        <p:txBody>
          <a:bodyPr wrap="square" lIns="0" tIns="0" rIns="0" bIns="0" rtlCol="0" anchor="ctr"/>
          <a:lstStyle/>
          <a:p>
            <a:pPr indent="0" marL="0">
              <a:buNone/>
            </a:pPr>
            <a:r>
              <a:rPr lang="en-US" sz="1800" b="1" dirty="0">
                <a:solidFill>
                  <a:schemeClr val="tx2"/>
                </a:solidFill>
              </a:rPr>
              <a:t>Planted win formula</a:t>
            </a:r>
            <a:endParaRPr lang="en-US" sz="1800" dirty="0"/>
          </a:p>
        </p:txBody>
      </p:sp>
      <p:sp>
        <p:nvSpPr>
          <p:cNvPr id="17" name="Text 12"/>
          <p:cNvSpPr txBox="1"/>
          <p:nvPr/>
        </p:nvSpPr>
        <p:spPr>
          <a:xfrm>
            <a:off x="8488375" y="2468880"/>
            <a:ext cx="2880360" cy="16002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Known logistic model</a:t>
            </a:r>
            <a:endParaRPr lang="en-US" sz="1500" dirty="0"/>
          </a:p>
          <a:p>
            <a:pPr marL="203200" indent="-203200">
              <a:spcAft>
                <a:spcPts val="800"/>
              </a:spcAft>
              <a:buSzPct val="100000"/>
              <a:buChar char="•"/>
            </a:pPr>
            <a:r>
              <a:rPr lang="en-US" sz="1600" dirty="0">
                <a:solidFill>
                  <a:schemeClr val="tx1"/>
                </a:solidFill>
              </a:rPr>
              <a:t>3 interactions, e.g. expensive product × small account</a:t>
            </a:r>
            <a:endParaRPr lang="en-US" sz="1500" dirty="0"/>
          </a:p>
          <a:p>
            <a:pPr marL="203200" indent="-203200">
              <a:spcAft>
                <a:spcPts val="800"/>
              </a:spcAft>
              <a:buSzPct val="100000"/>
              <a:buChar char="•"/>
            </a:pPr>
            <a:r>
              <a:rPr lang="en-US" sz="1600" dirty="0">
                <a:solidFill>
                  <a:schemeClr val="tx1"/>
                </a:solidFill>
              </a:rPr>
              <a:t>Strength k = 3</a:t>
            </a:r>
            <a:endParaRPr lang="en-US" sz="1500" dirty="0"/>
          </a:p>
        </p:txBody>
      </p:sp>
      <p:sp>
        <p:nvSpPr>
          <p:cNvPr id="18" name="oracle-frame"/>
          <p:cNvSpPr/>
          <p:nvPr/>
        </p:nvSpPr>
        <p:spPr>
          <a:xfrm>
            <a:off x="548640" y="4526280"/>
            <a:ext cx="11094415" cy="1280160"/>
          </a:xfrm>
          <a:prstGeom prst="roundRect">
            <a:avLst>
              <a:gd name="adj" fmla="val 5714"/>
            </a:avLst>
          </a:prstGeom>
          <a:solidFill>
            <a:schemeClr val="bg1"/>
          </a:solidFill>
          <a:ln/>
        </p:spPr>
        <p:txBody>
          <a:bodyPr/>
          <a:p/>
        </p:txBody>
      </p:sp>
      <p:sp>
        <p:nvSpPr>
          <p:cNvPr id="19" name="icon-bg-bullseye"/>
          <p:cNvSpPr/>
          <p:nvPr/>
        </p:nvSpPr>
        <p:spPr>
          <a:xfrm>
            <a:off x="548640" y="4846320"/>
            <a:ext cx="594360" cy="594360"/>
          </a:xfrm>
          <a:prstGeom prst="ellipse">
            <a:avLst/>
          </a:prstGeom>
          <a:solidFill>
            <a:schemeClr val="accent3"/>
          </a:solidFill>
          <a:ln/>
        </p:spPr>
        <p:txBody>
          <a:bodyPr/>
          <a:p/>
        </p:txBody>
      </p:sp>
      <p:pic>
        <p:nvPicPr>
          <p:cNvPr id="20" name="icon-bullseye" descr="preencoded.png">    </p:cNvPr>
          <p:cNvPicPr>
            <a:picLocks noChangeAspect="1"/>
          </p:cNvPicPr>
          <p:nvPr/>
        </p:nvPicPr>
        <p:blipFill>
          <a:blip r:embed="rId4"/>
          <a:stretch>
            <a:fillRect/>
          </a:stretch>
        </p:blipFill>
        <p:spPr>
          <a:xfrm>
            <a:off x="697230" y="4994910"/>
            <a:ext cx="297180" cy="297180"/>
          </a:xfrm>
          <a:prstGeom prst="rect">
            <a:avLst/>
          </a:prstGeom>
        </p:spPr>
      </p:pic>
      <p:sp>
        <p:nvSpPr>
          <p:cNvPr id="21" name="Text 15"/>
          <p:cNvSpPr txBox="1"/>
          <p:nvPr/>
        </p:nvSpPr>
        <p:spPr>
          <a:xfrm>
            <a:off x="1325880" y="4773168"/>
            <a:ext cx="10317175" cy="731520"/>
          </a:xfrm>
          <a:prstGeom prst="rect">
            <a:avLst/>
          </a:prstGeom>
          <a:noFill/>
          <a:ln/>
        </p:spPr>
        <p:txBody>
          <a:bodyPr wrap="square" lIns="0" tIns="0" rIns="0" bIns="0" rtlCol="0" anchor="ctr"/>
          <a:lstStyle/>
          <a:p>
            <a:pPr indent="0" marL="0">
              <a:buNone/>
            </a:pPr>
            <a:r>
              <a:rPr lang="en-US" sz="1700" b="1" dirty="0">
                <a:solidFill>
                  <a:schemeClr val="tx2"/>
                </a:solidFill>
              </a:rPr>
              <a:t>We know every deal's true win probability. </a:t>
            </a:r>
            <a:pPr indent="0" marL="0">
              <a:buNone/>
            </a:pPr>
            <a:r>
              <a:rPr lang="en-US" sz="1700" dirty="0">
                <a:solidFill>
                  <a:schemeClr val="tx1"/>
                </a:solidFill>
              </a:rPr>
              <a:t>Scoring with it gives the oracle: the best ROC-AUC any model can reach. It is never used as a feature.</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0"/>
            <a:ext cx="10515600" cy="1280160"/>
          </a:xfrm>
          <a:prstGeom prst="rect">
            <a:avLst/>
          </a:prstGeom>
          <a:noFill/>
          <a:ln/>
        </p:spPr>
        <p:txBody>
          <a:bodyPr wrap="square" lIns="0" tIns="0" rIns="0" bIns="0" rtlCol="0" anchor="b"/>
          <a:lstStyle/>
          <a:p>
            <a:pPr algn="l" indent="0" marL="0">
              <a:buNone/>
            </a:pPr>
            <a:r>
              <a:rPr lang="en-US" sz="6000" b="1" dirty="0">
                <a:solidFill>
                  <a:schemeClr val="bg1"/>
                </a:solidFill>
                <a:latin typeface="Cambria" pitchFamily="34" charset="0"/>
                <a:ea typeface="Cambria" pitchFamily="34" charset="-122"/>
                <a:cs typeface="Cambria" pitchFamily="34" charset="-120"/>
              </a:rPr>
              <a:t>Live demo</a:t>
            </a:r>
            <a:endParaRPr lang="en-US" sz="4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
        <p:nvSpPr>
          <p:cNvPr id="26" name="TextBox 25"/>
          <p:cNvSpPr txBox="1"/>
          <p:nvPr/>
        </p:nvSpPr>
        <p:spPr>
          <a:xfrm>
            <a:off x="1371600" y="4023360"/>
            <a:ext cx="9418320" cy="731520"/>
          </a:xfrm>
          <a:prstGeom prst="rect">
            <a:avLst/>
          </a:prstGeom>
          <a:noFill/>
        </p:spPr>
        <p:txBody>
          <a:bodyPr wrap="square" anchor="t" lIns="45720" rIns="45720">
            <a:spAutoFit/>
          </a:bodyPr>
          <a:lstStyle/>
          <a:p>
            <a:pPr algn="ctr">
              <a:spcAft>
                <a:spcPts val="400"/>
              </a:spcAft>
            </a:pPr>
            <a:r>
              <a:rPr sz="2800" b="0">
                <a:solidFill>
                  <a:schemeClr val="bg1"/>
                </a:solidFill>
                <a:latin typeface="Consolas"/>
              </a:rPr>
              <a:t>python -m src.agent_demo</a:t>
            </a:r>
          </a:p>
        </p:txBody>
      </p:sp>
      <p:sp>
        <p:nvSpPr>
          <p:cNvPr id="27" name="TextBox 26"/>
          <p:cNvSpPr txBox="1"/>
          <p:nvPr/>
        </p:nvSpPr>
        <p:spPr>
          <a:xfrm>
            <a:off x="1371600" y="4754880"/>
            <a:ext cx="9418320" cy="548640"/>
          </a:xfrm>
          <a:prstGeom prst="rect">
            <a:avLst/>
          </a:prstGeom>
          <a:noFill/>
        </p:spPr>
        <p:txBody>
          <a:bodyPr wrap="square" anchor="t" lIns="45720" rIns="45720">
            <a:spAutoFit/>
          </a:bodyPr>
          <a:lstStyle/>
          <a:p>
            <a:pPr algn="ctr">
              <a:spcAft>
                <a:spcPts val="400"/>
              </a:spcAft>
            </a:pPr>
            <a:r>
              <a:rPr sz="1600" b="0">
                <a:solidFill>
                  <a:schemeClr val="accent5"/>
                </a:solidFill>
              </a:rPr>
              <a:t>offline · no API key · saved models · about 5 seconds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Result A: no model beats chance</a:t>
            </a:r>
            <a:endParaRPr lang="en-US" sz="3400" dirty="0"/>
          </a:p>
        </p:txBody>
      </p:sp>
      <p:graphicFrame>
        <p:nvGraphicFramePr>
          <p:cNvPr id="9" name="metrics-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2432304"/>
        </p:xfrm>
        <a:graphic>
          <a:graphicData uri="http://schemas.openxmlformats.org/drawingml/2006/table">
            <a:tbl>
              <a:tblPr/>
              <a:tblGrid>
                <a:gridCol w="3044952"/>
                <a:gridCol w="1325880"/>
                <a:gridCol w="1325880"/>
                <a:gridCol w="1325880"/>
                <a:gridCol w="1325880"/>
                <a:gridCol w="1325880"/>
                <a:gridCol w="1417320"/>
              </a:tblGrid>
              <a:tr h="347472">
                <a:tc>
                  <a:txBody>
                    <a:bodyPr/>
                    <a:lstStyle/>
                    <a:p>
                      <a:pPr algn="l" indent="0" marL="0">
                        <a:buNone/>
                      </a:pPr>
                      <a:r>
                        <a:rPr lang="en-US" sz="1400" b="1" dirty="0">
                          <a:solidFill>
                            <a:schemeClr val="bg1"/>
                          </a:solidFill>
                        </a:rPr>
                        <a:t>Model</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Accuracy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Precision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Recall</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F1 (Won)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ROC-AUC</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Brier</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r>
              <a:tr h="347472">
                <a:tc>
                  <a:txBody>
                    <a:bodyPr/>
                    <a:lstStyle/>
                    <a:p>
                      <a:pPr algn="l" indent="0" marL="0">
                        <a:buNone/>
                      </a:pPr>
                      <a:r>
                        <a:rPr lang="en-US" sz="1400" dirty="0">
                          <a:solidFill>
                            <a:schemeClr val="tx1"/>
                          </a:solidFill>
                        </a:rPr>
                        <a:t>Dummy prior</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1.000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0.750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0.2421</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347472">
                <a:tc>
                  <a:txBody>
                    <a:bodyPr/>
                    <a:lstStyle/>
                    <a:p>
                      <a:pPr algn="l" indent="0" marL="0">
                        <a:buNone/>
                      </a:pPr>
                      <a:r>
                        <a:rPr lang="en-US" sz="1400" b="1" dirty="0">
                          <a:solidFill>
                            <a:schemeClr val="tx1"/>
                          </a:solidFill>
                        </a:rPr>
                        <a:t>Logistic Regression (selected)</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0.426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0.608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0.124</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0.205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0.517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0.3180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r>
              <a:tr h="347472">
                <a:tc>
                  <a:txBody>
                    <a:bodyPr/>
                    <a:lstStyle/>
                    <a:p>
                      <a:pPr algn="l" indent="0" marL="0">
                        <a:buNone/>
                      </a:pPr>
                      <a:r>
                        <a:rPr lang="en-US" sz="1400" dirty="0">
                          <a:solidFill>
                            <a:schemeClr val="tx1"/>
                          </a:solidFill>
                        </a:rPr>
                        <a:t>Random Forest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0.501</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0.591</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0.547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0.568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0.480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0.2537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347472">
                <a:tc>
                  <a:txBody>
                    <a:bodyPr/>
                    <a:lstStyle/>
                    <a:p>
                      <a:pPr algn="l" indent="0" marL="0">
                        <a:buNone/>
                      </a:pPr>
                      <a:r>
                        <a:rPr lang="en-US" sz="1400" dirty="0">
                          <a:solidFill>
                            <a:schemeClr val="tx1"/>
                          </a:solidFill>
                        </a:rPr>
                        <a:t>MLP</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0.516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0.618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0.506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0.556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0.499</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0.2863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347472">
                <a:tc>
                  <a:txBody>
                    <a:bodyPr/>
                    <a:lstStyle/>
                    <a:p>
                      <a:pPr algn="l" indent="0" marL="0">
                        <a:buNone/>
                      </a:pPr>
                      <a:r>
                        <a:rPr lang="en-US" sz="1400" dirty="0">
                          <a:solidFill>
                            <a:schemeClr val="tx1"/>
                          </a:solidFill>
                        </a:rPr>
                        <a:t>TabNet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0.525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0.599</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0.633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0.615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0.502</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0.2411</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347472">
                <a:tc>
                  <a:txBody>
                    <a:bodyPr/>
                    <a:lstStyle/>
                    <a:p>
                      <a:pPr algn="l" indent="0" marL="0">
                        <a:buNone/>
                      </a:pPr>
                      <a:r>
                        <a:rPr lang="en-US" sz="1400" dirty="0">
                          <a:solidFill>
                            <a:schemeClr val="tx1"/>
                          </a:solidFill>
                        </a:rPr>
                        <a:t>CatBoost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0.526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0.596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0.652</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0.623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0.499</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0.2443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343400"/>
            <a:ext cx="3291840" cy="731520"/>
          </a:xfrm>
          <a:prstGeom prst="rect">
            <a:avLst/>
          </a:prstGeom>
          <a:noFill/>
          <a:ln/>
        </p:spPr>
        <p:txBody>
          <a:bodyPr wrap="square" lIns="0" tIns="0" rIns="0" bIns="0" rtlCol="0" anchor="b"/>
          <a:lstStyle/>
          <a:p>
            <a:pPr indent="0" marL="0">
              <a:buNone/>
            </a:pPr>
            <a:r>
              <a:rPr lang="en-US" sz="4000" b="1" dirty="0">
                <a:solidFill>
                  <a:schemeClr val="accent3"/>
                </a:solidFill>
                <a:latin typeface="Cambria" pitchFamily="34" charset="0"/>
                <a:ea typeface="Cambria" pitchFamily="34" charset="-122"/>
                <a:cs typeface="Cambria" pitchFamily="34" charset="-120"/>
              </a:rPr>
              <a:t>0.517</a:t>
            </a:r>
            <a:endParaRPr lang="en-US" sz="4000" dirty="0"/>
          </a:p>
        </p:txBody>
      </p:sp>
      <p:sp>
        <p:nvSpPr>
          <p:cNvPr id="5" name="Text 2"/>
          <p:cNvSpPr txBox="1"/>
          <p:nvPr/>
        </p:nvSpPr>
        <p:spPr>
          <a:xfrm>
            <a:off x="548640" y="5074920"/>
            <a:ext cx="3291840" cy="1097280"/>
          </a:xfrm>
          <a:prstGeom prst="rect">
            <a:avLst/>
          </a:prstGeom>
          <a:noFill/>
          <a:ln/>
        </p:spPr>
        <p:txBody>
          <a:bodyPr wrap="square" lIns="0" tIns="0" rIns="0" bIns="0" rtlCol="0" anchor="t"/>
          <a:lstStyle/>
          <a:p>
            <a:pPr indent="0" marL="0">
              <a:buNone/>
            </a:pPr>
            <a:r>
              <a:rPr lang="en-US" sz="1300" dirty="0">
                <a:solidFill>
                  <a:schemeClr val="accent4"/>
                </a:solidFill>
              </a:rPr>
              <a:t>test ROC-AUC of the selected model (history set). All 12 learned candidates: 0.480–0.542; raw CatBoost 0.542 cannot be chosen after the test</a:t>
            </a:r>
            <a:endParaRPr lang="en-US" sz="1300" dirty="0"/>
          </a:p>
        </p:txBody>
      </p:sp>
      <p:sp>
        <p:nvSpPr>
          <p:cNvPr id="7" name="Text 4"/>
          <p:cNvSpPr txBox="1"/>
          <p:nvPr/>
        </p:nvSpPr>
        <p:spPr>
          <a:xfrm>
            <a:off x="4160520" y="4343400"/>
            <a:ext cx="2834640"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60%</a:t>
            </a:r>
            <a:endParaRPr lang="en-US" sz="4000" dirty="0"/>
          </a:p>
        </p:txBody>
      </p:sp>
      <p:sp>
        <p:nvSpPr>
          <p:cNvPr id="8" name="Text 5"/>
          <p:cNvSpPr txBox="1"/>
          <p:nvPr/>
        </p:nvSpPr>
        <p:spPr>
          <a:xfrm>
            <a:off x="4160520" y="5074920"/>
            <a:ext cx="2834640" cy="1097280"/>
          </a:xfrm>
          <a:prstGeom prst="rect">
            <a:avLst/>
          </a:prstGeom>
          <a:noFill/>
          <a:ln/>
        </p:spPr>
        <p:txBody>
          <a:bodyPr wrap="square" lIns="0" tIns="0" rIns="0" bIns="0" rtlCol="0" anchor="t"/>
          <a:lstStyle/>
          <a:p>
            <a:pPr indent="0" marL="0">
              <a:buNone/>
            </a:pPr>
            <a:r>
              <a:rPr lang="en-US" sz="1300" dirty="0">
                <a:solidFill>
                  <a:schemeClr val="accent4"/>
                </a:solidFill>
              </a:rPr>
              <a:t>accuracy of the Dummy, just by always predicting Won</a:t>
            </a:r>
            <a:endParaRPr lang="en-US" sz="1300" dirty="0"/>
          </a:p>
        </p:txBody>
      </p:sp>
      <p:sp>
        <p:nvSpPr>
          <p:cNvPr id="9" name="Text 6"/>
          <p:cNvSpPr txBox="1"/>
          <p:nvPr/>
        </p:nvSpPr>
        <p:spPr>
          <a:xfrm>
            <a:off x="7315200" y="4343400"/>
            <a:ext cx="4325112" cy="731520"/>
          </a:xfrm>
          <a:prstGeom prst="rect">
            <a:avLst/>
          </a:prstGeom>
          <a:noFill/>
          <a:ln/>
        </p:spPr>
        <p:txBody>
          <a:bodyPr wrap="square" lIns="0" tIns="0" rIns="0" bIns="0" rtlCol="0" anchor="b"/>
          <a:lstStyle/>
          <a:p>
            <a:pPr indent="0" marL="0">
              <a:buNone/>
            </a:pPr>
            <a:r>
              <a:rPr lang="en-US" sz="4000" b="1" dirty="0">
                <a:solidFill>
                  <a:schemeClr val="accent4"/>
                </a:solidFill>
                <a:latin typeface="Cambria" pitchFamily="34" charset="0"/>
                <a:ea typeface="Cambria" pitchFamily="34" charset="-122"/>
                <a:cs typeface="Cambria" pitchFamily="34" charset="-120"/>
              </a:rPr>
              <a:t>0.3180 → 0.2489</a:t>
            </a:r>
            <a:endParaRPr lang="en-US" sz="4000" dirty="0"/>
          </a:p>
        </p:txBody>
      </p:sp>
      <p:sp>
        <p:nvSpPr>
          <p:cNvPr id="10" name="Text 7"/>
          <p:cNvSpPr txBox="1"/>
          <p:nvPr/>
        </p:nvSpPr>
        <p:spPr>
          <a:xfrm>
            <a:off x="7315200" y="5074920"/>
            <a:ext cx="4325112" cy="1097280"/>
          </a:xfrm>
          <a:prstGeom prst="rect">
            <a:avLst/>
          </a:prstGeom>
          <a:noFill/>
          <a:ln/>
        </p:spPr>
        <p:txBody>
          <a:bodyPr wrap="square" lIns="0" tIns="0" rIns="0" bIns="0" rtlCol="0" anchor="t"/>
          <a:lstStyle/>
          <a:p>
            <a:pPr indent="0" marL="0">
              <a:buNone/>
            </a:pPr>
            <a:r>
              <a:rPr lang="en-US" sz="1300" dirty="0">
                <a:solidFill>
                  <a:schemeClr val="accent4"/>
                </a:solidFill>
              </a:rPr>
              <a:t>LR Brier after sigmoid calibration, still worse than the Dummy's 0.2421; calibration fixes the probability scale, not the ranking</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
        <p:nvSpPr>
          <p:cNvPr id="26" name="TextBox 25"/>
          <p:cNvSpPr txBox="1"/>
          <p:nvPr/>
        </p:nvSpPr>
        <p:spPr>
          <a:xfrm>
            <a:off x="548640" y="3886200"/>
            <a:ext cx="11091672" cy="365760"/>
          </a:xfrm>
          <a:prstGeom prst="rect">
            <a:avLst/>
          </a:prstGeom>
          <a:noFill/>
        </p:spPr>
        <p:txBody>
          <a:bodyPr wrap="square" anchor="t" lIns="45720" rIns="45720">
            <a:spAutoFit/>
          </a:bodyPr>
          <a:lstStyle/>
          <a:p>
            <a:pPr algn="l">
              <a:spcAft>
                <a:spcPts val="400"/>
              </a:spcAft>
            </a:pPr>
            <a:r>
              <a:rPr sz="1100" b="0">
                <a:solidFill>
                  <a:schemeClr val="accent4"/>
                </a:solidFill>
              </a:rPr>
              <a:t>Shown: the selected history feature set. Raw feature set and all 12 pairs: metrics/feature_set_comparison.csv</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Scoring open deals, and why each score</a:t>
            </a:r>
            <a:endParaRPr lang="en-US" sz="3400" dirty="0"/>
          </a:p>
        </p:txBody>
      </p:sp>
      <p:sp>
        <p:nvSpPr>
          <p:cNvPr id="3" name="Text 1"/>
          <p:cNvSpPr txBox="1"/>
          <p:nvPr/>
        </p:nvSpPr>
        <p:spPr>
          <a:xfrm>
            <a:off x="548640" y="1371600"/>
            <a:ext cx="310896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1,589</a:t>
            </a:r>
            <a:endParaRPr lang="en-US" sz="4400" dirty="0"/>
          </a:p>
        </p:txBody>
      </p:sp>
      <p:sp>
        <p:nvSpPr>
          <p:cNvPr id="4" name="Text 2"/>
          <p:cNvSpPr txBox="1"/>
          <p:nvPr/>
        </p:nvSpPr>
        <p:spPr>
          <a:xfrm>
            <a:off x="548640" y="2148840"/>
            <a:ext cx="3108960" cy="548640"/>
          </a:xfrm>
          <a:prstGeom prst="rect">
            <a:avLst/>
          </a:prstGeom>
          <a:noFill/>
          <a:ln/>
        </p:spPr>
        <p:txBody>
          <a:bodyPr wrap="square" lIns="0" tIns="0" rIns="0" bIns="0" rtlCol="0" anchor="t"/>
          <a:lstStyle/>
          <a:p>
            <a:pPr indent="0" marL="0">
              <a:buNone/>
            </a:pPr>
            <a:r>
              <a:rPr lang="en-US" sz="1300" dirty="0">
                <a:solidFill>
                  <a:schemeClr val="accent4"/>
                </a:solidFill>
              </a:rPr>
              <a:t>Engaging deals scored</a:t>
            </a:r>
            <a:endParaRPr lang="en-US" sz="1300" dirty="0"/>
          </a:p>
        </p:txBody>
      </p:sp>
      <p:sp>
        <p:nvSpPr>
          <p:cNvPr id="5" name="Text 3"/>
          <p:cNvSpPr txBox="1"/>
          <p:nvPr/>
        </p:nvSpPr>
        <p:spPr>
          <a:xfrm>
            <a:off x="548640" y="2788920"/>
            <a:ext cx="3108960" cy="731520"/>
          </a:xfrm>
          <a:prstGeom prst="rect">
            <a:avLst/>
          </a:prstGeom>
          <a:noFill/>
          <a:ln/>
        </p:spPr>
        <p:txBody>
          <a:bodyPr wrap="square" lIns="0" tIns="0" rIns="0" bIns="0" rtlCol="0" anchor="b"/>
          <a:lstStyle/>
          <a:p>
            <a:pPr indent="0" marL="0">
              <a:buNone/>
            </a:pPr>
            <a:r>
              <a:rPr lang="en-US" sz="4400" b="1" dirty="0">
                <a:solidFill>
                  <a:schemeClr val="accent3"/>
                </a:solidFill>
                <a:latin typeface="Cambria" pitchFamily="34" charset="0"/>
                <a:ea typeface="Cambria" pitchFamily="34" charset="-122"/>
                <a:cs typeface="Cambria" pitchFamily="34" charset="-120"/>
              </a:rPr>
              <a:t>1,088</a:t>
            </a:r>
            <a:endParaRPr lang="en-US" sz="4400" dirty="0"/>
          </a:p>
        </p:txBody>
      </p:sp>
      <p:sp>
        <p:nvSpPr>
          <p:cNvPr id="6" name="Text 4"/>
          <p:cNvSpPr txBox="1"/>
          <p:nvPr/>
        </p:nvSpPr>
        <p:spPr>
          <a:xfrm>
            <a:off x="548640" y="3566160"/>
            <a:ext cx="3108960" cy="548640"/>
          </a:xfrm>
          <a:prstGeom prst="rect">
            <a:avLst/>
          </a:prstGeom>
          <a:noFill/>
          <a:ln/>
        </p:spPr>
        <p:txBody>
          <a:bodyPr wrap="square" lIns="0" tIns="0" rIns="0" bIns="0" rtlCol="0" anchor="t"/>
          <a:lstStyle/>
          <a:p>
            <a:pPr indent="0" marL="0">
              <a:buNone/>
            </a:pPr>
            <a:r>
              <a:rPr lang="en-US" sz="1300" dirty="0">
                <a:solidFill>
                  <a:schemeClr val="accent4"/>
                </a:solidFill>
              </a:rPr>
              <a:t>flagged: account missing, so the score is less reliable</a:t>
            </a:r>
            <a:endParaRPr lang="en-US" sz="1300" dirty="0"/>
          </a:p>
        </p:txBody>
      </p:sp>
      <p:sp>
        <p:nvSpPr>
          <p:cNvPr id="7" name="Text 5"/>
          <p:cNvSpPr txBox="1"/>
          <p:nvPr/>
        </p:nvSpPr>
        <p:spPr>
          <a:xfrm>
            <a:off x="548640" y="4206240"/>
            <a:ext cx="32918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712 / 876 / 1</a:t>
            </a:r>
            <a:endParaRPr lang="en-US" sz="3600" dirty="0"/>
          </a:p>
        </p:txBody>
      </p:sp>
      <p:sp>
        <p:nvSpPr>
          <p:cNvPr id="8" name="Text 6"/>
          <p:cNvSpPr txBox="1"/>
          <p:nvPr/>
        </p:nvSpPr>
        <p:spPr>
          <a:xfrm>
            <a:off x="548640" y="4983480"/>
            <a:ext cx="3291840" cy="548640"/>
          </a:xfrm>
          <a:prstGeom prst="rect">
            <a:avLst/>
          </a:prstGeom>
          <a:noFill/>
          <a:ln/>
        </p:spPr>
        <p:txBody>
          <a:bodyPr wrap="square" lIns="0" tIns="0" rIns="0" bIns="0" rtlCol="0" anchor="t"/>
          <a:lstStyle/>
          <a:p>
            <a:pPr indent="0" marL="0">
              <a:buNone/>
            </a:pPr>
            <a:r>
              <a:rPr lang="en-US" sz="1300" dirty="0">
                <a:solidFill>
                  <a:schemeClr val="accent4"/>
                </a:solidFill>
              </a:rPr>
              <a:t>High / Medium / Low priority (heuristic bands 0.70 and 0.40)</a:t>
            </a:r>
            <a:endParaRPr lang="en-US" sz="1300" dirty="0"/>
          </a:p>
        </p:txBody>
      </p:sp>
      <p:sp>
        <p:nvSpPr>
          <p:cNvPr id="9" name="deal-card"/>
          <p:cNvSpPr/>
          <p:nvPr/>
        </p:nvSpPr>
        <p:spPr>
          <a:xfrm>
            <a:off x="4480560" y="1417320"/>
            <a:ext cx="7132320" cy="3429000"/>
          </a:xfrm>
          <a:prstGeom prst="roundRect">
            <a:avLst>
              <a:gd name="adj" fmla="val 2564"/>
            </a:avLst>
          </a:prstGeom>
          <a:solidFill>
            <a:schemeClr val="bg1"/>
          </a:solidFill>
          <a:ln w="12700">
            <a:solidFill>
              <a:srgbClr val="DCE5E3"/>
            </a:solidFill>
            <a:prstDash val="solid"/>
          </a:ln>
          <a:effectLst>
            <a:outerShdw sx="100000" sy="100000" kx="0" ky="0" algn="bl" rotWithShape="0" blurRad="101600" dist="25400" dir="5400000">
              <a:srgbClr val="16232E">
                <a:alpha val="12000"/>
              </a:srgbClr>
            </a:outerShdw>
          </a:effectLst>
        </p:spPr>
        <p:txBody>
          <a:bodyPr/>
          <a:p/>
        </p:txBody>
      </p:sp>
      <p:sp>
        <p:nvSpPr>
          <p:cNvPr id="10" name="icon-bg-tag"/>
          <p:cNvSpPr/>
          <p:nvPr/>
        </p:nvSpPr>
        <p:spPr>
          <a:xfrm>
            <a:off x="4800600" y="1737360"/>
            <a:ext cx="548640" cy="548640"/>
          </a:xfrm>
          <a:prstGeom prst="ellipse">
            <a:avLst/>
          </a:prstGeom>
          <a:solidFill>
            <a:schemeClr val="accent1"/>
          </a:solidFill>
          <a:ln/>
        </p:spPr>
        <p:txBody>
          <a:bodyPr/>
          <a:p/>
        </p:txBody>
      </p:sp>
      <p:pic>
        <p:nvPicPr>
          <p:cNvPr id="11" name="icon-tag" descr="preencoded.png">    </p:cNvPr>
          <p:cNvPicPr>
            <a:picLocks noChangeAspect="1"/>
          </p:cNvPicPr>
          <p:nvPr/>
        </p:nvPicPr>
        <p:blipFill>
          <a:blip r:embed="rId1"/>
          <a:stretch>
            <a:fillRect/>
          </a:stretch>
        </p:blipFill>
        <p:spPr>
          <a:xfrm>
            <a:off x="4937760" y="1874520"/>
            <a:ext cx="274320" cy="274320"/>
          </a:xfrm>
          <a:prstGeom prst="rect">
            <a:avLst/>
          </a:prstGeom>
        </p:spPr>
      </p:pic>
      <p:sp>
        <p:nvSpPr>
          <p:cNvPr id="12" name="Text 9"/>
          <p:cNvSpPr txBox="1"/>
          <p:nvPr/>
        </p:nvSpPr>
        <p:spPr>
          <a:xfrm>
            <a:off x="5532120" y="1709928"/>
            <a:ext cx="3840480" cy="365760"/>
          </a:xfrm>
          <a:prstGeom prst="rect">
            <a:avLst/>
          </a:prstGeom>
          <a:noFill/>
          <a:ln/>
        </p:spPr>
        <p:txBody>
          <a:bodyPr wrap="square" lIns="0" tIns="0" rIns="0" bIns="0" rtlCol="0" anchor="t"/>
          <a:lstStyle/>
          <a:p>
            <a:pPr indent="0" marL="0">
              <a:buNone/>
            </a:pPr>
            <a:r>
              <a:rPr lang="en-US" sz="2000" b="1" dirty="0">
                <a:solidFill>
                  <a:schemeClr val="tx2"/>
                </a:solidFill>
              </a:rPr>
              <a:t>Deal 125VIRMX</a:t>
            </a:r>
            <a:endParaRPr lang="en-US" sz="2000" dirty="0"/>
          </a:p>
        </p:txBody>
      </p:sp>
      <p:sp>
        <p:nvSpPr>
          <p:cNvPr id="13" name="Text 10"/>
          <p:cNvSpPr txBox="1"/>
          <p:nvPr/>
        </p:nvSpPr>
        <p:spPr>
          <a:xfrm>
            <a:off x="5532120" y="2075688"/>
            <a:ext cx="4206240" cy="320040"/>
          </a:xfrm>
          <a:prstGeom prst="rect">
            <a:avLst/>
          </a:prstGeom>
          <a:noFill/>
          <a:ln/>
        </p:spPr>
        <p:txBody>
          <a:bodyPr wrap="square" lIns="0" tIns="0" rIns="0" bIns="0" rtlCol="0" anchor="t"/>
          <a:lstStyle/>
          <a:p>
            <a:pPr indent="0" marL="0">
              <a:buNone/>
            </a:pPr>
            <a:r>
              <a:rPr lang="en-US" sz="1300" dirty="0">
                <a:solidFill>
                  <a:schemeClr val="accent4"/>
                </a:solidFill>
              </a:rPr>
              <a:t>Warephase · GTK 500 · Elease Gluck</a:t>
            </a:r>
            <a:endParaRPr lang="en-US" sz="1300" dirty="0"/>
          </a:p>
        </p:txBody>
      </p:sp>
      <p:sp>
        <p:nvSpPr>
          <p:cNvPr id="14" name="Text 11"/>
          <p:cNvSpPr txBox="1"/>
          <p:nvPr/>
        </p:nvSpPr>
        <p:spPr>
          <a:xfrm>
            <a:off x="9692640" y="1645920"/>
            <a:ext cx="1645920" cy="640080"/>
          </a:xfrm>
          <a:prstGeom prst="rect">
            <a:avLst/>
          </a:prstGeom>
          <a:noFill/>
          <a:ln/>
        </p:spPr>
        <p:txBody>
          <a:bodyPr wrap="square" lIns="0" tIns="0" rIns="0" bIns="0" rtlCol="0" anchor="t"/>
          <a:lstStyle/>
          <a:p>
            <a:pPr algn="r" indent="0" marL="0">
              <a:buNone/>
            </a:pPr>
            <a:r>
              <a:rPr lang="en-US" sz="4000" b="1" dirty="0">
                <a:solidFill>
                  <a:schemeClr val="accent1"/>
                </a:solidFill>
                <a:latin typeface="Cambria" pitchFamily="34" charset="0"/>
                <a:ea typeface="Cambria" pitchFamily="34" charset="-122"/>
                <a:cs typeface="Cambria" pitchFamily="34" charset="-120"/>
              </a:rPr>
              <a:t>98%</a:t>
            </a:r>
            <a:endParaRPr lang="en-US" sz="4000" dirty="0"/>
          </a:p>
        </p:txBody>
      </p:sp>
      <p:sp>
        <p:nvSpPr>
          <p:cNvPr id="15" name="Text 12"/>
          <p:cNvSpPr txBox="1"/>
          <p:nvPr/>
        </p:nvSpPr>
        <p:spPr>
          <a:xfrm>
            <a:off x="9235440" y="2286000"/>
            <a:ext cx="2103120" cy="274320"/>
          </a:xfrm>
          <a:prstGeom prst="rect">
            <a:avLst/>
          </a:prstGeom>
          <a:noFill/>
          <a:ln/>
        </p:spPr>
        <p:txBody>
          <a:bodyPr wrap="square" lIns="0" tIns="0" rIns="0" bIns="0" rtlCol="0" anchor="t"/>
          <a:lstStyle/>
          <a:p>
            <a:pPr algn="r" indent="0" marL="0">
              <a:buNone/>
            </a:pPr>
            <a:r>
              <a:rPr lang="en-US" sz="1200" dirty="0">
                <a:solidFill>
                  <a:schemeClr val="accent4"/>
                </a:solidFill>
              </a:rPr>
              <a:t>P(Won) · High priority</a:t>
            </a:r>
            <a:endParaRPr lang="en-US" sz="1200" dirty="0"/>
          </a:p>
        </p:txBody>
      </p:sp>
      <p:sp>
        <p:nvSpPr>
          <p:cNvPr id="16" name="Text 13"/>
          <p:cNvSpPr txBox="1"/>
          <p:nvPr/>
        </p:nvSpPr>
        <p:spPr>
          <a:xfrm>
            <a:off x="4800600" y="2880360"/>
            <a:ext cx="3108960" cy="320040"/>
          </a:xfrm>
          <a:prstGeom prst="rect">
            <a:avLst/>
          </a:prstGeom>
          <a:noFill/>
          <a:ln/>
        </p:spPr>
        <p:txBody>
          <a:bodyPr wrap="square" lIns="0" tIns="0" rIns="0" bIns="0" rtlCol="0" anchor="t"/>
          <a:lstStyle/>
          <a:p>
            <a:pPr indent="0" marL="0">
              <a:buNone/>
            </a:pPr>
            <a:r>
              <a:rPr lang="en-US" sz="1500" b="1" dirty="0">
                <a:solidFill>
                  <a:schemeClr val="accent1"/>
                </a:solidFill>
              </a:rPr>
              <a:t>Raises the score</a:t>
            </a:r>
            <a:endParaRPr lang="en-US" sz="1500" dirty="0"/>
          </a:p>
        </p:txBody>
      </p:sp>
      <p:sp>
        <p:nvSpPr>
          <p:cNvPr id="17" name="Text 14"/>
          <p:cNvSpPr txBox="1"/>
          <p:nvPr/>
        </p:nvSpPr>
        <p:spPr>
          <a:xfrm>
            <a:off x="4800600" y="3246120"/>
            <a:ext cx="3200400" cy="219456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chemeClr val="tx1"/>
                </a:solidFill>
              </a:rPr>
              <a:t>engage_year = 2016: +0.139</a:t>
            </a:r>
            <a:endParaRPr lang="en-US" sz="1500" dirty="0"/>
          </a:p>
          <a:p>
            <a:pPr marL="203200" indent="-203200">
              <a:spcAft>
                <a:spcPts val="800"/>
              </a:spcAft>
              <a:buSzPct val="100000"/>
              <a:buChar char="•"/>
            </a:pPr>
            <a:r>
              <a:rPr lang="en-US" sz="1300" dirty="0">
                <a:solidFill>
                  <a:schemeClr val="tx1"/>
                </a:solidFill>
              </a:rPr>
              <a:t>sales_price = 26768: +0.079</a:t>
            </a:r>
          </a:p>
          <a:p>
            <a:pPr marL="203200" indent="-203200">
              <a:spcAft>
                <a:spcPts val="800"/>
              </a:spcAft>
              <a:buSzPct val="100000"/>
              <a:buChar char="•"/>
            </a:pPr>
            <a:r>
              <a:rPr lang="en-US" sz="1300" dirty="0">
                <a:solidFill>
                  <a:schemeClr val="tx1"/>
                </a:solidFill>
              </a:rPr>
              <a:t>global_win_rate = 0.5: +0.075</a:t>
            </a:r>
          </a:p>
        </p:txBody>
      </p:sp>
      <p:sp>
        <p:nvSpPr>
          <p:cNvPr id="18" name="Text 15"/>
          <p:cNvSpPr txBox="1"/>
          <p:nvPr/>
        </p:nvSpPr>
        <p:spPr>
          <a:xfrm>
            <a:off x="8138160" y="2880360"/>
            <a:ext cx="3108960" cy="320040"/>
          </a:xfrm>
          <a:prstGeom prst="rect">
            <a:avLst/>
          </a:prstGeom>
          <a:noFill/>
          <a:ln/>
        </p:spPr>
        <p:txBody>
          <a:bodyPr wrap="square" lIns="0" tIns="0" rIns="0" bIns="0" rtlCol="0" anchor="t"/>
          <a:lstStyle/>
          <a:p>
            <a:pPr indent="0" marL="0">
              <a:buNone/>
            </a:pPr>
            <a:r>
              <a:rPr lang="en-US" sz="1500" b="1" dirty="0">
                <a:solidFill>
                  <a:schemeClr val="accent3"/>
                </a:solidFill>
              </a:rPr>
              <a:t>Lowers the score</a:t>
            </a:r>
            <a:endParaRPr lang="en-US" sz="1500" dirty="0"/>
          </a:p>
        </p:txBody>
      </p:sp>
      <p:sp>
        <p:nvSpPr>
          <p:cNvPr id="19" name="Text 16"/>
          <p:cNvSpPr txBox="1"/>
          <p:nvPr/>
        </p:nvSpPr>
        <p:spPr>
          <a:xfrm>
            <a:off x="8138160" y="3246120"/>
            <a:ext cx="3200400" cy="219456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chemeClr val="tx1"/>
                </a:solidFill>
              </a:rPr>
              <a:t>global_mean_cycle_days = 0: -0.023</a:t>
            </a:r>
            <a:endParaRPr lang="en-US" sz="1500" dirty="0"/>
          </a:p>
          <a:p>
            <a:pPr marL="203200" indent="-203200">
              <a:spcAft>
                <a:spcPts val="800"/>
              </a:spcAft>
              <a:buSzPct val="100000"/>
              <a:buChar char="•"/>
            </a:pPr>
            <a:r>
              <a:rPr lang="en-US" sz="1300" dirty="0">
                <a:solidFill>
                  <a:schemeClr val="tx1"/>
                </a:solidFill>
              </a:rPr>
              <a:t>product_cold_start = 1: -0.015</a:t>
            </a:r>
          </a:p>
          <a:p>
            <a:pPr marL="203200" indent="-203200">
              <a:spcAft>
                <a:spcPts val="800"/>
              </a:spcAft>
              <a:buSzPct val="100000"/>
              <a:buChar char="•"/>
            </a:pPr>
            <a:r>
              <a:rPr lang="en-US" sz="1300" dirty="0">
                <a:solidFill>
                  <a:schemeClr val="tx1"/>
                </a:solidFill>
              </a:rPr>
              <a:t>engage_quarter = 4: -0.015</a:t>
            </a:r>
          </a:p>
        </p:txBody>
      </p:sp>
      <p:sp>
        <p:nvSpPr>
          <p:cNvPr id="20" name="Text 17"/>
          <p:cNvSpPr txBox="1"/>
          <p:nvPr/>
        </p:nvSpPr>
        <p:spPr>
          <a:xfrm>
            <a:off x="4800600" y="4480560"/>
            <a:ext cx="6492240" cy="320040"/>
          </a:xfrm>
          <a:prstGeom prst="rect">
            <a:avLst/>
          </a:prstGeom>
          <a:noFill/>
          <a:ln/>
        </p:spPr>
        <p:txBody>
          <a:bodyPr wrap="square" lIns="0" tIns="0" rIns="0" bIns="0" rtlCol="0" anchor="t"/>
          <a:lstStyle/>
          <a:p>
            <a:pPr indent="0" marL="0">
              <a:buNone/>
            </a:pPr>
            <a:r>
              <a:rPr lang="en-US" sz="1100" i="1" dirty="0">
                <a:solidFill>
                  <a:schemeClr val="accent4"/>
                </a:solidFill>
              </a:rPr>
              <a:t>Values are changes in P(Won) when that input is reset to the training reference.</a:t>
            </a:r>
            <a:endParaRPr lang="en-US" sz="1100" dirty="0"/>
          </a:p>
        </p:txBody>
      </p:sp>
      <p:sp>
        <p:nvSpPr>
          <p:cNvPr id="21" name="icon-bg-warn"/>
          <p:cNvSpPr/>
          <p:nvPr/>
        </p:nvSpPr>
        <p:spPr>
          <a:xfrm>
            <a:off x="4480560" y="5687568"/>
            <a:ext cx="457200" cy="457200"/>
          </a:xfrm>
          <a:prstGeom prst="ellipse">
            <a:avLst/>
          </a:prstGeom>
          <a:solidFill>
            <a:schemeClr val="accent2"/>
          </a:solidFill>
          <a:ln/>
        </p:spPr>
        <p:txBody>
          <a:bodyPr/>
          <a:p/>
        </p:txBody>
      </p:sp>
      <p:pic>
        <p:nvPicPr>
          <p:cNvPr id="22" name="icon-warn" descr="preencoded.png">    </p:cNvPr>
          <p:cNvPicPr>
            <a:picLocks noChangeAspect="1"/>
          </p:cNvPicPr>
          <p:nvPr/>
        </p:nvPicPr>
        <p:blipFill>
          <a:blip r:embed="rId2"/>
          <a:stretch>
            <a:fillRect/>
          </a:stretch>
        </p:blipFill>
        <p:spPr>
          <a:xfrm>
            <a:off x="4599432" y="5806440"/>
            <a:ext cx="228600" cy="228600"/>
          </a:xfrm>
          <a:prstGeom prst="rect">
            <a:avLst/>
          </a:prstGeom>
        </p:spPr>
      </p:pic>
      <p:sp>
        <p:nvSpPr>
          <p:cNvPr id="23" name="Text 19"/>
          <p:cNvSpPr txBox="1"/>
          <p:nvPr/>
        </p:nvSpPr>
        <p:spPr>
          <a:xfrm>
            <a:off x="5120640" y="5623560"/>
            <a:ext cx="6492240" cy="566928"/>
          </a:xfrm>
          <a:prstGeom prst="rect">
            <a:avLst/>
          </a:prstGeom>
          <a:noFill/>
          <a:ln/>
        </p:spPr>
        <p:txBody>
          <a:bodyPr wrap="square" lIns="0" tIns="0" rIns="0" bIns="0" rtlCol="0" anchor="ctr"/>
          <a:lstStyle/>
          <a:p>
            <a:pPr indent="0" marL="0">
              <a:buNone/>
            </a:pPr>
            <a:r>
              <a:rPr lang="en-US" sz="1300" dirty="0">
                <a:solidFill>
                  <a:schemeClr val="tx1"/>
                </a:solidFill>
              </a:rPr>
              <a:t>Priority bands are a heuristic, not a validated sales policy. Scores come from a frozen model snapshot, not historical as-of predictions.</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
        <p:nvSpPr>
          <p:cNvPr id="26" name="icon-bg-check"/>
          <p:cNvSpPr/>
          <p:nvPr/>
        </p:nvSpPr>
        <p:spPr>
          <a:xfrm>
            <a:off x="4480560" y="5047488"/>
            <a:ext cx="457200" cy="457200"/>
          </a:xfrm>
          <a:prstGeom prst="ellipse">
            <a:avLst/>
          </a:prstGeom>
          <a:solidFill>
            <a:schemeClr val="accent1"/>
          </a:solidFill>
          <a:ln/>
        </p:spPr>
        <p:txBody>
          <a:bodyPr/>
          <a:p/>
        </p:txBody>
      </p:sp>
      <p:pic>
        <p:nvPicPr>
          <p:cNvPr id="27" name="icon-check" descr="preencoded.png">    </p:cNvPr>
          <p:cNvPicPr>
            <a:picLocks noChangeAspect="1"/>
          </p:cNvPicPr>
          <p:nvPr/>
        </p:nvPicPr>
        <p:blipFill>
          <a:blip r:embed="rId5"/>
          <a:stretch>
            <a:fillRect/>
          </a:stretch>
        </p:blipFill>
        <p:spPr>
          <a:xfrm>
            <a:off x="4599432" y="5166360"/>
            <a:ext cx="228600" cy="228600"/>
          </a:xfrm>
          <a:prstGeom prst="rect">
            <a:avLst/>
          </a:prstGeom>
        </p:spPr>
      </p:pic>
      <p:sp>
        <p:nvSpPr>
          <p:cNvPr id="28" name="check-text"/>
          <p:cNvSpPr txBox="1"/>
          <p:nvPr/>
        </p:nvSpPr>
        <p:spPr>
          <a:xfrm>
            <a:off x="5120640" y="4983480"/>
            <a:ext cx="6492240" cy="566928"/>
          </a:xfrm>
          <a:prstGeom prst="rect">
            <a:avLst/>
          </a:prstGeom>
          <a:noFill/>
          <a:ln/>
        </p:spPr>
        <p:txBody>
          <a:bodyPr wrap="square" lIns="0" tIns="0" rIns="0" bIns="0" rtlCol="0" anchor="ctr"/>
          <a:lstStyle/>
          <a:p>
            <a:pPr indent="0" marL="0">
              <a:buNone/>
            </a:pPr>
            <a:r>
              <a:rPr lang="en-US" sz="1300" dirty="0">
                <a:solidFill>
                  <a:schemeClr val="tx1"/>
                </a:solidFill>
              </a:rPr>
              <a:t>Checked: factors agree with RF TreeSHAP (median Spearman 0.54); resetting the top 3 moves P(Won) 6.3× more than random. Associations, not causes.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Result B: nonlinear models near the oracle</a:t>
            </a:r>
            <a:endParaRPr lang="en-US" sz="3400" dirty="0"/>
          </a:p>
        </p:txBody>
      </p:sp>
      <p:graphicFrame>
        <p:nvGraphicFramePr>
          <p:cNvPr id="3" name="auc-chart-b" descr=""/>
          <p:cNvGraphicFramePr/>
          <p:nvPr/>
        </p:nvGraphicFramePr>
        <p:xfrm>
          <a:off x="548640" y="13258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909560" y="1417320"/>
            <a:ext cx="374904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0.869</a:t>
            </a:r>
            <a:endParaRPr lang="en-US" sz="4400" dirty="0"/>
          </a:p>
        </p:txBody>
      </p:sp>
      <p:sp>
        <p:nvSpPr>
          <p:cNvPr id="5" name="Text 2"/>
          <p:cNvSpPr txBox="1"/>
          <p:nvPr/>
        </p:nvSpPr>
        <p:spPr>
          <a:xfrm>
            <a:off x="7909560" y="2194560"/>
            <a:ext cx="3749040" cy="548640"/>
          </a:xfrm>
          <a:prstGeom prst="rect">
            <a:avLst/>
          </a:prstGeom>
          <a:noFill/>
          <a:ln/>
        </p:spPr>
        <p:txBody>
          <a:bodyPr wrap="square" lIns="0" tIns="0" rIns="0" bIns="0" rtlCol="0" anchor="t"/>
          <a:lstStyle/>
          <a:p>
            <a:pPr indent="0" marL="0">
              <a:buNone/>
            </a:pPr>
            <a:r>
              <a:rPr lang="en-US" sz="1300" dirty="0">
                <a:solidFill>
                  <a:schemeClr val="accent4"/>
                </a:solidFill>
              </a:rPr>
              <a:t>TabNet, vs oracle 0.878</a:t>
            </a:r>
            <a:endParaRPr lang="en-US" sz="1300" dirty="0"/>
          </a:p>
        </p:txBody>
      </p:sp>
      <p:sp>
        <p:nvSpPr>
          <p:cNvPr id="6" name="Text 3"/>
          <p:cNvSpPr txBox="1"/>
          <p:nvPr/>
        </p:nvSpPr>
        <p:spPr>
          <a:xfrm>
            <a:off x="7909560" y="2880360"/>
            <a:ext cx="3749040" cy="822960"/>
          </a:xfrm>
          <a:prstGeom prst="rect">
            <a:avLst/>
          </a:prstGeom>
          <a:noFill/>
          <a:ln/>
        </p:spPr>
        <p:txBody>
          <a:bodyPr wrap="square" lIns="0" tIns="0" rIns="0" bIns="0" rtlCol="0" anchor="t"/>
          <a:lstStyle/>
          <a:p>
            <a:pPr indent="0" marL="0">
              <a:buNone/>
            </a:pPr>
            <a:r>
              <a:rPr lang="en-US" sz="1500" dirty="0">
                <a:solidFill>
                  <a:schemeClr val="tx1"/>
                </a:solidFill>
              </a:rPr>
              <a:t>Logistic Regression trails because it cannot represent the planted interactions.</a:t>
            </a:r>
            <a:endParaRPr lang="en-US" sz="1500" dirty="0"/>
          </a:p>
        </p:txBody>
      </p:sp>
      <p:sp>
        <p:nvSpPr>
          <p:cNvPr id="7" name="seed-card"/>
          <p:cNvSpPr/>
          <p:nvPr/>
        </p:nvSpPr>
        <p:spPr>
          <a:xfrm>
            <a:off x="7909560" y="3840480"/>
            <a:ext cx="3749040" cy="2011680"/>
          </a:xfrm>
          <a:prstGeom prst="roundRect">
            <a:avLst>
              <a:gd name="adj" fmla="val 3636"/>
            </a:avLst>
          </a:prstGeom>
          <a:solidFill>
            <a:schemeClr val="bg2"/>
          </a:solidFill>
          <a:ln/>
        </p:spPr>
        <p:txBody>
          <a:bodyPr/>
          <a:p/>
        </p:txBody>
      </p:sp>
      <p:sp>
        <p:nvSpPr>
          <p:cNvPr id="8" name="Text 5"/>
          <p:cNvSpPr txBox="1"/>
          <p:nvPr/>
        </p:nvSpPr>
        <p:spPr>
          <a:xfrm>
            <a:off x="8092440" y="3959352"/>
            <a:ext cx="3474720" cy="320040"/>
          </a:xfrm>
          <a:prstGeom prst="rect">
            <a:avLst/>
          </a:prstGeom>
          <a:noFill/>
          <a:ln/>
        </p:spPr>
        <p:txBody>
          <a:bodyPr wrap="square" lIns="0" tIns="0" rIns="0" bIns="0" rtlCol="0" anchor="t"/>
          <a:lstStyle/>
          <a:p>
            <a:pPr indent="0" marL="0">
              <a:buNone/>
            </a:pPr>
            <a:r>
              <a:rPr lang="en-US" sz="1300" b="1" dirty="0">
                <a:solidFill>
                  <a:schemeClr val="tx2"/>
                </a:solidFill>
              </a:rPr>
              <a:t>Five regenerated datasets (k = 3)</a:t>
            </a:r>
            <a:endParaRPr lang="en-US" sz="1300" dirty="0"/>
          </a:p>
        </p:txBody>
      </p:sp>
      <p:sp>
        <p:nvSpPr>
          <p:cNvPr id="9" name="Text 6"/>
          <p:cNvSpPr txBox="1"/>
          <p:nvPr/>
        </p:nvSpPr>
        <p:spPr>
          <a:xfrm>
            <a:off x="8092440" y="4343400"/>
            <a:ext cx="3474720" cy="1645920"/>
          </a:xfrm>
          <a:prstGeom prst="rect">
            <a:avLst/>
          </a:prstGeom>
          <a:noFill/>
          <a:ln/>
        </p:spPr>
        <p:txBody>
          <a:bodyPr wrap="square" lIns="0" tIns="0" rIns="0" bIns="0" rtlCol="0" anchor="t"/>
          <a:lstStyle/>
          <a:p>
            <a:pPr indent="0" marL="0">
              <a:spcAft>
                <a:spcPts val="300"/>
              </a:spcAft>
              <a:buNone/>
            </a:pPr>
            <a:r>
              <a:rPr lang="en-US" sz="1300" dirty="0">
                <a:solidFill>
                  <a:schemeClr val="tx1"/>
                </a:solidFill>
              </a:rPr>
              <a:t>TabNet: 0.875 ± 0.008</a:t>
            </a:r>
            <a:endParaRPr lang="en-US" sz="1500" dirty="0"/>
          </a:p>
          <a:p>
            <a:pPr indent="0" marL="0">
              <a:spcAft>
                <a:spcPts val="300"/>
              </a:spcAft>
              <a:buNone/>
            </a:pPr>
            <a:r>
              <a:rPr lang="en-US" sz="1300" dirty="0">
                <a:solidFill>
                  <a:schemeClr val="tx1"/>
                </a:solidFill>
              </a:rPr>
              <a:t>MLP: 0.873 ± 0.008</a:t>
            </a:r>
            <a:endParaRPr lang="en-US" sz="1500" dirty="0"/>
          </a:p>
          <a:p>
            <a:pPr indent="0" marL="0">
              <a:spcAft>
                <a:spcPts val="300"/>
              </a:spcAft>
              <a:buNone/>
            </a:pPr>
            <a:r>
              <a:rPr lang="en-US" sz="1300" dirty="0">
                <a:solidFill>
                  <a:schemeClr val="tx1"/>
                </a:solidFill>
              </a:rPr>
              <a:t>Random Forest: 0.872 ± 0.007</a:t>
            </a:r>
            <a:endParaRPr lang="en-US" sz="1500" dirty="0"/>
          </a:p>
          <a:p>
            <a:pPr indent="0" marL="0">
              <a:spcAft>
                <a:spcPts val="300"/>
              </a:spcAft>
              <a:buNone/>
            </a:pPr>
            <a:r>
              <a:rPr lang="en-US" sz="1300" dirty="0">
                <a:solidFill>
                  <a:schemeClr val="tx1"/>
                </a:solidFill>
              </a:rPr>
              <a:t>Logistic Regression: 0.827 ± 0.008</a:t>
            </a:r>
            <a:endParaRPr lang="en-US" sz="1500" dirty="0"/>
          </a:p>
          <a:p>
            <a:pPr indent="0" marL="0">
              <a:spcAft>
                <a:spcPts val="300"/>
              </a:spcAft>
              <a:buNone/>
            </a:pPr>
            <a:r>
              <a:rPr lang="en-US" sz="1300" dirty="0">
                <a:solidFill>
                  <a:schemeClr val="tx1"/>
                </a:solidFill>
              </a:rPr>
              <a:t>Oracle: 0.886 ± 0.007</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TabNet vs MLP: no clear accuracy winner</a:t>
            </a:r>
            <a:endParaRPr lang="en-US" sz="3400" dirty="0"/>
          </a:p>
        </p:txBody>
      </p:sp>
      <p:graphicFrame>
        <p:nvGraphicFramePr>
          <p:cNvPr id="9" name="metrics-table"/>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3291840"/>
        </p:xfrm>
        <a:graphic>
          <a:graphicData uri="http://schemas.openxmlformats.org/drawingml/2006/table">
            <a:tbl>
              <a:tblPr/>
              <a:tblGrid>
                <a:gridCol w="3200400"/>
                <a:gridCol w="1874519"/>
                <a:gridCol w="1874519"/>
              </a:tblGrid>
              <a:tr h="411480">
                <a:tc>
                  <a:txBody>
                    <a:bodyPr/>
                    <a:lstStyle/>
                    <a:p>
                      <a:pPr algn="l" indent="0" marL="0">
                        <a:buNone/>
                      </a:pPr>
                      <a:r>
                        <a:rPr lang="en-US" sz="1400" b="1" dirty="0">
                          <a:solidFill>
                            <a:schemeClr val="bg1"/>
                          </a:solidFill>
                        </a:rPr>
                        <a:t>Comparison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MLP</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TabNet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r>
              <a:tr h="411480">
                <a:tc>
                  <a:txBody>
                    <a:bodyPr/>
                    <a:lstStyle/>
                    <a:p>
                      <a:pPr algn="l" indent="0" marL="0">
                        <a:buNone/>
                      </a:pPr>
                      <a:r>
                        <a:rPr lang="en-US" sz="1400" dirty="0">
                          <a:solidFill>
                            <a:schemeClr val="tx1"/>
                          </a:solidFill>
                        </a:rPr>
                        <a:t>Real data (history set): test ROC-AUC</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0.499</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0.502</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Real data (history set): validation ROC-AUC</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0.535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0.504</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Simulated, interactions (5 seeds)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0.873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0.875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Simulated, smooth signals (5 seeds)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0.866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0.868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Trainable parameters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7.6k</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11.3k</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Train time: real / 100k simulated</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0.9 s / 3 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6.2 s / 107 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Built-in explanation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None</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Attention masks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7909560" y="1417320"/>
            <a:ext cx="3749039" cy="731520"/>
          </a:xfrm>
          <a:prstGeom prst="rect">
            <a:avLst/>
          </a:prstGeom>
          <a:noFill/>
          <a:ln/>
        </p:spPr>
        <p:txBody>
          <a:bodyPr wrap="square" lIns="0" tIns="0" rIns="0" bIns="0" rtlCol="0" anchor="b"/>
          <a:lstStyle/>
          <a:p>
            <a:pPr indent="0" marL="0">
              <a:buNone/>
            </a:pPr>
            <a:r>
              <a:rPr lang="en-US" sz="4000" b="1" dirty="0">
                <a:solidFill>
                  <a:schemeClr val="accent3"/>
                </a:solidFill>
                <a:latin typeface="Cambria" pitchFamily="34" charset="0"/>
                <a:ea typeface="Cambria" pitchFamily="34" charset="-122"/>
                <a:cs typeface="Cambria" pitchFamily="34" charset="-120"/>
              </a:rPr>
              <a:t>+0.003</a:t>
            </a:r>
            <a:endParaRPr lang="en-US" sz="4000" dirty="0"/>
          </a:p>
        </p:txBody>
      </p:sp>
      <p:sp>
        <p:nvSpPr>
          <p:cNvPr id="5" name="Text 2"/>
          <p:cNvSpPr txBox="1"/>
          <p:nvPr/>
        </p:nvSpPr>
        <p:spPr>
          <a:xfrm>
            <a:off x="7909560" y="2194560"/>
            <a:ext cx="3749039" cy="685800"/>
          </a:xfrm>
          <a:prstGeom prst="rect">
            <a:avLst/>
          </a:prstGeom>
          <a:noFill/>
          <a:ln/>
        </p:spPr>
        <p:txBody>
          <a:bodyPr wrap="square" lIns="0" tIns="0" rIns="0" bIns="0" rtlCol="0" anchor="t"/>
          <a:lstStyle/>
          <a:p>
            <a:pPr indent="0" marL="0">
              <a:buNone/>
            </a:pPr>
            <a:r>
              <a:rPr lang="en-US" sz="1300" dirty="0">
                <a:solidFill>
                  <a:schemeClr val="accent4"/>
                </a:solidFill>
              </a:rPr>
              <a:t>TabNet − MLP test ROC-AUC on real data; 95% CI −0.045 to +0.051, so not a real win</a:t>
            </a:r>
            <a:endParaRPr lang="en-US" sz="1300" dirty="0"/>
          </a:p>
        </p:txBody>
      </p:sp>
      <p:sp>
        <p:nvSpPr>
          <p:cNvPr id="7" name="Text 4"/>
          <p:cNvSpPr txBox="1"/>
          <p:nvPr/>
        </p:nvSpPr>
        <p:spPr>
          <a:xfrm>
            <a:off x="7909560" y="3154680"/>
            <a:ext cx="3749039"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7×</a:t>
            </a:r>
            <a:endParaRPr lang="en-US" sz="4000" dirty="0"/>
          </a:p>
        </p:txBody>
      </p:sp>
      <p:sp>
        <p:nvSpPr>
          <p:cNvPr id="8" name="Text 5"/>
          <p:cNvSpPr txBox="1"/>
          <p:nvPr/>
        </p:nvSpPr>
        <p:spPr>
          <a:xfrm>
            <a:off x="7909560" y="3931920"/>
            <a:ext cx="3749039" cy="685800"/>
          </a:xfrm>
          <a:prstGeom prst="rect">
            <a:avLst/>
          </a:prstGeom>
          <a:noFill/>
          <a:ln/>
        </p:spPr>
        <p:txBody>
          <a:bodyPr wrap="square" lIns="0" tIns="0" rIns="0" bIns="0" rtlCol="0" anchor="t"/>
          <a:lstStyle/>
          <a:p>
            <a:pPr indent="0" marL="0">
              <a:buNone/>
            </a:pPr>
            <a:r>
              <a:rPr lang="en-US" sz="1300" dirty="0">
                <a:solidFill>
                  <a:schemeClr val="accent4"/>
                </a:solidFill>
              </a:rPr>
              <a:t>slower for TabNet to train on real data (35× on 100k simulated deals)</a:t>
            </a:r>
            <a:endParaRPr lang="en-US" sz="1300" dirty="0"/>
          </a:p>
        </p:txBody>
      </p:sp>
      <p:sp>
        <p:nvSpPr>
          <p:cNvPr id="11" name="Text 8"/>
          <p:cNvSpPr txBox="1"/>
          <p:nvPr/>
        </p:nvSpPr>
        <p:spPr>
          <a:xfrm>
            <a:off x="548640" y="4937760"/>
            <a:ext cx="11091672" cy="731520"/>
          </a:xfrm>
          <a:prstGeom prst="rect">
            <a:avLst/>
          </a:prstGeom>
          <a:noFill/>
          <a:ln/>
        </p:spPr>
        <p:txBody>
          <a:bodyPr wrap="square" lIns="0" tIns="0" rIns="0" bIns="0" rtlCol="0" anchor="t"/>
          <a:lstStyle/>
          <a:p>
            <a:pPr indent="0" marL="0">
              <a:buNone/>
            </a:pPr>
            <a:r>
              <a:rPr lang="en-US" sz="1500" i="1" dirty="0">
                <a:solidFill>
                  <a:schemeClr val="accent4"/>
                </a:solidFill>
              </a:rPr>
              <a:t>Accuracy differences sit inside the noise in every setting. TabNet adds built-in feature attention, at a much higher training cost.</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Same pipeline, two datasets</a:t>
            </a:r>
            <a:endParaRPr lang="en-US" sz="3400" dirty="0"/>
          </a:p>
        </p:txBody>
      </p:sp>
      <p:sp>
        <p:nvSpPr>
          <p:cNvPr id="3" name="compare-0"/>
          <p:cNvSpPr/>
          <p:nvPr/>
        </p:nvSpPr>
        <p:spPr>
          <a:xfrm>
            <a:off x="548640" y="1417320"/>
            <a:ext cx="5364328" cy="3566160"/>
          </a:xfrm>
          <a:prstGeom prst="roundRect">
            <a:avLst>
              <a:gd name="adj" fmla="val 2051"/>
            </a:avLst>
          </a:prstGeom>
          <a:solidFill>
            <a:schemeClr val="bg2"/>
          </a:solidFill>
          <a:ln/>
        </p:spPr>
        <p:txBody>
          <a:bodyPr/>
          <a:p/>
        </p:txBody>
      </p:sp>
      <p:sp>
        <p:nvSpPr>
          <p:cNvPr id="4" name="Text 2"/>
          <p:cNvSpPr txBox="1"/>
          <p:nvPr/>
        </p:nvSpPr>
        <p:spPr>
          <a:xfrm>
            <a:off x="914400" y="1645920"/>
            <a:ext cx="4632808" cy="411480"/>
          </a:xfrm>
          <a:prstGeom prst="rect">
            <a:avLst/>
          </a:prstGeom>
          <a:noFill/>
          <a:ln/>
        </p:spPr>
        <p:txBody>
          <a:bodyPr wrap="square" lIns="0" tIns="0" rIns="0" bIns="0" rtlCol="0" anchor="t"/>
          <a:lstStyle/>
          <a:p>
            <a:pPr indent="0" marL="0">
              <a:buNone/>
            </a:pPr>
            <a:r>
              <a:rPr lang="en-US" sz="2000" b="1" dirty="0">
                <a:solidFill>
                  <a:schemeClr val="tx2"/>
                </a:solidFill>
              </a:rPr>
              <a:t>A · Original CRM data</a:t>
            </a:r>
            <a:endParaRPr lang="en-US" sz="2000" dirty="0"/>
          </a:p>
        </p:txBody>
      </p:sp>
      <p:sp>
        <p:nvSpPr>
          <p:cNvPr id="5" name="Text 3"/>
          <p:cNvSpPr txBox="1"/>
          <p:nvPr/>
        </p:nvSpPr>
        <p:spPr>
          <a:xfrm>
            <a:off x="914400" y="2148840"/>
            <a:ext cx="4632808"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0.517</a:t>
            </a:r>
            <a:endParaRPr lang="en-US" sz="7200" dirty="0"/>
          </a:p>
        </p:txBody>
      </p:sp>
      <p:sp>
        <p:nvSpPr>
          <p:cNvPr id="6" name="Text 4"/>
          <p:cNvSpPr txBox="1"/>
          <p:nvPr/>
        </p:nvSpPr>
        <p:spPr>
          <a:xfrm>
            <a:off x="914400" y="3291840"/>
            <a:ext cx="4632808" cy="320040"/>
          </a:xfrm>
          <a:prstGeom prst="rect">
            <a:avLst/>
          </a:prstGeom>
          <a:noFill/>
          <a:ln/>
        </p:spPr>
        <p:txBody>
          <a:bodyPr wrap="square" lIns="0" tIns="0" rIns="0" bIns="0" rtlCol="0" anchor="t"/>
          <a:lstStyle/>
          <a:p>
            <a:pPr indent="0" marL="0">
              <a:buNone/>
            </a:pPr>
            <a:r>
              <a:rPr lang="en-US" sz="1400" dirty="0">
                <a:solidFill>
                  <a:schemeClr val="accent4"/>
                </a:solidFill>
              </a:rPr>
              <a:t>selected model test ROC-AUC (all 0.48–0.54): about the same as random</a:t>
            </a:r>
            <a:endParaRPr lang="en-US" sz="1400" dirty="0"/>
          </a:p>
        </p:txBody>
      </p:sp>
      <p:sp>
        <p:nvSpPr>
          <p:cNvPr id="7" name="Text 5"/>
          <p:cNvSpPr txBox="1"/>
          <p:nvPr/>
        </p:nvSpPr>
        <p:spPr>
          <a:xfrm>
            <a:off x="914400" y="3794760"/>
            <a:ext cx="4632808" cy="822960"/>
          </a:xfrm>
          <a:prstGeom prst="rect">
            <a:avLst/>
          </a:prstGeom>
          <a:noFill/>
          <a:ln/>
        </p:spPr>
        <p:txBody>
          <a:bodyPr wrap="square" lIns="0" tIns="0" rIns="0" bIns="0" rtlCol="0" anchor="t"/>
          <a:lstStyle/>
          <a:p>
            <a:pPr indent="0" marL="0">
              <a:buNone/>
            </a:pPr>
            <a:r>
              <a:rPr lang="en-US" sz="1600" dirty="0">
                <a:solidFill>
                  <a:schemeClr val="tx1"/>
                </a:solidFill>
              </a:rPr>
              <a:t>The available features carry almost no signal about Won or Lost.</a:t>
            </a:r>
            <a:endParaRPr lang="en-US" sz="1600" dirty="0"/>
          </a:p>
        </p:txBody>
      </p:sp>
      <p:sp>
        <p:nvSpPr>
          <p:cNvPr id="8" name="compare-1"/>
          <p:cNvSpPr/>
          <p:nvPr/>
        </p:nvSpPr>
        <p:spPr>
          <a:xfrm>
            <a:off x="6278728" y="1417320"/>
            <a:ext cx="5364328" cy="3566160"/>
          </a:xfrm>
          <a:prstGeom prst="roundRect">
            <a:avLst>
              <a:gd name="adj" fmla="val 2051"/>
            </a:avLst>
          </a:prstGeom>
          <a:solidFill>
            <a:schemeClr val="bg2"/>
          </a:solidFill>
          <a:ln/>
        </p:spPr>
        <p:txBody>
          <a:bodyPr/>
          <a:p/>
        </p:txBody>
      </p:sp>
      <p:sp>
        <p:nvSpPr>
          <p:cNvPr id="9" name="Text 7"/>
          <p:cNvSpPr txBox="1"/>
          <p:nvPr/>
        </p:nvSpPr>
        <p:spPr>
          <a:xfrm>
            <a:off x="6644488" y="1645920"/>
            <a:ext cx="4632808" cy="411480"/>
          </a:xfrm>
          <a:prstGeom prst="rect">
            <a:avLst/>
          </a:prstGeom>
          <a:noFill/>
          <a:ln/>
        </p:spPr>
        <p:txBody>
          <a:bodyPr wrap="square" lIns="0" tIns="0" rIns="0" bIns="0" rtlCol="0" anchor="t"/>
          <a:lstStyle/>
          <a:p>
            <a:pPr indent="0" marL="0">
              <a:buNone/>
            </a:pPr>
            <a:r>
              <a:rPr lang="en-US" sz="2000" b="1" dirty="0">
                <a:solidFill>
                  <a:schemeClr val="tx2"/>
                </a:solidFill>
              </a:rPr>
              <a:t>B · Simulated data</a:t>
            </a:r>
            <a:endParaRPr lang="en-US" sz="2000" dirty="0"/>
          </a:p>
        </p:txBody>
      </p:sp>
      <p:sp>
        <p:nvSpPr>
          <p:cNvPr id="10" name="Text 8"/>
          <p:cNvSpPr txBox="1"/>
          <p:nvPr/>
        </p:nvSpPr>
        <p:spPr>
          <a:xfrm>
            <a:off x="6644488" y="2148840"/>
            <a:ext cx="4632808" cy="1097280"/>
          </a:xfrm>
          <a:prstGeom prst="rect">
            <a:avLst/>
          </a:prstGeom>
          <a:noFill/>
          <a:ln/>
        </p:spPr>
        <p:txBody>
          <a:bodyPr wrap="square" lIns="0" tIns="0" rIns="0" bIns="0" rtlCol="0" anchor="ctr"/>
          <a:lstStyle/>
          <a:p>
            <a:pPr indent="0" marL="0">
              <a:buNone/>
            </a:pPr>
            <a:r>
              <a:rPr lang="en-US" sz="7200" b="1" dirty="0">
                <a:solidFill>
                  <a:schemeClr val="accent1"/>
                </a:solidFill>
                <a:latin typeface="Cambria" pitchFamily="34" charset="0"/>
                <a:ea typeface="Cambria" pitchFamily="34" charset="-122"/>
                <a:cs typeface="Cambria" pitchFamily="34" charset="-120"/>
              </a:rPr>
              <a:t>0.869</a:t>
            </a:r>
            <a:endParaRPr lang="en-US" sz="7200" dirty="0"/>
          </a:p>
        </p:txBody>
      </p:sp>
      <p:sp>
        <p:nvSpPr>
          <p:cNvPr id="11" name="Text 9"/>
          <p:cNvSpPr txBox="1"/>
          <p:nvPr/>
        </p:nvSpPr>
        <p:spPr>
          <a:xfrm>
            <a:off x="6644488" y="3291840"/>
            <a:ext cx="4632808" cy="320040"/>
          </a:xfrm>
          <a:prstGeom prst="rect">
            <a:avLst/>
          </a:prstGeom>
          <a:noFill/>
          <a:ln/>
        </p:spPr>
        <p:txBody>
          <a:bodyPr wrap="square" lIns="0" tIns="0" rIns="0" bIns="0" rtlCol="0" anchor="t"/>
          <a:lstStyle/>
          <a:p>
            <a:pPr indent="0" marL="0">
              <a:buNone/>
            </a:pPr>
            <a:r>
              <a:rPr lang="en-US" sz="1400" dirty="0">
                <a:solidFill>
                  <a:schemeClr val="accent4"/>
                </a:solidFill>
              </a:rPr>
              <a:t>best test ROC-AUC (oracle 0.878)</a:t>
            </a:r>
            <a:endParaRPr lang="en-US" sz="1400" dirty="0"/>
          </a:p>
        </p:txBody>
      </p:sp>
      <p:sp>
        <p:nvSpPr>
          <p:cNvPr id="12" name="Text 10"/>
          <p:cNvSpPr txBox="1"/>
          <p:nvPr/>
        </p:nvSpPr>
        <p:spPr>
          <a:xfrm>
            <a:off x="6644488" y="3794760"/>
            <a:ext cx="4632808" cy="822960"/>
          </a:xfrm>
          <a:prstGeom prst="rect">
            <a:avLst/>
          </a:prstGeom>
          <a:noFill/>
          <a:ln/>
        </p:spPr>
        <p:txBody>
          <a:bodyPr wrap="square" lIns="0" tIns="0" rIns="0" bIns="0" rtlCol="0" anchor="t"/>
          <a:lstStyle/>
          <a:p>
            <a:pPr indent="0" marL="0">
              <a:buNone/>
            </a:pPr>
            <a:r>
              <a:rPr lang="en-US" sz="1600" dirty="0">
                <a:solidFill>
                  <a:schemeClr val="tx1"/>
                </a:solidFill>
              </a:rPr>
              <a:t>The same pipeline and models do learn when structure exists.</a:t>
            </a:r>
            <a:endParaRPr lang="en-US" sz="1600" dirty="0"/>
          </a:p>
        </p:txBody>
      </p:sp>
      <p:sp>
        <p:nvSpPr>
          <p:cNvPr id="13" name="icon-bg-check"/>
          <p:cNvSpPr/>
          <p:nvPr/>
        </p:nvSpPr>
        <p:spPr>
          <a:xfrm>
            <a:off x="548640" y="5303520"/>
            <a:ext cx="548640" cy="548640"/>
          </a:xfrm>
          <a:prstGeom prst="ellipse">
            <a:avLst/>
          </a:prstGeom>
          <a:solidFill>
            <a:schemeClr val="accent1"/>
          </a:solidFill>
          <a:ln/>
        </p:spPr>
        <p:txBody>
          <a:bodyPr/>
          <a:p/>
        </p:txBody>
      </p:sp>
      <p:pic>
        <p:nvPicPr>
          <p:cNvPr id="14" name="icon-check" descr="preencoded.png">    </p:cNvPr>
          <p:cNvPicPr>
            <a:picLocks noChangeAspect="1"/>
          </p:cNvPicPr>
          <p:nvPr/>
        </p:nvPicPr>
        <p:blipFill>
          <a:blip r:embed="rId1"/>
          <a:stretch>
            <a:fillRect/>
          </a:stretch>
        </p:blipFill>
        <p:spPr>
          <a:xfrm>
            <a:off x="685800" y="5440680"/>
            <a:ext cx="274320" cy="274320"/>
          </a:xfrm>
          <a:prstGeom prst="rect">
            <a:avLst/>
          </a:prstGeom>
        </p:spPr>
      </p:pic>
      <p:sp>
        <p:nvSpPr>
          <p:cNvPr id="15" name="Text 12"/>
          <p:cNvSpPr txBox="1"/>
          <p:nvPr/>
        </p:nvSpPr>
        <p:spPr>
          <a:xfrm>
            <a:off x="1280160" y="5230368"/>
            <a:ext cx="10362895" cy="731520"/>
          </a:xfrm>
          <a:prstGeom prst="rect">
            <a:avLst/>
          </a:prstGeom>
          <a:noFill/>
          <a:ln/>
        </p:spPr>
        <p:txBody>
          <a:bodyPr wrap="square" lIns="0" tIns="0" rIns="0" bIns="0" rtlCol="0" anchor="ctr"/>
          <a:lstStyle/>
          <a:p>
            <a:pPr indent="0" marL="0">
              <a:buNone/>
            </a:pPr>
            <a:r>
              <a:rPr lang="en-US" sz="1600" b="1" dirty="0">
                <a:solidFill>
                  <a:schemeClr val="tx2"/>
                </a:solidFill>
              </a:rPr>
              <a:t>The low scores come from the data, not from the pipeline. </a:t>
            </a:r>
            <a:pPr indent="0" marL="0">
              <a:buNone/>
            </a:pPr>
            <a:r>
              <a:rPr lang="en-US" sz="1600" dirty="0">
                <a:solidFill>
                  <a:schemeClr val="tx1"/>
                </a:solidFill>
              </a:rPr>
              <a:t>Simulated scores are never real-world performance and are kept out of the reported results.</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our project adds: the agent architecture</a:t>
            </a:r>
            <a:endParaRPr lang="en-US" sz="3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graphicFrame>
        <p:nvGraphicFramePr>
          <p:cNvPr id="9" name="agent-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2834640"/>
        </p:xfrm>
        <a:graphic>
          <a:graphicData uri="http://schemas.openxmlformats.org/drawingml/2006/table">
            <a:tbl>
              <a:tblPr/>
              <a:tblGrid>
                <a:gridCol w="3566160"/>
                <a:gridCol w="2926080"/>
                <a:gridCol w="4599432"/>
              </a:tblGrid>
              <a:tr h="566928">
                <a:tc>
                  <a:txBody>
                    <a:bodyPr/>
                    <a:lstStyle/>
                    <a:p>
                      <a:pPr algn="l" indent="0" marL="0">
                        <a:buNone/>
                      </a:pPr>
                      <a:r>
                        <a:rPr lang="en-US" sz="1400" b="1" dirty="0">
                          <a:solidFill>
                            <a:schemeClr val="bg1"/>
                          </a:solidFill>
                        </a:rPr>
                        <a:t>Contribution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Implementation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Evidence (same 1,589 real deals)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r>
              <a:tr h="566928">
                <a:tc>
                  <a:txBody>
                    <a:bodyPr/>
                    <a:lstStyle/>
                    <a:p>
                      <a:pPr algn="l" indent="0" marL="0">
                        <a:buNone/>
                      </a:pPr>
                      <a:r>
                        <a:rPr lang="en-US" sz="1400" dirty="0" b="1">
                          <a:solidFill>
                            <a:schemeClr val="tx1"/>
                          </a:solidFill>
                        </a:rPr>
                        <a:t>Value-of-information tool planning</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src/agent/planner.py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Same decisions with 2.1 fewer tool calls per deal</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566928">
                <a:tc>
                  <a:txBody>
                    <a:bodyPr/>
                    <a:lstStyle/>
                    <a:p>
                      <a:pPr algn="l" indent="0" marL="0">
                        <a:buNone/>
                      </a:pPr>
                      <a:r>
                        <a:rPr lang="en-US" sz="1400" b="1" dirty="0">
                          <a:solidFill>
                            <a:schemeClr val="tx1"/>
                          </a:solidFill>
                        </a:rPr>
                        <a:t>Reliability-gated decisions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planner.decision_candidates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 unsupported labels vs 1,242 (A) and 487 (B)</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r>
              <a:tr h="566928">
                <a:tc>
                  <a:txBody>
                    <a:bodyPr/>
                    <a:lstStyle/>
                    <a:p>
                      <a:pPr algn="l" indent="0" marL="0">
                        <a:buNone/>
                      </a:pPr>
                      <a:r>
                        <a:rPr lang="en-US" sz="1400" dirty="0" b="1">
                          <a:solidFill>
                            <a:schemeClr val="tx1"/>
                          </a:solidFill>
                        </a:rPr>
                        <a:t>Bounded autonomy + approval queue</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src/agent/policy.py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 external actions; prohibited request blocked</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566928">
                <a:tc>
                  <a:txBody>
                    <a:bodyPr/>
                    <a:lstStyle/>
                    <a:p>
                      <a:pPr algn="l" indent="0" marL="0">
                        <a:buNone/>
                      </a:pPr>
                      <a:r>
                        <a:rPr lang="en-US" sz="1400" dirty="0" b="1">
                          <a:solidFill>
                            <a:schemeClr val="tx1"/>
                          </a:solidFill>
                        </a:rPr>
                        <a:t>Replayable, source-cited traces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src/agent/controller.py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200/200 identical hashes; 880/880 tool replays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bl>
          </a:graphicData>
        </a:graphic>
      </p:graphicFrame>
      <p:sp>
        <p:nvSpPr>
          <p:cNvPr id="26" name="Oval 25"/>
          <p:cNvSpPr/>
          <p:nvPr/>
        </p:nvSpPr>
        <p:spPr>
          <a:xfrm>
            <a:off x="548640" y="461772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mage.png"/>
          <p:cNvPicPr>
            <a:picLocks noChangeAspect="1"/>
          </p:cNvPicPr>
          <p:nvPr/>
        </p:nvPicPr>
        <p:blipFill>
          <a:blip r:embed="rId9"/>
          <a:stretch>
            <a:fillRect/>
          </a:stretch>
        </p:blipFill>
        <p:spPr>
          <a:xfrm>
            <a:off x="662940" y="4732020"/>
            <a:ext cx="228600" cy="228600"/>
          </a:xfrm>
          <a:prstGeom prst="rect">
            <a:avLst/>
          </a:prstGeom>
        </p:spPr>
      </p:pic>
      <p:sp>
        <p:nvSpPr>
          <p:cNvPr id="28" name="TextBox 27"/>
          <p:cNvSpPr txBox="1"/>
          <p:nvPr/>
        </p:nvSpPr>
        <p:spPr>
          <a:xfrm>
            <a:off x="1143000" y="4572000"/>
            <a:ext cx="10424160" cy="822960"/>
          </a:xfrm>
          <a:prstGeom prst="rect">
            <a:avLst/>
          </a:prstGeom>
          <a:noFill/>
        </p:spPr>
        <p:txBody>
          <a:bodyPr wrap="square" anchor="t" lIns="45720" rIns="45720">
            <a:spAutoFit/>
          </a:bodyPr>
          <a:lstStyle/>
          <a:p>
            <a:pPr algn="l">
              <a:spcAft>
                <a:spcPts val="400"/>
              </a:spcAft>
            </a:pPr>
            <a:r>
              <a:rPr sz="1500" b="1">
                <a:solidFill>
                  <a:schemeClr val="tx2"/>
                </a:solidFill>
              </a:rPr>
              <a:t>Not claimed: </a:t>
            </a:r>
            <a:r>
              <a:rPr sz="1500" b="0">
                <a:solidFill>
                  <a:schemeClr val="tx1"/>
                </a:solidFill>
              </a:rPr>
              <a:t>a new learning algorithm, better ROC-AUC, online learning, LLM use, or sales uplift. Prediction stays weak (test ROC-AUC 0.517); the agent changes how the score is used.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Limitations and future work</a:t>
            </a:r>
            <a:endParaRPr lang="en-US" sz="3400" dirty="0"/>
          </a:p>
        </p:txBody>
      </p:sp>
      <p:sp>
        <p:nvSpPr>
          <p:cNvPr id="3" name="icon-bg-warn"/>
          <p:cNvSpPr/>
          <p:nvPr/>
        </p:nvSpPr>
        <p:spPr>
          <a:xfrm>
            <a:off x="548640" y="1417320"/>
            <a:ext cx="548640" cy="548640"/>
          </a:xfrm>
          <a:prstGeom prst="ellipse">
            <a:avLst/>
          </a:prstGeom>
          <a:solidFill>
            <a:schemeClr val="accent3"/>
          </a:solidFill>
          <a:ln/>
        </p:spPr>
        <p:txBody>
          <a:bodyPr/>
          <a:p/>
        </p:txBody>
      </p:sp>
      <p:pic>
        <p:nvPicPr>
          <p:cNvPr id="4" name="icon-warn" descr="preencoded.png">    </p:cNvPr>
          <p:cNvPicPr>
            <a:picLocks noChangeAspect="1"/>
          </p:cNvPicPr>
          <p:nvPr/>
        </p:nvPicPr>
        <p:blipFill>
          <a:blip r:embed="rId1"/>
          <a:stretch>
            <a:fillRect/>
          </a:stretch>
        </p:blipFill>
        <p:spPr>
          <a:xfrm>
            <a:off x="685800" y="1554480"/>
            <a:ext cx="274320" cy="274320"/>
          </a:xfrm>
          <a:prstGeom prst="rect">
            <a:avLst/>
          </a:prstGeom>
        </p:spPr>
      </p:pic>
      <p:sp>
        <p:nvSpPr>
          <p:cNvPr id="5" name="Text 2"/>
          <p:cNvSpPr txBox="1"/>
          <p:nvPr/>
        </p:nvSpPr>
        <p:spPr>
          <a:xfrm>
            <a:off x="1280160"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Limitations</a:t>
            </a:r>
            <a:endParaRPr lang="en-US" sz="2000" dirty="0"/>
          </a:p>
        </p:txBody>
      </p:sp>
      <p:sp>
        <p:nvSpPr>
          <p:cNvPr id="6" name="Text 3"/>
          <p:cNvSpPr txBox="1"/>
          <p:nvPr/>
        </p:nvSpPr>
        <p:spPr>
          <a:xfrm>
            <a:off x="548640" y="2240280"/>
            <a:ext cx="5318608"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Trained on closed deals only: selection bias</a:t>
            </a:r>
            <a:endParaRPr lang="en-US" sz="1500" dirty="0"/>
          </a:p>
          <a:p>
            <a:pPr marL="203200" indent="-203200">
              <a:spcAft>
                <a:spcPts val="800"/>
              </a:spcAft>
              <a:buSzPct val="100000"/>
              <a:buChar char="•"/>
            </a:pPr>
            <a:r>
              <a:rPr lang="en-US" sz="1500" dirty="0">
                <a:solidFill>
                  <a:schemeClr val="tx1"/>
                </a:solidFill>
              </a:rPr>
              <a:t>Validation reused for model, threshold and calibration</a:t>
            </a:r>
          </a:p>
          <a:p>
            <a:pPr marL="203200" indent="-203200">
              <a:spcAft>
                <a:spcPts val="800"/>
              </a:spcAft>
              <a:buSzPct val="100000"/>
              <a:buChar char="•"/>
            </a:pPr>
            <a:r>
              <a:rPr lang="en-US" sz="1500" dirty="0">
                <a:solidFill>
                  <a:schemeClr val="tx1"/>
                </a:solidFill>
              </a:rPr>
              <a:t>Static snapshots; accounts repeat across periods</a:t>
            </a:r>
          </a:p>
          <a:p>
            <a:pPr marL="203200" indent="-203200">
              <a:spcAft>
                <a:spcPts val="800"/>
              </a:spcAft>
              <a:buSzPct val="100000"/>
              <a:buChar char="•"/>
            </a:pPr>
            <a:r>
              <a:rPr lang="en-US" sz="1500" dirty="0">
                <a:solidFill>
                  <a:schemeClr val="tx1"/>
                </a:solidFill>
              </a:rPr>
              <a:t>Test set not pristine (data examined earlier)</a:t>
            </a:r>
          </a:p>
          <a:p>
            <a:pPr marL="203200" indent="-203200">
              <a:spcAft>
                <a:spcPts val="800"/>
              </a:spcAft>
              <a:buSzPct val="100000"/>
              <a:buChar char="•"/>
            </a:pPr>
            <a:r>
              <a:rPr lang="en-US" sz="1500" dirty="0">
                <a:solidFill>
                  <a:schemeClr val="tx1"/>
                </a:solidFill>
              </a:rPr>
              <a:t>Agent thresholds are design choices, not learned</a:t>
            </a:r>
          </a:p>
          <a:p>
            <a:pPr marL="203200" indent="-203200">
              <a:spcAft>
                <a:spcPts val="800"/>
              </a:spcAft>
              <a:buSzPct val="100000"/>
              <a:buChar char="•"/>
            </a:pPr>
            <a:r>
              <a:rPr lang="en-US" sz="1500" dirty="0">
                <a:solidFill>
                  <a:schemeClr val="tx1"/>
                </a:solidFill>
              </a:rPr>
              <a:t>No sales-team test: no measured uplift</a:t>
            </a:r>
          </a:p>
        </p:txBody>
      </p:sp>
      <p:sp>
        <p:nvSpPr>
          <p:cNvPr id="7" name="icon-bg-search"/>
          <p:cNvSpPr/>
          <p:nvPr/>
        </p:nvSpPr>
        <p:spPr>
          <a:xfrm>
            <a:off x="6324448" y="1417320"/>
            <a:ext cx="548640" cy="548640"/>
          </a:xfrm>
          <a:prstGeom prst="ellipse">
            <a:avLst/>
          </a:prstGeom>
          <a:solidFill>
            <a:schemeClr val="accent1"/>
          </a:solidFill>
          <a:ln/>
        </p:spPr>
        <p:txBody>
          <a:bodyPr/>
          <a:p/>
        </p:txBody>
      </p:sp>
      <p:pic>
        <p:nvPicPr>
          <p:cNvPr id="8" name="icon-search" descr="preencoded.png">    </p:cNvPr>
          <p:cNvPicPr>
            <a:picLocks noChangeAspect="1"/>
          </p:cNvPicPr>
          <p:nvPr/>
        </p:nvPicPr>
        <p:blipFill>
          <a:blip r:embed="rId2"/>
          <a:stretch>
            <a:fillRect/>
          </a:stretch>
        </p:blipFill>
        <p:spPr>
          <a:xfrm>
            <a:off x="6461608" y="1554480"/>
            <a:ext cx="274320" cy="274320"/>
          </a:xfrm>
          <a:prstGeom prst="rect">
            <a:avLst/>
          </a:prstGeom>
        </p:spPr>
      </p:pic>
      <p:sp>
        <p:nvSpPr>
          <p:cNvPr id="9" name="Text 5"/>
          <p:cNvSpPr txBox="1"/>
          <p:nvPr/>
        </p:nvSpPr>
        <p:spPr>
          <a:xfrm>
            <a:off x="7055968"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Future work</a:t>
            </a:r>
            <a:endParaRPr lang="en-US" sz="2000" dirty="0"/>
          </a:p>
        </p:txBody>
      </p:sp>
      <p:sp>
        <p:nvSpPr>
          <p:cNvPr id="10" name="Text 6"/>
          <p:cNvSpPr txBox="1"/>
          <p:nvPr/>
        </p:nvSpPr>
        <p:spPr>
          <a:xfrm>
            <a:off x="6324448" y="2240280"/>
            <a:ext cx="5318608"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Collect engagement signals: calls, emails, budget</a:t>
            </a:r>
            <a:endParaRPr lang="en-US" sz="1500" dirty="0"/>
          </a:p>
          <a:p>
            <a:pPr marL="203200" indent="-203200">
              <a:spcAft>
                <a:spcPts val="800"/>
              </a:spcAft>
              <a:buSzPct val="100000"/>
              <a:buChar char="•"/>
            </a:pPr>
            <a:r>
              <a:rPr lang="en-US" sz="1500" dirty="0">
                <a:solidFill>
                  <a:schemeClr val="tx1"/>
                </a:solidFill>
              </a:rPr>
              <a:t>Score deals as of each historical date</a:t>
            </a:r>
          </a:p>
          <a:p>
            <a:pPr marL="203200" indent="-203200">
              <a:spcAft>
                <a:spcPts val="800"/>
              </a:spcAft>
              <a:buSzPct val="100000"/>
              <a:buChar char="•"/>
            </a:pPr>
            <a:r>
              <a:rPr lang="en-US" sz="1500" dirty="0">
                <a:solidFill>
                  <a:schemeClr val="tx1"/>
                </a:solidFill>
              </a:rPr>
              <a:t>Test on accounts never seen in training</a:t>
            </a:r>
          </a:p>
          <a:p>
            <a:pPr marL="203200" indent="-203200">
              <a:spcAft>
                <a:spcPts val="800"/>
              </a:spcAft>
              <a:buSzPct val="100000"/>
              <a:buChar char="•"/>
            </a:pPr>
            <a:r>
              <a:rPr lang="en-US" sz="1500" dirty="0">
                <a:solidFill>
                  <a:schemeClr val="tx1"/>
                </a:solidFill>
              </a:rPr>
              <a:t>Pilot the agent queue with a sales team</a:t>
            </a:r>
          </a:p>
          <a:p>
            <a:pPr marL="203200" indent="-203200">
              <a:spcAft>
                <a:spcPts val="800"/>
              </a:spcAft>
              <a:buSzPct val="100000"/>
              <a:buChar char="•"/>
            </a:pPr>
            <a:r>
              <a:rPr lang="en-US" sz="1500" dirty="0">
                <a:solidFill>
                  <a:schemeClr val="tx1"/>
                </a:solidFill>
              </a:rPr>
              <a:t>Learn agent thresholds from real feedback</a:t>
            </a:r>
          </a:p>
        </p:txBody>
      </p:sp>
      <p:sp>
        <p:nvSpPr>
          <p:cNvPr id="11" name="takeaway"/>
          <p:cNvSpPr/>
          <p:nvPr/>
        </p:nvSpPr>
        <p:spPr>
          <a:xfrm>
            <a:off x="548640" y="5074920"/>
            <a:ext cx="11094415" cy="914400"/>
          </a:xfrm>
          <a:prstGeom prst="roundRect">
            <a:avLst>
              <a:gd name="adj" fmla="val 8000"/>
            </a:avLst>
          </a:prstGeom>
          <a:solidFill>
            <a:schemeClr val="bg2"/>
          </a:solidFill>
          <a:ln/>
        </p:spPr>
        <p:txBody>
          <a:bodyPr/>
          <a:p/>
        </p:txBody>
      </p:sp>
      <p:sp>
        <p:nvSpPr>
          <p:cNvPr id="12" name="icon-bg-check"/>
          <p:cNvSpPr/>
          <p:nvPr/>
        </p:nvSpPr>
        <p:spPr>
          <a:xfrm>
            <a:off x="777240" y="5257800"/>
            <a:ext cx="548640" cy="548640"/>
          </a:xfrm>
          <a:prstGeom prst="ellipse">
            <a:avLst/>
          </a:prstGeom>
          <a:solidFill>
            <a:schemeClr val="accent1"/>
          </a:solidFill>
          <a:ln/>
        </p:spPr>
        <p:txBody>
          <a:bodyPr/>
          <a:p/>
        </p:txBody>
      </p:sp>
      <p:pic>
        <p:nvPicPr>
          <p:cNvPr id="13" name="icon-check" descr="preencoded.png">    </p:cNvPr>
          <p:cNvPicPr>
            <a:picLocks noChangeAspect="1"/>
          </p:cNvPicPr>
          <p:nvPr/>
        </p:nvPicPr>
        <p:blipFill>
          <a:blip r:embed="rId3"/>
          <a:stretch>
            <a:fillRect/>
          </a:stretch>
        </p:blipFill>
        <p:spPr>
          <a:xfrm>
            <a:off x="914400" y="5394960"/>
            <a:ext cx="274320" cy="274320"/>
          </a:xfrm>
          <a:prstGeom prst="rect">
            <a:avLst/>
          </a:prstGeom>
        </p:spPr>
      </p:pic>
      <p:sp>
        <p:nvSpPr>
          <p:cNvPr id="14" name="Text 9"/>
          <p:cNvSpPr txBox="1"/>
          <p:nvPr/>
        </p:nvSpPr>
        <p:spPr>
          <a:xfrm>
            <a:off x="1508760" y="5120640"/>
            <a:ext cx="9905695" cy="822960"/>
          </a:xfrm>
          <a:prstGeom prst="rect">
            <a:avLst/>
          </a:prstGeom>
          <a:noFill/>
          <a:ln/>
        </p:spPr>
        <p:txBody>
          <a:bodyPr wrap="square" lIns="0" tIns="0" rIns="0" bIns="0" rtlCol="0" anchor="ctr"/>
          <a:lstStyle/>
          <a:p>
            <a:pPr indent="0" marL="0">
              <a:buNone/>
            </a:pPr>
            <a:r>
              <a:rPr lang="en-US" sz="1700" b="1" dirty="0">
                <a:solidFill>
                  <a:schemeClr val="tx2"/>
                </a:solidFill>
              </a:rPr>
              <a:t>Takeaway: a rigorous, time-aware pipeline and a safe, auditable agent; the current CRM fields are not enough to rank deals.</a:t>
            </a:r>
            <a:pPr indent="0" marL="0">
              <a:buNone/>
            </a:pP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9601200" cy="1737360"/>
          </a:xfrm>
          <a:prstGeom prst="rect">
            <a:avLst/>
          </a:prstGeom>
          <a:noFill/>
          <a:ln/>
        </p:spPr>
        <p:txBody>
          <a:bodyPr wrap="square" lIns="0" tIns="0" rIns="0" bIns="0" rtlCol="0" anchor="b"/>
          <a:lstStyle/>
          <a:p>
            <a:pPr algn="l" indent="0" marL="0">
              <a:buNone/>
            </a:pPr>
            <a:r>
              <a:rPr lang="en-US" sz="4200" b="1" dirty="0">
                <a:solidFill>
                  <a:schemeClr val="bg1"/>
                </a:solidFill>
                <a:latin typeface="Cambria" pitchFamily="34" charset="0"/>
                <a:ea typeface="Cambria" pitchFamily="34" charset="-122"/>
                <a:cs typeface="Cambria" pitchFamily="34" charset="-120"/>
              </a:rPr>
              <a:t>Thank you — questions?</a:t>
            </a:r>
            <a:endParaRPr lang="en-US" sz="4200" dirty="0"/>
          </a:p>
        </p:txBody>
      </p:sp>
      <p:sp>
        <p:nvSpPr>
          <p:cNvPr id="3" name="Text 0"/>
          <p:cNvSpPr/>
          <p:nvPr>
            <p:ph idx="101" type="body" hasCustomPrompt="1"/>
          </p:nvPr>
        </p:nvSpPr>
        <p:spPr>
          <a:xfrm>
            <a:off x="548640" y="3794760"/>
            <a:ext cx="9601200" cy="1463040"/>
          </a:xfrm>
          <a:prstGeom prst="rect">
            <a:avLst/>
          </a:prstGeom>
          <a:noFill/>
          <a:ln/>
        </p:spPr>
        <p:txBody>
          <a:bodyPr wrap="square" lIns="0" tIns="0" rIns="0" bIns="0" rtlCol="0" anchor="t"/>
          <a:lstStyle/>
          <a:p>
            <a:pPr indent="0" marL="0">
              <a:buNone/>
            </a:pPr>
            <a:r>
              <a:rPr lang="en-US" sz="1800" dirty="0">
                <a:solidFill>
                  <a:schemeClr val="bg1"/>
                </a:solidFill>
              </a:rPr>
              <a:t>Hong Thai Phan · Nguyen Khanh An Tran · Hoang Thien Bao Bui</a:t>
            </a:r>
            <a:endParaRPr lang="en-US" sz="1800" dirty="0"/>
          </a:p>
          <a:p>
            <a:pPr indent="0" marL="0">
              <a:buNone/>
            </a:pPr>
            <a:r>
              <a:rPr lang="en-US" sz="1800" dirty="0">
                <a:solidFill>
                  <a:schemeClr val="bg1"/>
                </a:solidFill>
              </a:rPr>
              <a:t>References: J. Yan et al., Sales Pipeline Win Propensity Prediction, IFIP/IEEE IM 2015 · A. Rezazadeh, A Generalized Flow for B2B Sales Predictive Modeling, Forecasting 2020 · S. O. Arik and T. Pfister, TabNet, AAAI 2021 · R. A. Howard, Information Value Theory, 1966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Where traditional ML stops</a:t>
            </a:r>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
        <p:nvSpPr>
          <p:cNvPr id="26" name="Rounded Rectangle 25"/>
          <p:cNvSpPr/>
          <p:nvPr/>
        </p:nvSpPr>
        <p:spPr>
          <a:xfrm>
            <a:off x="548640" y="1371600"/>
            <a:ext cx="5120640" cy="42976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1508760"/>
            <a:ext cx="4663440" cy="457200"/>
          </a:xfrm>
          <a:prstGeom prst="rect">
            <a:avLst/>
          </a:prstGeom>
          <a:noFill/>
        </p:spPr>
        <p:txBody>
          <a:bodyPr wrap="square" anchor="t" lIns="45720" rIns="45720">
            <a:spAutoFit/>
          </a:bodyPr>
          <a:lstStyle/>
          <a:p>
            <a:pPr algn="l">
              <a:spcAft>
                <a:spcPts val="400"/>
              </a:spcAft>
            </a:pPr>
            <a:r>
              <a:rPr sz="1700" b="1">
                <a:solidFill>
                  <a:schemeClr val="tx2"/>
                </a:solidFill>
              </a:rPr>
              <a:t>Traditional output: deal 01XZ9CRY</a:t>
            </a:r>
          </a:p>
        </p:txBody>
      </p:sp>
      <p:sp>
        <p:nvSpPr>
          <p:cNvPr id="28" name="TextBox 27"/>
          <p:cNvSpPr txBox="1"/>
          <p:nvPr/>
        </p:nvSpPr>
        <p:spPr>
          <a:xfrm>
            <a:off x="777240" y="2057400"/>
            <a:ext cx="4663440" cy="2926080"/>
          </a:xfrm>
          <a:prstGeom prst="rect">
            <a:avLst/>
          </a:prstGeom>
          <a:noFill/>
        </p:spPr>
        <p:txBody>
          <a:bodyPr wrap="square" anchor="t" lIns="45720" rIns="45720">
            <a:spAutoFit/>
          </a:bodyPr>
          <a:lstStyle/>
          <a:p>
            <a:pPr algn="l">
              <a:spcAft>
                <a:spcPts val="400"/>
              </a:spcAft>
            </a:pPr>
            <a:r>
              <a:rPr sz="1600" b="0">
                <a:solidFill>
                  <a:schemeClr val="tx1"/>
                </a:solidFill>
              </a:rPr>
              <a:t>P(Won) </a:t>
            </a:r>
            <a:r>
              <a:rPr sz="1600" b="1">
                <a:solidFill>
                  <a:schemeClr val="accent1"/>
                </a:solidFill>
              </a:rPr>
              <a:t>0.534</a:t>
            </a:r>
          </a:p>
          <a:p>
            <a:pPr algn="l">
              <a:spcAft>
                <a:spcPts val="400"/>
              </a:spcAft>
            </a:pPr>
            <a:r>
              <a:rPr sz="1600" b="0">
                <a:solidFill>
                  <a:schemeClr val="tx1"/>
                </a:solidFill>
              </a:rPr>
              <a:t>Predicted: Lost · Priority: Medium</a:t>
            </a:r>
          </a:p>
          <a:p>
            <a:pPr algn="l">
              <a:spcAft>
                <a:spcPts val="400"/>
              </a:spcAft>
            </a:pPr>
            <a:r>
              <a:rPr sz="1600" b="0">
                <a:solidFill>
                  <a:schemeClr val="tx1"/>
                </a:solidFill>
              </a:rPr>
              <a:t>Top factor: global_closed_count −0.246</a:t>
            </a:r>
          </a:p>
          <a:p>
            <a:pPr algn="l">
              <a:spcAft>
                <a:spcPts val="400"/>
              </a:spcAft>
            </a:pPr>
            <a:r>
              <a:rPr sz="1600" b="0">
                <a:solidFill>
                  <a:schemeClr val="tx1"/>
                </a:solidFill>
              </a:rPr>
              <a:t>Account: Initech · Product: GTX Plus Pro</a:t>
            </a:r>
          </a:p>
          <a:p>
            <a:pPr algn="l">
              <a:spcAft>
                <a:spcPts val="400"/>
              </a:spcAft>
            </a:pPr>
            <a:r>
              <a:rPr sz="1600" b="0">
                <a:solidFill>
                  <a:schemeClr val="tx1"/>
                </a:solidFill>
              </a:rPr>
              <a:t>Warning: </a:t>
            </a:r>
            <a:r>
              <a:rPr sz="1600" b="1">
                <a:solidFill>
                  <a:schemeClr val="accent3"/>
                </a:solidFill>
              </a:rPr>
              <a:t>none</a:t>
            </a:r>
          </a:p>
        </p:txBody>
      </p:sp>
      <p:sp>
        <p:nvSpPr>
          <p:cNvPr id="29" name="TextBox 28"/>
          <p:cNvSpPr txBox="1"/>
          <p:nvPr/>
        </p:nvSpPr>
        <p:spPr>
          <a:xfrm>
            <a:off x="777240" y="4663440"/>
            <a:ext cx="4663440" cy="822960"/>
          </a:xfrm>
          <a:prstGeom prst="rect">
            <a:avLst/>
          </a:prstGeom>
          <a:noFill/>
        </p:spPr>
        <p:txBody>
          <a:bodyPr wrap="square" anchor="t" lIns="45720" rIns="45720">
            <a:spAutoFit/>
          </a:bodyPr>
          <a:lstStyle/>
          <a:p>
            <a:pPr algn="l">
              <a:spcAft>
                <a:spcPts val="400"/>
              </a:spcAft>
            </a:pPr>
            <a:r>
              <a:rPr sz="1300" b="0">
                <a:solidFill>
                  <a:schemeClr val="accent4"/>
                </a:solidFill>
              </a:rPr>
              <a:t>A person must still check the account, history and data quality, decide, and record why.</a:t>
            </a:r>
          </a:p>
        </p:txBody>
      </p:sp>
      <p:sp>
        <p:nvSpPr>
          <p:cNvPr id="30" name="TextBox 29"/>
          <p:cNvSpPr txBox="1"/>
          <p:nvPr/>
        </p:nvSpPr>
        <p:spPr>
          <a:xfrm>
            <a:off x="6126480" y="1371600"/>
            <a:ext cx="2103120" cy="822960"/>
          </a:xfrm>
          <a:prstGeom prst="rect">
            <a:avLst/>
          </a:prstGeom>
          <a:noFill/>
        </p:spPr>
        <p:txBody>
          <a:bodyPr wrap="square" anchor="t" lIns="45720" rIns="45720">
            <a:spAutoFit/>
          </a:bodyPr>
          <a:lstStyle/>
          <a:p>
            <a:pPr algn="l">
              <a:spcAft>
                <a:spcPts val="400"/>
              </a:spcAft>
            </a:pPr>
            <a:r>
              <a:rPr sz="3800" b="1">
                <a:solidFill>
                  <a:schemeClr val="accent3"/>
                </a:solidFill>
                <a:latin typeface="Cambria"/>
              </a:rPr>
              <a:t>68%</a:t>
            </a:r>
          </a:p>
        </p:txBody>
      </p:sp>
      <p:sp>
        <p:nvSpPr>
          <p:cNvPr id="31" name="TextBox 30"/>
          <p:cNvSpPr txBox="1"/>
          <p:nvPr/>
        </p:nvSpPr>
        <p:spPr>
          <a:xfrm>
            <a:off x="8229600" y="1481328"/>
            <a:ext cx="3410712" cy="1188720"/>
          </a:xfrm>
          <a:prstGeom prst="rect">
            <a:avLst/>
          </a:prstGeom>
          <a:noFill/>
        </p:spPr>
        <p:txBody>
          <a:bodyPr wrap="square" anchor="t" lIns="45720" rIns="45720">
            <a:spAutoFit/>
          </a:bodyPr>
          <a:lstStyle/>
          <a:p>
            <a:pPr algn="l">
              <a:spcAft>
                <a:spcPts val="400"/>
              </a:spcAft>
            </a:pPr>
            <a:r>
              <a:rPr sz="1500" b="0">
                <a:solidFill>
                  <a:schemeClr val="tx1"/>
                </a:solidFill>
              </a:rPr>
              <a:t>of open deals (1,088 of 1,589) have no account: outside training support</a:t>
            </a:r>
          </a:p>
        </p:txBody>
      </p:sp>
      <p:sp>
        <p:nvSpPr>
          <p:cNvPr id="32" name="TextBox 31"/>
          <p:cNvSpPr txBox="1"/>
          <p:nvPr/>
        </p:nvSpPr>
        <p:spPr>
          <a:xfrm>
            <a:off x="6126480" y="2834640"/>
            <a:ext cx="2103120" cy="822960"/>
          </a:xfrm>
          <a:prstGeom prst="rect">
            <a:avLst/>
          </a:prstGeom>
          <a:noFill/>
        </p:spPr>
        <p:txBody>
          <a:bodyPr wrap="square" anchor="t" lIns="45720" rIns="45720">
            <a:spAutoFit/>
          </a:bodyPr>
          <a:lstStyle/>
          <a:p>
            <a:pPr algn="l">
              <a:spcAft>
                <a:spcPts val="400"/>
              </a:spcAft>
            </a:pPr>
            <a:r>
              <a:rPr sz="3800" b="1">
                <a:solidFill>
                  <a:schemeClr val="accent2"/>
                </a:solidFill>
                <a:latin typeface="Cambria"/>
              </a:rPr>
              <a:t>52%</a:t>
            </a:r>
          </a:p>
        </p:txBody>
      </p:sp>
      <p:sp>
        <p:nvSpPr>
          <p:cNvPr id="33" name="TextBox 32"/>
          <p:cNvSpPr txBox="1"/>
          <p:nvPr/>
        </p:nvSpPr>
        <p:spPr>
          <a:xfrm>
            <a:off x="8229600" y="2944368"/>
            <a:ext cx="3410712" cy="1188720"/>
          </a:xfrm>
          <a:prstGeom prst="rect">
            <a:avLst/>
          </a:prstGeom>
          <a:noFill/>
        </p:spPr>
        <p:txBody>
          <a:bodyPr wrap="square" anchor="t" lIns="45720" rIns="45720">
            <a:spAutoFit/>
          </a:bodyPr>
          <a:lstStyle/>
          <a:p>
            <a:pPr algn="l">
              <a:spcAft>
                <a:spcPts val="400"/>
              </a:spcAft>
            </a:pPr>
            <a:r>
              <a:rPr sz="1500" b="0">
                <a:solidFill>
                  <a:schemeClr val="tx1"/>
                </a:solidFill>
              </a:rPr>
              <a:t>of open deals (827) have at least one input outside the training range</a:t>
            </a:r>
          </a:p>
        </p:txBody>
      </p:sp>
      <p:sp>
        <p:nvSpPr>
          <p:cNvPr id="34" name="TextBox 33"/>
          <p:cNvSpPr txBox="1"/>
          <p:nvPr/>
        </p:nvSpPr>
        <p:spPr>
          <a:xfrm>
            <a:off x="6126480" y="4297680"/>
            <a:ext cx="2103120" cy="822960"/>
          </a:xfrm>
          <a:prstGeom prst="rect">
            <a:avLst/>
          </a:prstGeom>
          <a:noFill/>
        </p:spPr>
        <p:txBody>
          <a:bodyPr wrap="square" anchor="t" lIns="45720" rIns="45720">
            <a:spAutoFit/>
          </a:bodyPr>
          <a:lstStyle/>
          <a:p>
            <a:pPr algn="l">
              <a:spcAft>
                <a:spcPts val="400"/>
              </a:spcAft>
            </a:pPr>
            <a:r>
              <a:rPr sz="3800" b="1">
                <a:solidFill>
                  <a:schemeClr val="accent4"/>
                </a:solidFill>
                <a:latin typeface="Cambria"/>
              </a:rPr>
              <a:t>0.569</a:t>
            </a:r>
          </a:p>
        </p:txBody>
      </p:sp>
      <p:sp>
        <p:nvSpPr>
          <p:cNvPr id="35" name="TextBox 34"/>
          <p:cNvSpPr txBox="1"/>
          <p:nvPr/>
        </p:nvSpPr>
        <p:spPr>
          <a:xfrm>
            <a:off x="8229600" y="4407408"/>
            <a:ext cx="3410712" cy="1188720"/>
          </a:xfrm>
          <a:prstGeom prst="rect">
            <a:avLst/>
          </a:prstGeom>
          <a:noFill/>
        </p:spPr>
        <p:txBody>
          <a:bodyPr wrap="square" anchor="t" lIns="45720" rIns="45720">
            <a:spAutoFit/>
          </a:bodyPr>
          <a:lstStyle/>
          <a:p>
            <a:pPr algn="l">
              <a:spcAft>
                <a:spcPts val="400"/>
              </a:spcAft>
            </a:pPr>
            <a:r>
              <a:rPr sz="1500" b="0">
                <a:solidFill>
                  <a:schemeClr val="tx1"/>
                </a:solidFill>
              </a:rPr>
              <a:t>validation ROC-AUC (95% CI 0.523–0.616): a weak model</a:t>
            </a:r>
          </a:p>
        </p:txBody>
      </p:sp>
      <p:sp>
        <p:nvSpPr>
          <p:cNvPr id="36" name="Oval 35"/>
          <p:cNvSpPr/>
          <p:nvPr/>
        </p:nvSpPr>
        <p:spPr>
          <a:xfrm>
            <a:off x="548640" y="580644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image.png"/>
          <p:cNvPicPr>
            <a:picLocks noChangeAspect="1"/>
          </p:cNvPicPr>
          <p:nvPr/>
        </p:nvPicPr>
        <p:blipFill>
          <a:blip r:embed="rId2"/>
          <a:stretch>
            <a:fillRect/>
          </a:stretch>
        </p:blipFill>
        <p:spPr>
          <a:xfrm>
            <a:off x="651510" y="5909309"/>
            <a:ext cx="205740" cy="205740"/>
          </a:xfrm>
          <a:prstGeom prst="rect">
            <a:avLst/>
          </a:prstGeom>
        </p:spPr>
      </p:pic>
      <p:sp>
        <p:nvSpPr>
          <p:cNvPr id="38" name="TextBox 37"/>
          <p:cNvSpPr txBox="1"/>
          <p:nvPr/>
        </p:nvSpPr>
        <p:spPr>
          <a:xfrm>
            <a:off x="1051560" y="5760720"/>
            <a:ext cx="10515600" cy="502920"/>
          </a:xfrm>
          <a:prstGeom prst="rect">
            <a:avLst/>
          </a:prstGeom>
          <a:noFill/>
        </p:spPr>
        <p:txBody>
          <a:bodyPr wrap="square" anchor="t" lIns="45720" rIns="45720">
            <a:spAutoFit/>
          </a:bodyPr>
          <a:lstStyle/>
          <a:p>
            <a:pPr algn="l">
              <a:spcAft>
                <a:spcPts val="400"/>
              </a:spcAft>
            </a:pPr>
            <a:r>
              <a:rPr sz="1500" b="1">
                <a:solidFill>
                  <a:schemeClr val="tx2"/>
                </a:solidFill>
              </a:rPr>
              <a:t>A score alone does not say whether to trust it, what evidence supports it, or what to do next.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Agent architecture: bounded, deterministic, tool-using</a:t>
            </a:r>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pic>
        <p:nvPicPr>
          <p:cNvPr id="26" name="Picture 25" descr="agent_architecture.png"/>
          <p:cNvPicPr>
            <a:picLocks noChangeAspect="1"/>
          </p:cNvPicPr>
          <p:nvPr/>
        </p:nvPicPr>
        <p:blipFill>
          <a:blip r:embed="rId2"/>
          <a:stretch>
            <a:fillRect/>
          </a:stretch>
        </p:blipFill>
        <p:spPr>
          <a:xfrm>
            <a:off x="822960" y="1234440"/>
            <a:ext cx="8899345" cy="4572000"/>
          </a:xfrm>
          <a:prstGeom prst="rect">
            <a:avLst/>
          </a:prstGeom>
        </p:spPr>
      </p:pic>
      <p:sp>
        <p:nvSpPr>
          <p:cNvPr id="27" name="TextBox 26"/>
          <p:cNvSpPr txBox="1"/>
          <p:nvPr/>
        </p:nvSpPr>
        <p:spPr>
          <a:xfrm>
            <a:off x="548640" y="5852160"/>
            <a:ext cx="11091672" cy="457200"/>
          </a:xfrm>
          <a:prstGeom prst="rect">
            <a:avLst/>
          </a:prstGeom>
          <a:noFill/>
        </p:spPr>
        <p:txBody>
          <a:bodyPr wrap="square" anchor="t" lIns="45720" rIns="45720">
            <a:spAutoFit/>
          </a:bodyPr>
          <a:lstStyle/>
          <a:p>
            <a:pPr algn="ctr">
              <a:spcAft>
                <a:spcPts val="400"/>
              </a:spcAft>
            </a:pPr>
            <a:r>
              <a:rPr sz="1400" b="0">
                <a:solidFill>
                  <a:schemeClr val="accent4"/>
                </a:solidFill>
              </a:rPr>
              <a:t>No LLM, no network. Plan = need − cost; evidence-tool need = value of information. Every step goes into a replayable trace.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What makes it different</a:t>
            </a:r>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graphicFrame>
        <p:nvGraphicFramePr>
          <p:cNvPr id="9" name="agent-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4224528"/>
        </p:xfrm>
        <a:graphic>
          <a:graphicData uri="http://schemas.openxmlformats.org/drawingml/2006/table">
            <a:tbl>
              <a:tblPr/>
              <a:tblGrid>
                <a:gridCol w="2743200"/>
                <a:gridCol w="2194560"/>
                <a:gridCol w="2560320"/>
                <a:gridCol w="3593592"/>
              </a:tblGrid>
              <a:tr h="603504">
                <a:tc>
                  <a:txBody>
                    <a:bodyPr/>
                    <a:lstStyle/>
                    <a:p>
                      <a:pPr algn="l" indent="0" marL="0">
                        <a:buNone/>
                      </a:pPr>
                      <a:r>
                        <a:rPr lang="en-US" sz="1400" b="1" dirty="0">
                          <a:solidFill>
                            <a:schemeClr val="bg1"/>
                          </a:solidFill>
                        </a:rPr>
                        <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A · Prediction only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B · Rule assistant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C · Our agent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r>
              <a:tr h="603504">
                <a:tc>
                  <a:txBody>
                    <a:bodyPr/>
                    <a:lstStyle/>
                    <a:p>
                      <a:pPr algn="l" indent="0" marL="0">
                        <a:buNone/>
                      </a:pPr>
                      <a:r>
                        <a:rPr lang="en-US" sz="1400" dirty="0" b="1">
                          <a:solidFill>
                            <a:schemeClr val="tx1"/>
                          </a:solidFill>
                        </a:rPr>
                        <a:t>Chooses its own steps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No</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No: fixed rules, fixed order</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b="1">
                          <a:solidFill>
                            <a:schemeClr val="accent1"/>
                          </a:solidFill>
                        </a:rPr>
                        <a:t>Yes: need − cost, value of information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603504">
                <a:tc>
                  <a:txBody>
                    <a:bodyPr/>
                    <a:lstStyle/>
                    <a:p>
                      <a:pPr algn="l" indent="0" marL="0">
                        <a:buNone/>
                      </a:pPr>
                      <a:r>
                        <a:rPr lang="en-US" sz="1400" b="1" dirty="0">
                          <a:solidFill>
                            <a:schemeClr val="tx1"/>
                          </a:solidFill>
                        </a:rPr>
                        <a:t>Checks data and model reliability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Missing account only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Missing account, timing</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rPr>
                        <a:t>Missing, imputed, out-of-range, stale, committee, validation CI</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r>
              <a:tr h="603504">
                <a:tc>
                  <a:txBody>
                    <a:bodyPr/>
                    <a:lstStyle/>
                    <a:p>
                      <a:pPr algn="l" indent="0" marL="0">
                        <a:buNone/>
                      </a:pPr>
                      <a:r>
                        <a:rPr lang="en-US" sz="1400" dirty="0" b="1">
                          <a:solidFill>
                            <a:schemeClr val="tx1"/>
                          </a:solidFill>
                        </a:rPr>
                        <a:t>Refuses unsupported labels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No</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Partly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b="1">
                          <a:solidFill>
                            <a:schemeClr val="accent1"/>
                          </a:solidFill>
                        </a:rPr>
                        <a:t>Yes: evidence-gated decision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603504">
                <a:tc>
                  <a:txBody>
                    <a:bodyPr/>
                    <a:lstStyle/>
                    <a:p>
                      <a:pPr algn="l" indent="0" marL="0">
                        <a:buNone/>
                      </a:pPr>
                      <a:r>
                        <a:rPr lang="en-US" sz="1400" dirty="0" b="1">
                          <a:solidFill>
                            <a:schemeClr val="tx1"/>
                          </a:solidFill>
                        </a:rPr>
                        <a:t>Executes actions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No</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No (prints advice)</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b="1">
                          <a:solidFill>
                            <a:schemeClr val="accent1"/>
                          </a:solidFill>
                        </a:rPr>
                        <a:t>Local review tasks only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603504">
                <a:tc>
                  <a:txBody>
                    <a:bodyPr/>
                    <a:lstStyle/>
                    <a:p>
                      <a:pPr algn="l" indent="0" marL="0">
                        <a:buNone/>
                      </a:pPr>
                      <a:r>
                        <a:rPr lang="en-US" sz="1400" dirty="0" b="1">
                          <a:solidFill>
                            <a:schemeClr val="tx1"/>
                          </a:solidFill>
                        </a:rPr>
                        <a:t>External actions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b="1">
                          <a:solidFill>
                            <a:schemeClr val="accent1"/>
                          </a:solidFill>
                        </a:rPr>
                        <a:t>Blocked; queued for human approval</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603504">
                <a:tc>
                  <a:txBody>
                    <a:bodyPr/>
                    <a:lstStyle/>
                    <a:p>
                      <a:pPr algn="l" indent="0" marL="0">
                        <a:buNone/>
                      </a:pPr>
                      <a:r>
                        <a:rPr lang="en-US" sz="1400" dirty="0" b="1">
                          <a:solidFill>
                            <a:schemeClr val="tx1"/>
                          </a:solidFill>
                        </a:rPr>
                        <a:t>Trace / replay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No</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No</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ctr" indent="0" marL="0">
                        <a:buNone/>
                      </a:pPr>
                      <a:r>
                        <a:rPr lang="en-US" sz="1400" dirty="0" b="1">
                          <a:solidFill>
                            <a:schemeClr val="accent1"/>
                          </a:solidFill>
                        </a:rPr>
                        <a:t>Yes: content hash, tool replay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The agent on one real deal: 01XZ9CRY</a:t>
            </a:r>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
        <p:nvSpPr>
          <p:cNvPr id="26" name="Rounded Rectangle 25"/>
          <p:cNvSpPr/>
          <p:nvPr/>
        </p:nvSpPr>
        <p:spPr>
          <a:xfrm>
            <a:off x="548640" y="1325880"/>
            <a:ext cx="6766560" cy="457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1371600"/>
            <a:ext cx="457200" cy="365760"/>
          </a:xfrm>
          <a:prstGeom prst="rect">
            <a:avLst/>
          </a:prstGeom>
          <a:noFill/>
        </p:spPr>
        <p:txBody>
          <a:bodyPr wrap="square" anchor="t" lIns="45720" rIns="45720">
            <a:spAutoFit/>
          </a:bodyPr>
          <a:lstStyle/>
          <a:p>
            <a:pPr algn="l">
              <a:spcAft>
                <a:spcPts val="400"/>
              </a:spcAft>
            </a:pPr>
            <a:r>
              <a:rPr sz="1600" b="1">
                <a:solidFill>
                  <a:schemeClr val="accent1"/>
                </a:solidFill>
              </a:rPr>
              <a:t>1</a:t>
            </a:r>
          </a:p>
        </p:txBody>
      </p:sp>
      <p:sp>
        <p:nvSpPr>
          <p:cNvPr id="28" name="TextBox 27"/>
          <p:cNvSpPr txBox="1"/>
          <p:nvPr/>
        </p:nvSpPr>
        <p:spPr>
          <a:xfrm>
            <a:off x="1097280" y="1380744"/>
            <a:ext cx="6126480" cy="365760"/>
          </a:xfrm>
          <a:prstGeom prst="rect">
            <a:avLst/>
          </a:prstGeom>
          <a:noFill/>
        </p:spPr>
        <p:txBody>
          <a:bodyPr wrap="square" anchor="t" lIns="45720" rIns="45720">
            <a:spAutoFit/>
          </a:bodyPr>
          <a:lstStyle/>
          <a:p>
            <a:pPr algn="l">
              <a:spcAft>
                <a:spcPts val="400"/>
              </a:spcAft>
            </a:pPr>
            <a:r>
              <a:rPr sz="1400" b="0">
                <a:solidFill>
                  <a:schemeClr val="tx1"/>
                </a:solidFill>
              </a:rPr>
              <a:t>Goal: decide the safest supported review action</a:t>
            </a:r>
          </a:p>
        </p:txBody>
      </p:sp>
      <p:sp>
        <p:nvSpPr>
          <p:cNvPr id="29" name="Rounded Rectangle 28"/>
          <p:cNvSpPr/>
          <p:nvPr/>
        </p:nvSpPr>
        <p:spPr>
          <a:xfrm>
            <a:off x="548640" y="1874519"/>
            <a:ext cx="6766560" cy="457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1920239"/>
            <a:ext cx="457200" cy="365760"/>
          </a:xfrm>
          <a:prstGeom prst="rect">
            <a:avLst/>
          </a:prstGeom>
          <a:noFill/>
        </p:spPr>
        <p:txBody>
          <a:bodyPr wrap="square" anchor="t" lIns="45720" rIns="45720">
            <a:spAutoFit/>
          </a:bodyPr>
          <a:lstStyle/>
          <a:p>
            <a:pPr algn="l">
              <a:spcAft>
                <a:spcPts val="400"/>
              </a:spcAft>
            </a:pPr>
            <a:r>
              <a:rPr sz="1600" b="1">
                <a:solidFill>
                  <a:schemeClr val="accent1"/>
                </a:solidFill>
              </a:rPr>
              <a:t>2</a:t>
            </a:r>
          </a:p>
        </p:txBody>
      </p:sp>
      <p:sp>
        <p:nvSpPr>
          <p:cNvPr id="31" name="TextBox 30"/>
          <p:cNvSpPr txBox="1"/>
          <p:nvPr/>
        </p:nvSpPr>
        <p:spPr>
          <a:xfrm>
            <a:off x="1097280" y="1929384"/>
            <a:ext cx="6126480" cy="365760"/>
          </a:xfrm>
          <a:prstGeom prst="rect">
            <a:avLst/>
          </a:prstGeom>
          <a:noFill/>
        </p:spPr>
        <p:txBody>
          <a:bodyPr wrap="square" anchor="t" lIns="45720" rIns="45720">
            <a:spAutoFit/>
          </a:bodyPr>
          <a:lstStyle/>
          <a:p>
            <a:pPr algn="l">
              <a:spcAft>
                <a:spcPts val="400"/>
              </a:spcAft>
            </a:pPr>
            <a:r>
              <a:rPr sz="1400" b="0">
                <a:solidFill>
                  <a:schemeClr val="tx1"/>
                </a:solidFill>
              </a:rPr>
              <a:t>get_opportunity · get_account_information</a:t>
            </a:r>
          </a:p>
        </p:txBody>
      </p:sp>
      <p:sp>
        <p:nvSpPr>
          <p:cNvPr id="32" name="Rounded Rectangle 31"/>
          <p:cNvSpPr/>
          <p:nvPr/>
        </p:nvSpPr>
        <p:spPr>
          <a:xfrm>
            <a:off x="548640" y="2423160"/>
            <a:ext cx="6766560" cy="457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2468879"/>
            <a:ext cx="457200" cy="365760"/>
          </a:xfrm>
          <a:prstGeom prst="rect">
            <a:avLst/>
          </a:prstGeom>
          <a:noFill/>
        </p:spPr>
        <p:txBody>
          <a:bodyPr wrap="square" anchor="t" lIns="45720" rIns="45720">
            <a:spAutoFit/>
          </a:bodyPr>
          <a:lstStyle/>
          <a:p>
            <a:pPr algn="l">
              <a:spcAft>
                <a:spcPts val="400"/>
              </a:spcAft>
            </a:pPr>
            <a:r>
              <a:rPr sz="1600" b="1">
                <a:solidFill>
                  <a:schemeClr val="accent1"/>
                </a:solidFill>
              </a:rPr>
              <a:t>3</a:t>
            </a:r>
          </a:p>
        </p:txBody>
      </p:sp>
      <p:sp>
        <p:nvSpPr>
          <p:cNvPr id="34" name="TextBox 33"/>
          <p:cNvSpPr txBox="1"/>
          <p:nvPr/>
        </p:nvSpPr>
        <p:spPr>
          <a:xfrm>
            <a:off x="1097280" y="2478024"/>
            <a:ext cx="6126480" cy="365760"/>
          </a:xfrm>
          <a:prstGeom prst="rect">
            <a:avLst/>
          </a:prstGeom>
          <a:noFill/>
        </p:spPr>
        <p:txBody>
          <a:bodyPr wrap="square" anchor="t" lIns="45720" rIns="45720">
            <a:spAutoFit/>
          </a:bodyPr>
          <a:lstStyle/>
          <a:p>
            <a:pPr algn="l">
              <a:spcAft>
                <a:spcPts val="400"/>
              </a:spcAft>
            </a:pPr>
            <a:r>
              <a:rPr sz="1400" b="0">
                <a:solidFill>
                  <a:schemeClr val="tx1"/>
                </a:solidFill>
              </a:rPr>
              <a:t>check_data_quality → warning: outside_training_range</a:t>
            </a:r>
          </a:p>
        </p:txBody>
      </p:sp>
      <p:sp>
        <p:nvSpPr>
          <p:cNvPr id="35" name="Rounded Rectangle 34"/>
          <p:cNvSpPr/>
          <p:nvPr/>
        </p:nvSpPr>
        <p:spPr>
          <a:xfrm>
            <a:off x="548640" y="2971800"/>
            <a:ext cx="6766560" cy="457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3017520"/>
            <a:ext cx="457200" cy="365760"/>
          </a:xfrm>
          <a:prstGeom prst="rect">
            <a:avLst/>
          </a:prstGeom>
          <a:noFill/>
        </p:spPr>
        <p:txBody>
          <a:bodyPr wrap="square" anchor="t" lIns="45720" rIns="45720">
            <a:spAutoFit/>
          </a:bodyPr>
          <a:lstStyle/>
          <a:p>
            <a:pPr algn="l">
              <a:spcAft>
                <a:spcPts val="400"/>
              </a:spcAft>
            </a:pPr>
            <a:r>
              <a:rPr sz="1600" b="1">
                <a:solidFill>
                  <a:schemeClr val="accent1"/>
                </a:solidFill>
              </a:rPr>
              <a:t>4</a:t>
            </a:r>
          </a:p>
        </p:txBody>
      </p:sp>
      <p:sp>
        <p:nvSpPr>
          <p:cNvPr id="37" name="TextBox 36"/>
          <p:cNvSpPr txBox="1"/>
          <p:nvPr/>
        </p:nvSpPr>
        <p:spPr>
          <a:xfrm>
            <a:off x="1097280" y="3026664"/>
            <a:ext cx="6126480" cy="365760"/>
          </a:xfrm>
          <a:prstGeom prst="rect">
            <a:avLst/>
          </a:prstGeom>
          <a:noFill/>
        </p:spPr>
        <p:txBody>
          <a:bodyPr wrap="square" anchor="t" lIns="45720" rIns="45720">
            <a:spAutoFit/>
          </a:bodyPr>
          <a:lstStyle/>
          <a:p>
            <a:pPr algn="l">
              <a:spcAft>
                <a:spcPts val="400"/>
              </a:spcAft>
            </a:pPr>
            <a:r>
              <a:rPr sz="1400" b="0">
                <a:solidFill>
                  <a:schemeClr val="tx1"/>
                </a:solidFill>
              </a:rPr>
              <a:t>predict_win_probability → 0.534 &lt; threshold 0.611: at risk</a:t>
            </a:r>
          </a:p>
        </p:txBody>
      </p:sp>
      <p:sp>
        <p:nvSpPr>
          <p:cNvPr id="38" name="Rounded Rectangle 37"/>
          <p:cNvSpPr/>
          <p:nvPr/>
        </p:nvSpPr>
        <p:spPr>
          <a:xfrm>
            <a:off x="548640" y="3520439"/>
            <a:ext cx="6766560" cy="457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3566159"/>
            <a:ext cx="457200" cy="365760"/>
          </a:xfrm>
          <a:prstGeom prst="rect">
            <a:avLst/>
          </a:prstGeom>
          <a:noFill/>
        </p:spPr>
        <p:txBody>
          <a:bodyPr wrap="square" anchor="t" lIns="45720" rIns="45720">
            <a:spAutoFit/>
          </a:bodyPr>
          <a:lstStyle/>
          <a:p>
            <a:pPr algn="l">
              <a:spcAft>
                <a:spcPts val="400"/>
              </a:spcAft>
            </a:pPr>
            <a:r>
              <a:rPr sz="1600" b="1">
                <a:solidFill>
                  <a:schemeClr val="accent1"/>
                </a:solidFill>
              </a:rPr>
              <a:t>5</a:t>
            </a:r>
          </a:p>
        </p:txBody>
      </p:sp>
      <p:sp>
        <p:nvSpPr>
          <p:cNvPr id="40" name="TextBox 39"/>
          <p:cNvSpPr txBox="1"/>
          <p:nvPr/>
        </p:nvSpPr>
        <p:spPr>
          <a:xfrm>
            <a:off x="1097280" y="3575303"/>
            <a:ext cx="6126480" cy="365760"/>
          </a:xfrm>
          <a:prstGeom prst="rect">
            <a:avLst/>
          </a:prstGeom>
          <a:noFill/>
        </p:spPr>
        <p:txBody>
          <a:bodyPr wrap="square" anchor="t" lIns="45720" rIns="45720">
            <a:spAutoFit/>
          </a:bodyPr>
          <a:lstStyle/>
          <a:p>
            <a:pPr algn="l">
              <a:spcAft>
                <a:spcPts val="400"/>
              </a:spcAft>
            </a:pPr>
            <a:r>
              <a:rPr sz="1400" b="0">
                <a:solidFill>
                  <a:schemeClr val="tx1"/>
                </a:solidFill>
              </a:rPr>
              <a:t>prior history · explanation · model agreement</a:t>
            </a:r>
          </a:p>
        </p:txBody>
      </p:sp>
      <p:sp>
        <p:nvSpPr>
          <p:cNvPr id="41" name="Rounded Rectangle 40"/>
          <p:cNvSpPr/>
          <p:nvPr/>
        </p:nvSpPr>
        <p:spPr>
          <a:xfrm>
            <a:off x="548640" y="4069080"/>
            <a:ext cx="6766560" cy="457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4114800"/>
            <a:ext cx="457200" cy="365760"/>
          </a:xfrm>
          <a:prstGeom prst="rect">
            <a:avLst/>
          </a:prstGeom>
          <a:noFill/>
        </p:spPr>
        <p:txBody>
          <a:bodyPr wrap="square" anchor="t" lIns="45720" rIns="45720">
            <a:spAutoFit/>
          </a:bodyPr>
          <a:lstStyle/>
          <a:p>
            <a:pPr algn="l">
              <a:spcAft>
                <a:spcPts val="400"/>
              </a:spcAft>
            </a:pPr>
            <a:r>
              <a:rPr sz="1600" b="1">
                <a:solidFill>
                  <a:schemeClr val="accent1"/>
                </a:solidFill>
              </a:rPr>
              <a:t>6</a:t>
            </a:r>
          </a:p>
        </p:txBody>
      </p:sp>
      <p:sp>
        <p:nvSpPr>
          <p:cNvPr id="43" name="TextBox 42"/>
          <p:cNvSpPr txBox="1"/>
          <p:nvPr/>
        </p:nvSpPr>
        <p:spPr>
          <a:xfrm>
            <a:off x="1097280" y="4123944"/>
            <a:ext cx="6126480" cy="365760"/>
          </a:xfrm>
          <a:prstGeom prst="rect">
            <a:avLst/>
          </a:prstGeom>
          <a:noFill/>
        </p:spPr>
        <p:txBody>
          <a:bodyPr wrap="square" anchor="t" lIns="45720" rIns="45720">
            <a:spAutoFit/>
          </a:bodyPr>
          <a:lstStyle/>
          <a:p>
            <a:pPr algn="l">
              <a:spcAft>
                <a:spcPts val="400"/>
              </a:spcAft>
            </a:pPr>
            <a:r>
              <a:rPr sz="1400" b="0">
                <a:solidFill>
                  <a:schemeClr val="tx1"/>
                </a:solidFill>
              </a:rPr>
              <a:t>evaluate_evidence → sufficient, no conflict, model weak</a:t>
            </a:r>
          </a:p>
        </p:txBody>
      </p:sp>
      <p:sp>
        <p:nvSpPr>
          <p:cNvPr id="44" name="Rounded Rectangle 43"/>
          <p:cNvSpPr/>
          <p:nvPr/>
        </p:nvSpPr>
        <p:spPr>
          <a:xfrm>
            <a:off x="548640" y="4617720"/>
            <a:ext cx="6766560" cy="457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4663440"/>
            <a:ext cx="457200" cy="365760"/>
          </a:xfrm>
          <a:prstGeom prst="rect">
            <a:avLst/>
          </a:prstGeom>
          <a:noFill/>
        </p:spPr>
        <p:txBody>
          <a:bodyPr wrap="square" anchor="t" lIns="45720" rIns="45720">
            <a:spAutoFit/>
          </a:bodyPr>
          <a:lstStyle/>
          <a:p>
            <a:pPr algn="l">
              <a:spcAft>
                <a:spcPts val="400"/>
              </a:spcAft>
            </a:pPr>
            <a:r>
              <a:rPr sz="1600" b="1">
                <a:solidFill>
                  <a:schemeClr val="accent1"/>
                </a:solidFill>
              </a:rPr>
              <a:t>7</a:t>
            </a:r>
          </a:p>
        </p:txBody>
      </p:sp>
      <p:sp>
        <p:nvSpPr>
          <p:cNvPr id="46" name="TextBox 45"/>
          <p:cNvSpPr txBox="1"/>
          <p:nvPr/>
        </p:nvSpPr>
        <p:spPr>
          <a:xfrm>
            <a:off x="1097280" y="4672583"/>
            <a:ext cx="6126480" cy="365760"/>
          </a:xfrm>
          <a:prstGeom prst="rect">
            <a:avLst/>
          </a:prstGeom>
          <a:noFill/>
        </p:spPr>
        <p:txBody>
          <a:bodyPr wrap="square" anchor="t" lIns="45720" rIns="45720">
            <a:spAutoFit/>
          </a:bodyPr>
          <a:lstStyle/>
          <a:p>
            <a:pPr algn="l">
              <a:spcAft>
                <a:spcPts val="400"/>
              </a:spcAft>
            </a:pPr>
            <a:r>
              <a:rPr sz="1400" b="0">
                <a:solidFill>
                  <a:schemeClr val="tx1"/>
                </a:solidFill>
              </a:rPr>
              <a:t>decide → most specific supported action</a:t>
            </a:r>
          </a:p>
        </p:txBody>
      </p:sp>
      <p:sp>
        <p:nvSpPr>
          <p:cNvPr id="47" name="Rounded Rectangle 46"/>
          <p:cNvSpPr/>
          <p:nvPr/>
        </p:nvSpPr>
        <p:spPr>
          <a:xfrm>
            <a:off x="548640" y="5166360"/>
            <a:ext cx="6766560" cy="457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5212080"/>
            <a:ext cx="457200" cy="365760"/>
          </a:xfrm>
          <a:prstGeom prst="rect">
            <a:avLst/>
          </a:prstGeom>
          <a:noFill/>
        </p:spPr>
        <p:txBody>
          <a:bodyPr wrap="square" anchor="t" lIns="45720" rIns="45720">
            <a:spAutoFit/>
          </a:bodyPr>
          <a:lstStyle/>
          <a:p>
            <a:pPr algn="l">
              <a:spcAft>
                <a:spcPts val="400"/>
              </a:spcAft>
            </a:pPr>
            <a:r>
              <a:rPr sz="1600" b="1">
                <a:solidFill>
                  <a:schemeClr val="accent1"/>
                </a:solidFill>
              </a:rPr>
              <a:t>8</a:t>
            </a:r>
          </a:p>
        </p:txBody>
      </p:sp>
      <p:sp>
        <p:nvSpPr>
          <p:cNvPr id="49" name="TextBox 48"/>
          <p:cNvSpPr txBox="1"/>
          <p:nvPr/>
        </p:nvSpPr>
        <p:spPr>
          <a:xfrm>
            <a:off x="1097280" y="5221224"/>
            <a:ext cx="6126480" cy="365760"/>
          </a:xfrm>
          <a:prstGeom prst="rect">
            <a:avLst/>
          </a:prstGeom>
          <a:noFill/>
        </p:spPr>
        <p:txBody>
          <a:bodyPr wrap="square" anchor="t" lIns="45720" rIns="45720">
            <a:spAutoFit/>
          </a:bodyPr>
          <a:lstStyle/>
          <a:p>
            <a:pPr algn="l">
              <a:spcAft>
                <a:spcPts val="400"/>
              </a:spcAft>
            </a:pPr>
            <a:r>
              <a:rPr sz="1400" b="0">
                <a:solidFill>
                  <a:schemeClr val="tx1"/>
                </a:solidFill>
              </a:rPr>
              <a:t>create_review_task (local file) → stop</a:t>
            </a:r>
          </a:p>
        </p:txBody>
      </p:sp>
      <p:sp>
        <p:nvSpPr>
          <p:cNvPr id="50" name="Rounded Rectangle 49"/>
          <p:cNvSpPr/>
          <p:nvPr/>
        </p:nvSpPr>
        <p:spPr>
          <a:xfrm>
            <a:off x="7680960" y="1325880"/>
            <a:ext cx="3959352" cy="4297680"/>
          </a:xfrm>
          <a:prstGeom prst="roundRect">
            <a:avLst>
              <a:gd name="adj" fmla="val 6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909560" y="1508760"/>
            <a:ext cx="3566160" cy="457200"/>
          </a:xfrm>
          <a:prstGeom prst="rect">
            <a:avLst/>
          </a:prstGeom>
          <a:noFill/>
        </p:spPr>
        <p:txBody>
          <a:bodyPr wrap="square" anchor="t" lIns="45720" rIns="45720">
            <a:spAutoFit/>
          </a:bodyPr>
          <a:lstStyle/>
          <a:p>
            <a:pPr algn="l">
              <a:spcAft>
                <a:spcPts val="400"/>
              </a:spcAft>
            </a:pPr>
            <a:r>
              <a:rPr sz="1800" b="1">
                <a:solidFill>
                  <a:schemeClr val="tx2"/>
                </a:solidFill>
              </a:rPr>
              <a:t>Decision</a:t>
            </a:r>
          </a:p>
        </p:txBody>
      </p:sp>
      <p:sp>
        <p:nvSpPr>
          <p:cNvPr id="52" name="TextBox 51"/>
          <p:cNvSpPr txBox="1"/>
          <p:nvPr/>
        </p:nvSpPr>
        <p:spPr>
          <a:xfrm>
            <a:off x="7909560" y="2011680"/>
            <a:ext cx="3566160" cy="3566160"/>
          </a:xfrm>
          <a:prstGeom prst="rect">
            <a:avLst/>
          </a:prstGeom>
          <a:noFill/>
        </p:spPr>
        <p:txBody>
          <a:bodyPr wrap="square" anchor="t" lIns="45720" rIns="45720">
            <a:spAutoFit/>
          </a:bodyPr>
          <a:lstStyle/>
          <a:p>
            <a:pPr algn="l">
              <a:spcAft>
                <a:spcPts val="400"/>
              </a:spcAft>
            </a:pPr>
            <a:r>
              <a:rPr sz="1700" b="1">
                <a:solidFill>
                  <a:schemeClr val="accent1"/>
                </a:solidFill>
              </a:rPr>
              <a:t>ESCALATE_AT_RISK_REVIEW</a:t>
            </a:r>
          </a:p>
          <a:p>
            <a:pPr algn="l">
              <a:spcAft>
                <a:spcPts val="400"/>
              </a:spcAft>
            </a:pPr>
            <a:r>
              <a:rPr sz="1500" b="0">
                <a:solidFill>
                  <a:schemeClr val="tx1"/>
                </a:solidFill>
              </a:rPr>
              <a:t>High-priority local review task</a:t>
            </a:r>
          </a:p>
          <a:p>
            <a:pPr algn="l">
              <a:spcAft>
                <a:spcPts val="400"/>
              </a:spcAft>
            </a:pPr>
            <a:r>
              <a:rPr sz="1500" b="0">
                <a:solidFill>
                  <a:schemeClr val="tx1"/>
                </a:solidFill>
              </a:rPr>
              <a:t>12 steps, stopped by itself</a:t>
            </a:r>
          </a:p>
          <a:p>
            <a:pPr algn="l">
              <a:spcAft>
                <a:spcPts val="400"/>
              </a:spcAft>
            </a:pPr>
            <a:r>
              <a:rPr sz="1500" b="0">
                <a:solidFill>
                  <a:schemeClr val="tx1"/>
                </a:solidFill>
              </a:rPr>
              <a:t>0 external actions</a:t>
            </a:r>
          </a:p>
          <a:p>
            <a:pPr algn="l">
              <a:spcAft>
                <a:spcPts val="400"/>
              </a:spcAft>
            </a:pPr>
            <a:r>
              <a:rPr sz="1300" b="0">
                <a:solidFill>
                  <a:schemeClr val="accent4"/>
                </a:solidFill>
              </a:rPr>
              <a:t>Explanation and agreement ran because they could change the action; history ran as review context.</a:t>
            </a:r>
          </a:p>
        </p:txBody>
      </p:sp>
      <p:sp>
        <p:nvSpPr>
          <p:cNvPr id="53" name="TextBox 52"/>
          <p:cNvSpPr txBox="1"/>
          <p:nvPr/>
        </p:nvSpPr>
        <p:spPr>
          <a:xfrm>
            <a:off x="548640" y="5852160"/>
            <a:ext cx="11091672" cy="457200"/>
          </a:xfrm>
          <a:prstGeom prst="rect">
            <a:avLst/>
          </a:prstGeom>
          <a:noFill/>
        </p:spPr>
        <p:txBody>
          <a:bodyPr wrap="square" anchor="t" lIns="45720" rIns="45720">
            <a:spAutoFit/>
          </a:bodyPr>
          <a:lstStyle/>
          <a:p>
            <a:pPr algn="l">
              <a:spcAft>
                <a:spcPts val="400"/>
              </a:spcAft>
            </a:pPr>
            <a:r>
              <a:rPr sz="1200" b="0">
                <a:solidFill>
                  <a:schemeClr val="accent4"/>
                </a:solidFill>
                <a:latin typeface="Consolas"/>
              </a:rPr>
              <a:t>Trace: reports/crm/final/agent/scenario_runs/S1/traces/01XZ9CRY.full_agent.report.md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Baseline vs agent on 1,589 real open deals</a:t>
            </a:r>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pic>
        <p:nvPicPr>
          <p:cNvPr id="26" name="Picture 25" descr="agent_comparison.png"/>
          <p:cNvPicPr>
            <a:picLocks noChangeAspect="1"/>
          </p:cNvPicPr>
          <p:nvPr/>
        </p:nvPicPr>
        <p:blipFill>
          <a:blip r:embed="rId2"/>
          <a:stretch>
            <a:fillRect/>
          </a:stretch>
        </p:blipFill>
        <p:spPr>
          <a:xfrm>
            <a:off x="548640" y="1188720"/>
            <a:ext cx="11091672" cy="3093596"/>
          </a:xfrm>
          <a:prstGeom prst="rect">
            <a:avLst/>
          </a:prstGeom>
        </p:spPr>
      </p:pic>
      <p:sp>
        <p:nvSpPr>
          <p:cNvPr id="27" name="TextBox 26"/>
          <p:cNvSpPr txBox="1"/>
          <p:nvPr/>
        </p:nvSpPr>
        <p:spPr>
          <a:xfrm>
            <a:off x="548640" y="4343400"/>
            <a:ext cx="3566160" cy="640080"/>
          </a:xfrm>
          <a:prstGeom prst="rect">
            <a:avLst/>
          </a:prstGeom>
          <a:noFill/>
        </p:spPr>
        <p:txBody>
          <a:bodyPr wrap="square" anchor="t" lIns="45720" rIns="45720">
            <a:spAutoFit/>
          </a:bodyPr>
          <a:lstStyle/>
          <a:p>
            <a:pPr algn="l">
              <a:spcAft>
                <a:spcPts val="400"/>
              </a:spcAft>
            </a:pPr>
            <a:r>
              <a:rPr sz="2600" b="1">
                <a:solidFill>
                  <a:schemeClr val="accent3"/>
                </a:solidFill>
                <a:latin typeface="Cambria"/>
              </a:rPr>
              <a:t>1,242 → 487 → 0</a:t>
            </a:r>
          </a:p>
        </p:txBody>
      </p:sp>
      <p:sp>
        <p:nvSpPr>
          <p:cNvPr id="28" name="TextBox 27"/>
          <p:cNvSpPr txBox="1"/>
          <p:nvPr/>
        </p:nvSpPr>
        <p:spPr>
          <a:xfrm>
            <a:off x="548640" y="4983480"/>
            <a:ext cx="3566160" cy="822960"/>
          </a:xfrm>
          <a:prstGeom prst="rect">
            <a:avLst/>
          </a:prstGeom>
          <a:noFill/>
        </p:spPr>
        <p:txBody>
          <a:bodyPr wrap="square" anchor="t" lIns="45720" rIns="45720">
            <a:spAutoFit/>
          </a:bodyPr>
          <a:lstStyle/>
          <a:p>
            <a:pPr algn="l">
              <a:spcAft>
                <a:spcPts val="400"/>
              </a:spcAft>
            </a:pPr>
            <a:r>
              <a:rPr sz="1400" b="0">
                <a:solidFill>
                  <a:schemeClr val="tx1"/>
                </a:solidFill>
              </a:rPr>
              <a:t>unsupported directional labels (A → B → agent)</a:t>
            </a:r>
          </a:p>
        </p:txBody>
      </p:sp>
      <p:sp>
        <p:nvSpPr>
          <p:cNvPr id="29" name="TextBox 28"/>
          <p:cNvSpPr txBox="1"/>
          <p:nvPr/>
        </p:nvSpPr>
        <p:spPr>
          <a:xfrm>
            <a:off x="4297679" y="4343400"/>
            <a:ext cx="3566160" cy="640080"/>
          </a:xfrm>
          <a:prstGeom prst="rect">
            <a:avLst/>
          </a:prstGeom>
          <a:noFill/>
        </p:spPr>
        <p:txBody>
          <a:bodyPr wrap="square" anchor="t" lIns="45720" rIns="45720">
            <a:spAutoFit/>
          </a:bodyPr>
          <a:lstStyle/>
          <a:p>
            <a:pPr algn="l">
              <a:spcAft>
                <a:spcPts val="400"/>
              </a:spcAft>
            </a:pPr>
            <a:r>
              <a:rPr sz="2600" b="1">
                <a:solidFill>
                  <a:schemeClr val="accent1"/>
                </a:solidFill>
                <a:latin typeface="Cambria"/>
              </a:rPr>
              <a:t>0.28 → 0.64 → 1.00</a:t>
            </a:r>
          </a:p>
        </p:txBody>
      </p:sp>
      <p:sp>
        <p:nvSpPr>
          <p:cNvPr id="30" name="TextBox 29"/>
          <p:cNvSpPr txBox="1"/>
          <p:nvPr/>
        </p:nvSpPr>
        <p:spPr>
          <a:xfrm>
            <a:off x="4297679" y="4983480"/>
            <a:ext cx="3566160" cy="822960"/>
          </a:xfrm>
          <a:prstGeom prst="rect">
            <a:avLst/>
          </a:prstGeom>
          <a:noFill/>
        </p:spPr>
        <p:txBody>
          <a:bodyPr wrap="square" anchor="t" lIns="45720" rIns="45720">
            <a:spAutoFit/>
          </a:bodyPr>
          <a:lstStyle/>
          <a:p>
            <a:pPr algn="l">
              <a:spcAft>
                <a:spcPts val="400"/>
              </a:spcAft>
            </a:pPr>
            <a:r>
              <a:rPr sz="1400" b="0">
                <a:solidFill>
                  <a:schemeClr val="tx1"/>
                </a:solidFill>
              </a:rPr>
              <a:t>recall of known data issues</a:t>
            </a:r>
          </a:p>
        </p:txBody>
      </p:sp>
      <p:sp>
        <p:nvSpPr>
          <p:cNvPr id="31" name="TextBox 30"/>
          <p:cNvSpPr txBox="1"/>
          <p:nvPr/>
        </p:nvSpPr>
        <p:spPr>
          <a:xfrm>
            <a:off x="8046719" y="4343400"/>
            <a:ext cx="3566160" cy="640080"/>
          </a:xfrm>
          <a:prstGeom prst="rect">
            <a:avLst/>
          </a:prstGeom>
          <a:noFill/>
        </p:spPr>
        <p:txBody>
          <a:bodyPr wrap="square" anchor="t" lIns="45720" rIns="45720">
            <a:spAutoFit/>
          </a:bodyPr>
          <a:lstStyle/>
          <a:p>
            <a:pPr algn="l">
              <a:spcAft>
                <a:spcPts val="400"/>
              </a:spcAft>
            </a:pPr>
            <a:r>
              <a:rPr sz="2600" b="1">
                <a:solidFill>
                  <a:schemeClr val="accent4"/>
                </a:solidFill>
                <a:latin typeface="Cambria"/>
              </a:rPr>
              <a:t>100%</a:t>
            </a:r>
          </a:p>
        </p:txBody>
      </p:sp>
      <p:sp>
        <p:nvSpPr>
          <p:cNvPr id="32" name="TextBox 31"/>
          <p:cNvSpPr txBox="1"/>
          <p:nvPr/>
        </p:nvSpPr>
        <p:spPr>
          <a:xfrm>
            <a:off x="8046719" y="4983480"/>
            <a:ext cx="3566160" cy="822960"/>
          </a:xfrm>
          <a:prstGeom prst="rect">
            <a:avLst/>
          </a:prstGeom>
          <a:noFill/>
        </p:spPr>
        <p:txBody>
          <a:bodyPr wrap="square" anchor="t" lIns="45720" rIns="45720">
            <a:spAutoFit/>
          </a:bodyPr>
          <a:lstStyle/>
          <a:p>
            <a:pPr algn="l">
              <a:spcAft>
                <a:spcPts val="400"/>
              </a:spcAft>
            </a:pPr>
            <a:r>
              <a:rPr sz="1400" b="0">
                <a:solidFill>
                  <a:schemeClr val="tx1"/>
                </a:solidFill>
              </a:rPr>
              <a:t>of the agent's 17,538 claims re-verified; +27 ms per deal vs B</a:t>
            </a:r>
          </a:p>
        </p:txBody>
      </p:sp>
      <p:sp>
        <p:nvSpPr>
          <p:cNvPr id="33" name="TextBox 32"/>
          <p:cNvSpPr txBox="1"/>
          <p:nvPr/>
        </p:nvSpPr>
        <p:spPr>
          <a:xfrm>
            <a:off x="548640" y="5897880"/>
            <a:ext cx="11091672" cy="365760"/>
          </a:xfrm>
          <a:prstGeom prst="rect">
            <a:avLst/>
          </a:prstGeom>
          <a:noFill/>
        </p:spPr>
        <p:txBody>
          <a:bodyPr wrap="square" anchor="t" lIns="45720" rIns="45720">
            <a:spAutoFit/>
          </a:bodyPr>
          <a:lstStyle/>
          <a:p>
            <a:pPr algn="l">
              <a:spcAft>
                <a:spcPts val="400"/>
              </a:spcAft>
            </a:pPr>
            <a:r>
              <a:rPr sz="1300" b="0">
                <a:solidFill>
                  <a:schemeClr val="accent4"/>
                </a:solidFill>
              </a:rPr>
              <a:t>Same frozen model, same deals. Workflow properties, not sales outcomes.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Ablations and an honest offline check</a:t>
            </a:r>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pic>
        <p:nvPicPr>
          <p:cNvPr id="26" name="Picture 25" descr="agent_ablation.png"/>
          <p:cNvPicPr>
            <a:picLocks noChangeAspect="1"/>
          </p:cNvPicPr>
          <p:nvPr/>
        </p:nvPicPr>
        <p:blipFill>
          <a:blip r:embed="rId2"/>
          <a:stretch>
            <a:fillRect/>
          </a:stretch>
        </p:blipFill>
        <p:spPr>
          <a:xfrm>
            <a:off x="548640" y="1234440"/>
            <a:ext cx="7315200" cy="1874849"/>
          </a:xfrm>
          <a:prstGeom prst="rect">
            <a:avLst/>
          </a:prstGeom>
        </p:spPr>
      </p:pic>
      <p:sp>
        <p:nvSpPr>
          <p:cNvPr id="27" name="Rounded Rectangle 26"/>
          <p:cNvSpPr/>
          <p:nvPr/>
        </p:nvSpPr>
        <p:spPr>
          <a:xfrm>
            <a:off x="8092440" y="1234440"/>
            <a:ext cx="3547872" cy="45262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75320" y="1371600"/>
            <a:ext cx="3200400" cy="4297680"/>
          </a:xfrm>
          <a:prstGeom prst="rect">
            <a:avLst/>
          </a:prstGeom>
          <a:noFill/>
        </p:spPr>
        <p:txBody>
          <a:bodyPr wrap="square" anchor="t" lIns="45720" rIns="45720">
            <a:spAutoFit/>
          </a:bodyPr>
          <a:lstStyle/>
          <a:p>
            <a:pPr algn="l">
              <a:spcAft>
                <a:spcPts val="400"/>
              </a:spcAft>
            </a:pPr>
            <a:r>
              <a:rPr sz="1400" b="1">
                <a:solidFill>
                  <a:schemeClr val="tx2"/>
                </a:solidFill>
              </a:rPr>
              <a:t>Without reliability checks: </a:t>
            </a:r>
            <a:r>
              <a:rPr sz="1400" b="0">
                <a:solidFill>
                  <a:schemeClr val="tx1"/>
                </a:solidFill>
              </a:rPr>
              <a:t>80% of decisions change; unsupported labels 53%</a:t>
            </a:r>
          </a:p>
          <a:p>
            <a:pPr algn="l">
              <a:spcAft>
                <a:spcPts val="400"/>
              </a:spcAft>
            </a:pPr>
            <a:r>
              <a:rPr sz="1400" b="1">
                <a:solidFill>
                  <a:schemeClr val="tx2"/>
                </a:solidFill>
              </a:rPr>
              <a:t>Without planning: </a:t>
            </a:r>
            <a:r>
              <a:rPr sz="1400" b="0">
                <a:solidFill>
                  <a:schemeClr val="tx1"/>
                </a:solidFill>
              </a:rPr>
              <a:t>same decisions, +2.1 tool calls, 2.9× runtime</a:t>
            </a:r>
          </a:p>
          <a:p>
            <a:pPr algn="l">
              <a:spcAft>
                <a:spcPts val="400"/>
              </a:spcAft>
            </a:pPr>
            <a:r>
              <a:rPr sz="1400" b="1">
                <a:solidFill>
                  <a:schemeClr val="tx2"/>
                </a:solidFill>
              </a:rPr>
              <a:t>Without evidence retrieval: </a:t>
            </a:r>
            <a:r>
              <a:rPr sz="1400" b="0">
                <a:solidFill>
                  <a:schemeClr val="tx1"/>
                </a:solidFill>
              </a:rPr>
              <a:t>10% of decisions change</a:t>
            </a:r>
          </a:p>
          <a:p>
            <a:pPr algn="l">
              <a:spcAft>
                <a:spcPts val="400"/>
              </a:spcAft>
            </a:pPr>
            <a:r>
              <a:rPr sz="1400" b="1">
                <a:solidFill>
                  <a:schemeClr val="tx2"/>
                </a:solidFill>
              </a:rPr>
              <a:t>Offline replay, 1,361 test deals, outcomes masked: </a:t>
            </a:r>
            <a:r>
              <a:rPr sz="1400" b="0">
                <a:solidFill>
                  <a:schemeClr val="tx1"/>
                </a:solidFill>
              </a:rPr>
              <a:t>escalated deals won 62.3% vs 60.0% base: no better than chance at finding losses</a:t>
            </a:r>
          </a:p>
        </p:txBody>
      </p:sp>
      <p:sp>
        <p:nvSpPr>
          <p:cNvPr id="29" name="TextBox 28"/>
          <p:cNvSpPr txBox="1"/>
          <p:nvPr/>
        </p:nvSpPr>
        <p:spPr>
          <a:xfrm>
            <a:off x="548640" y="4069080"/>
            <a:ext cx="7315200" cy="1645920"/>
          </a:xfrm>
          <a:prstGeom prst="rect">
            <a:avLst/>
          </a:prstGeom>
          <a:noFill/>
        </p:spPr>
        <p:txBody>
          <a:bodyPr wrap="square" anchor="t" lIns="45720" rIns="45720">
            <a:spAutoFit/>
          </a:bodyPr>
          <a:lstStyle/>
          <a:p>
            <a:pPr algn="l">
              <a:spcAft>
                <a:spcPts val="400"/>
              </a:spcAft>
            </a:pPr>
            <a:r>
              <a:rPr sz="1500" b="1">
                <a:solidFill>
                  <a:schemeClr val="tx2"/>
                </a:solidFill>
              </a:rPr>
              <a:t>Reading: </a:t>
            </a:r>
            <a:r>
              <a:rPr sz="1500" b="0">
                <a:solidFill>
                  <a:schemeClr val="tx1"/>
                </a:solidFill>
              </a:rPr>
              <a:t>the reliability gate produces the safety benefit; planning buys efficiency; tool execution turns decisions into 1,455 local review tasks. The agent cannot rank deals better than the model it uses.</a:t>
            </a:r>
          </a:p>
        </p:txBody>
      </p:sp>
    </p:spTree>
  </p:cSld>
  <p:clrMapOvr>
    <a:masterClrMapping/>
  </p:clrMapOvr>
</p:sld>
</file>

<file path=ppt/theme/theme1.xml><?xml version="1.0" encoding="utf-8"?>
<a:theme xmlns:a="http://schemas.openxmlformats.org/drawingml/2006/main" name="CRM Pipeline">
  <a:themeElements>
    <a:clrScheme name="CRM Pipeline">
      <a:dk1>
        <a:srgbClr val="16232E"/>
      </a:dk1>
      <a:lt1>
        <a:srgbClr val="FFFFFF"/>
      </a:lt1>
      <a:dk2>
        <a:srgbClr val="0E3B43"/>
      </a:dk2>
      <a:lt2>
        <a:srgbClr val="EEF4F3"/>
      </a:lt2>
      <a:accent1>
        <a:srgbClr val="0F7A6C"/>
      </a:accent1>
      <a:accent2>
        <a:srgbClr val="E39B2E"/>
      </a:accent2>
      <a:accent3>
        <a:srgbClr val="D2554E"/>
      </a:accent3>
      <a:accent4>
        <a:srgbClr val="5B7083"/>
      </a:accent4>
      <a:accent5>
        <a:srgbClr val="9CC5BB"/>
      </a:accent5>
      <a:accent6>
        <a:srgbClr val="2F4858"/>
      </a:accent6>
      <a:hlink>
        <a:srgbClr val="0F7A6C"/>
      </a:hlink>
      <a:folHlink>
        <a:srgbClr val="5B7083"/>
      </a:folHlink>
    </a:clrScheme>
    <a:fontScheme name="CRM Pipeli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CS 582 Group 2</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CRM Sales Opportunities Using Machine Learning</dc:title>
  <dc:subject>PptxGenJS Presentation</dc:subject>
  <dc:creator>CS 582 Group 2</dc:creator>
  <cp:lastModifiedBy>CS 582 Group 2</cp:lastModifiedBy>
  <cp:revision>1</cp:revision>
  <dcterms:created xsi:type="dcterms:W3CDTF">2026-10-10T01:24:04Z</dcterms:created>
  <dcterms:modified xsi:type="dcterms:W3CDTF">2026-10-10T01:24:04Z</dcterms:modified>
</cp:coreProperties>
</file>